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| Personal Agent
建议时间：30 秒。
我最近在系统跟踪 Personal Agent。出发点与我的日常工作直接相关：一方面开发 Agent，另一方面建设它的运行平台。我希望借这些产品理解，个人上下文、任务状态和现实动作怎样组织起来，才能让一个人持续委托工作。
今天我不会逐一演示十五款产品，而是先建立路线图，再沿一项熟悉的研究工作，拆解背后的系统问题。分享来自已有学习笔记，资料快照截至十月二十一至二十二日。除 Muse 原有个人探索外，没有新增产品账号实测。最后留四分钟讨论。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| 我想带走三个判断
建议时间：30 秒。
听完后，我希望大家能用同一套语言描述三件事：个人代理的产品形态有哪些代表路线；一个长期委托背后有哪些独立状态和控制点；这些认识怎样转成运行平台的建设优先级。
全程大约四十分钟，先用七分钟建立范围，再用九分钟左右看产品样本，随后把最多时间放到架构问题，最后讨论验证与建设顺序。这里的分钟数是讲述安排，并不是产品能力评分。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| 从一项我熟悉的委托开始
建议时间：75 秒。
假设我把这次调研本身交给个人代理：每天跟踪十五个产品的中英文更新，把相关材料整理到学习笔记，记住我的架构关注点，并在周末交付一份可以检查的比较总结。
这件事会反复出现：来源更新、产品改名、某个版本回滚，我也会临时改变研究范围。它需要的不只是第一次搜索，也不只是准时提醒。每一轮都要知道上次做到了哪里、哪些判断已经过期、哪些改动需要我确认。
后面的所有机制都尽量回到这个场景。它是用于解释系统的合成场景，不能当成任何产品已经完成的演示。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| 我如何界定 Personal Agent
建议时间：60 秒。
我的工作定义是：长期服务于一个人，理解其上下文，并能受托推进任务的智能体。个人生活和个人工作都在范围内。筛选对象时，我关注上下文、实际执行、持续运行、长期委托和用户控制，不要求每个候选已经全部实现。
这个定义有意保留观察空间。一个自建底座也可能提供直接可用的个人工作助手，因此 DeepSeek Harness 可以纳入；但纳入清单不等于已经验证了它的跨周记忆或主动目标跟进。反过来，名称带 personal，也不能替代具体能力证据。
下面的分类是我的学习路线，产品之间有交叉，并非互斥的市场分类。
【来源与证据】
调研清单
本地：content/zh-cn/agents/personal/research-list/index.md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| 15 个样本，沿六条路线阅读
建议时间：90 秒。
这张图覆盖了主清单的十五个对象。我按最有助于学习的切口分组：Muse 和 Dots 看长期委托；Cue、Grok Bot、Poke 看身份与消息；Spark 和 Autopilot 看生态上下文；Cowork、Personal Computer 和 WorkBuddy 看个人工作执行；OpenClaw 与 Hermes 看自建运行；Kimi Claw 和 Harness 看底座如何成为可直接使用的产品。
这些组不是排他分类。例如 WorkBuddy 也有云端任务，Kimi Claw 也有消息入口。为了避免从公开程度推断能力，我不会在这里做功能对勾或排行榜。接下来每组只取最值得带回平台开发的机制。
【来源与证据】
调研清单
本地：content/zh-cn/agents/personal/research-list/index.md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| 比较前，我先标明证据到哪里
建议时间：45 秒。
这轮笔记保留四类证据。官方说明解释产品设计和开放条件；外部观察保留特定测试、版本和样本；我自己的实际探索单独记录；从资料提出的平台模型则标为个人分析。
目前只有 Muse 原有探索可以谈到我实际看过的界面和行为。其他对象主要是公开资料整理，不存在十五款同条件实测数据。动态帮助可能与旧公告或安装包版本不同，我也保留了这些差异。
因此，这次适合分享设计问题和可验证的假设，尚不能回答谁在我们的工作中最好用。后面引用的每项机制，都能回到讲者备注和附录的来源。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| Muse 与 Dots：长期委托怎样延续
建议时间：105 秒。
Muse 让我首先关注持续工作环境与任务连续性。此前探索观察到运行实例变化，以及定时工作的线索，但这些现象不足以还原完整外部调度器或数据库拓扑。一个文件还在，也不代表任务恢复逻辑已经完整。
Dots 则让我把长期职责与派生任务分开：跟踪项目是一项持续职责，搜集资料、改写笔记是具体任务。委派以后，新要求怎样传给子任务，结果又依据哪个版本的事实返回，是很关键的一致性问题。
我把两者放在一起，不是比较谁更可靠，而是引出三个系统对象：职责或目标、任务、运行实例。生命周期不同，停止和恢复时需要保留的状态也不同。
【来源与证据】
Muse
本地：content/zh-cn/agents/personal/muse/references/index.md
原始入口：https://introducing.muse.ai/
Dots
本地：content/zh-cn/agents/personal/dots/references/index.md
原始入口：https://learn.chatgpt.com/docs/dots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| Cue、Grok Bot、Poke：代理成为联系对象
建议时间：105 秒。
Cue 围绕代理组织邮箱、电话、钱包和电脑，促使我把身份与资源作为长期对象。外部回复可能在任务结束后才到达，它必须找到原委托，也要重新判断原授权是否有效。
Grok Bot 提供长期角色与共享工作环境的样本。多个角色可以减少上下文干扰，但共享文件、登录态和服务凭证时，角色分开并没有自然形成安全隔离。
Poke 把入口放到日常消息中，并包含人工协助的产品形态。交互更自然，不代表任务与授权状态可以省略；当执行者变成人工，数据范围、现实支出和回执也需要解释。
这组共同的学习点是：把收到消息、接受委托、实际执行和完成交付分别记录。
【来源与证据】
Cue
本地：content/zh-cn/agents/personal/cue/references/index.md
原始入口：https://www.manus.im/blog/introducing-manus-2-0
Grok Bot
本地：content/zh-cn/agents/personal/grok-bot/references/index.md
原始入口：https://docs.x.ai/grok-bot/overview
Poke
本地：content/zh-cn/agents/personal/poke/references/index.md
原始入口：https://poke.com/docs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| Spark 与 Autopilot：生态上下文进入委托
建议时间：90 秒。
Gemini Spark 的当前官方帮助使用 Task 名称，需要与 Google Tasks 和聊天里的普通定时动作分开。它给我最有价值的切口是个人应用上下文：资料接入方便以后，事实更新、执行位置与确认规则仍要逐项处理。
Autopilot 则把个人代理放在组织环境里。当前公告描述云托管、独立身份和组织上下文，但仍为私人预览。旧 Scout 的桌面文档可以帮助理解产品演进，却不能直接补成新版云端的内部实现。
因此，我会分别核对用户许可、组织策略和实际动作身份。生态整合可以减少配置，但不会自动统一所有控制层。
【来源与证据】
Gemini Spark / Task
本地：content/zh-cn/agents/personal/gemini-spark/references/index.md
原始入口：https://support.google.com/gemini/answer/17094507?hl=en
Copilot Autopilot
本地：content/zh-cn/agents/personal/copilot-autopilot/references/index.md
原始入口：https://blogs.microsoft.com/blog/2026/09/25/introducing-the-new-copilot-with-home-code-and-autopilot/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| 知识工作代理：把文档交付做成持续工作
建议时间：105 秒。
Cowork 让我关注统一入口以后，云端任务、桌面资源和不同工具路径怎样被解释。调研记录了新旧任务环境的迁移条件，因此不能继续把所有任务都说成本地虚拟机。
Personal Computer 让我分开描述模型、数据和动作的位置。某个 Mac 本地模式的条件，不适合直接外推到全部桌面任务和外部服务。
WorkBuddy 则补充国内办公生态、个人项目与云端任务。手机发消息控制本机，仍依赖本机与客户端在线；云端排程和企业托管又是另外的运行路径。
对这三类产品，我希望最终比较的是：相同材料能否产生可编辑、引用正确的产物，资源不可用时能否说明阻塞位置。
【来源与证据】
Claude Cowork
本地：content/zh-cn/agents/personal/claude-cowork/references/index.md
原始入口：https://support.claude.com/en/articles/15520349-use-claude-cowork-on-web-desktop-and-mobile
Personal Computer
本地：content/zh-cn/agents/personal/personal-computer/references/index.md
原始入口：https://www.perplexity.ai/personal-computer
WorkBuddy
本地：content/zh-cn/agents/personal/workbuddy/references/index.md
原始入口：https://www.workbuddy.cn/docs/workbuddy/Changelog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| 开源与产品化：运行责任怎样分配
建议时间：105 秒。
OpenClaw 让我从 Gateway、设备节点、会话路由和自动化理解个人代理运行。控制面接受请求，不等于设备、模型与业务服务此刻都可用；自己运营也需要承担升级和恢复责任。
Hermes 补充原生文件记忆、Profile、Bot、目标推进与 Cron。它的资料更适合继续拆解经验积累和状态边界，但开源可读不能替代部署验证。
Kimi Claw 把开源底座与会员、托管、通信和设备整合，需要按实际形态核对版本。Harness 则同时提供工作助手与插件组合运行时，是否有长期记忆取决于实际配置。
所以我会同时看部署成本和长期维护成本，不把启动门槛低直接等同于运行责任已经消失。
【来源与证据】
OpenClaw
本地：content/zh-cn/agents/personal/openclaw/references/index.md
原始入口：https://docs.openclaw.ai/
Hermes Agent
本地：content/zh-cn/agents/personal/hermes-agent/references/index.md
原始入口：https://hermes-agent.nousresearch.com/docs/user-guide/features/memory
Kimi Claw
本地：content/zh-cn/agents/personal/kimi-claw/references/index.md
原始入口：https://www.kimi.com/help/kimi-claw/overview
DeepSeek Harness
本地：content/zh-cn/agents/personal/deepseek-harness/references/index.md
原始入口：https://deepseek-harness.github.io/deepseek-harness/en/reference/subsystems/schedule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| 我用五类对象串起这些产品
建议时间：45 秒。
走完产品样本后，我需要一个稳定的比较框架。这里是我的参考模型，不是某个厂商的内部类图。
第一类是用户与代理身份，说明谁委托、谁执行；第二类是职责与目标，说明持续想达到什么；第三类是计划与触发，说明何时发起工作；第四类是任务与运行，说明某一轮正在做什么；第五类是产物与回执，说明工作给现实留下了什么。
会话贯穿交互，但不适合独自承载这些对象的全部生命周期。下面就沿这些对象拆运行平台。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| 长期个人代理的一张参考架构
建议时间：90 秒。
我把平台分成四层。最上面是消息、网页和设备入口，负责收集意图并呈现状态。下一层维护身份、上下文、目标、计划与任务，是工作连续性的主要控制面。再下一层组织单次执行：上下文构建、模型决策、工具调用、审批等待、重试与交付检查。最下面才是云端电脑、本机、连接器和外部系统。
两侧贯穿权限与凭证、事件与成本。它们不能只在入口做一次判断，真正动作发生时还要能执行控制，并能把结果关联回来。
这张图是基于调研形成的设计模型。我更看重各层可以独立失败，例如任务已接受但设备离线，而不是假设每次对话都从头到尾顺利运行。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| 一项委托跨越多个运行实例
建议时间：105 秒。
回到研究场景。用户提出持续目标后，系统产生第一次整理任务，任务运行可能在抓取资料时等待，在写入文件时失败，或在等待我批准时长时间挂起。之后同一目标还可能产生下一次运行。
这里值得保留三条时间线：目标是否仍有效，计划何时触发，以及这一轮已提交了哪些动作。宿主停止只影响某些执行对象，不会自动宣布目标结束；任务回复完成也不保证外部写入已经被核验。
恢复时最危险的一处是，工具已经成功写入外部系统，但本地还没保存结果。简单重跑可能造成第二份记录。后面的幂等和回执检查，就是为这类间隙设计的。
这张时间线是我的故障分析模型，不是从厂商内部日志直接画出的拓扑。
【来源与证据】
Muse
本地：content/zh-cn/agents/personal/muse/references/index.md
原始入口：https://introducing.muse.ai/
DeepSeek Harness
本地：content/zh-cn/agents/personal/deepseek-harness/references/index.md
原始入口：https://deepseek-harness.github.io/deepseek-harness/en/reference/subsystems/schedule
WorkBuddy
本地：content/zh-cn/agents/personal/workbuddy/references/index.md
原始入口：https://www.workbuddy.cn/docs/workbuddy/Changelog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| 目标、计划与运行分别停止
建议时间：90 秒。
几个容易被混用的操作，在底层影响不同对象。暂停计划主要阻止未来触发；取消运行主要终止当前工作；完成目标意味着不再继续推进这项长期职责；撤销凭证则让后续动作失去访问能力。
资料里可以看到具体边界：WorkBuddy 的暂停计划不直接等于停止已开始运行；Harness 的调度投递确认不等于模型执行完成，删除作业也不自动清除已入队消息。Hermes 同样把执行、投递交接和真实发送分开。
我从中提炼的要求是，界面要让用户选清楚停止对象，运行时也要有传播和收敛记录。某项动作已经对外生效，还需要核查和补偿，不能由删除聊天自动抹去。
【来源与证据】
Hermes Agent
本地：content/zh-cn/agents/personal/hermes-agent/references/index.md
原始入口：https://hermes-agent.nousresearch.com/docs/user-guide/features/memory
WorkBuddy
本地：content/zh-cn/agents/personal/workbuddy/references/index.md
原始入口：https://www.workbuddy.cn/docs/workbuddy/Changelog
DeepSeek Harness
本地：content/zh-cn/agents/personal/deepseek-harness/references/index.md
原始入口：https://deepseek-harness.github.io/deepseek-harness/en/reference/subsystems/schedule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| 记忆需要沿写入、更新、使用检查
建议时间：105 秒。
为了长期维护笔记，代理需要记住我的写作偏好、项目边界和事实判断，但这些信息并不是同一种东西。我的架构关注点可以长期使用，某个版本号则必须保留来源和日期。
我把链路拆成来源、提取、持久保存、召回和实际使用。每一段都可能出错：保存时丢失限定条件，纠错没覆盖旧副本，召回时取出过期信息，或者模型看到新事实仍然沿用旧判断。
因此评估时不能只问能否复述一句话。我会先给一个偏好，再更正、制造冲突、跨项目询问，最后删除。检查的是存储、召回和产物实际使用是否一致。
这里的来源与作用域也关系到权限：个人事务中的信息，未必应该因为同一个账号就被用于团队项目。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| 三种记忆样本，三个不同边界
建议时间：90 秒。
Hermes 的原生文件记忆给了很具体的快照机制：会话启动读取固定提示快照，会话内写入落盘，并不直接改写最初那份快照，工具返回则能显示实时状态。超出预算也需要整理，而不是无限积累。
Lindy 的样本让我看到个人、团队、系统等不同作用域，记忆与方法可以编辑，但编辑和共享也应检查真实访问范围。
Harness 的反例很重要：会话持久化有明确机制，第三方长期记忆 MCP 是可选配置，默认未启用。恢复会话不能据此写成已经拥有完整个人长期记忆。
这些差异没有构成优劣排名，却直接改变实验方法。我必须知道正在测的是会话快照、工作区文件，还是第三方服务。
【来源与证据】
Hermes Agent
本地：content/zh-cn/agents/personal/hermes-agent/references/index.md
原始入口：https://hermes-agent.nousresearch.com/docs/user-guide/features/memory
Lindy
本地：content/zh-cn/agents/personal/lindy/references/index.md
原始入口：https://docs.lindy.ai/integrations/overview
DeepSeek Harness
本地：content/zh-cn/agents/personal/deepseek-harness/references/index.md
原始入口：https://deepseek-harness.github.io/deepseek-harness/en/reference/subsystems/schedule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| 把“本地 / 云端”拆成三个坐标
建议时间：90 秒。
本地和云端两个标签太粗。一个任务可以由云端模型规划，读取本机文件，再通过本机浏览器提交结果；另一个任务也可能在云端宿主执行，却访问第三方托管的记忆服务。
我会分别问：模型推理在哪里，数据被保存或传到哪里，实际动作在哪里发生。三个坐标可以独立变化，凭证归属又会增加一层条件。
对应到产品，Personal Computer 的本地模式、Cowork 的云端与桌面桥接、WorkBuddy 的手机遥控和云端任务，都需要按实际路径描述。某个设备下线以后，只有依赖它的步骤不可用，不能把整个产品简单说成能或不能离线。
这也是我希望平台向用户解释的最小信息：当前任务在等哪个资源，继续需要什么条件。
【来源与证据】
Personal Computer
本地：content/zh-cn/agents/personal/personal-computer/references/index.md
原始入口：https://www.perplexity.ai/personal-computer
Claude Cowork
本地：content/zh-cn/agents/personal/claude-cowork/references/index.md
原始入口：https://support.claude.com/en/articles/15520349-use-claude-cowork-on-web-desktop-and-mobile
WorkBuddy
本地：content/zh-cn/agents/personal/workbuddy/references/index.md
原始入口：https://www.workbuddy.cn/docs/workbuddy/Changelog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| 多代理协作需要可验收的交接
建议时间：75 秒。
研究工作很容易拆成搜集、核验、写作和审阅。但拆成四个角色之后，真正重要的是交出去的内容和收回来的证据。
我希望交接包含目标、来源、输入版本、约束、权限、预算和验收标准。上游说暂定，下游不能自动变成已确认。用户修改范围以后，也应该知道哪些子任务还拿着旧版本输入。
Cue 与 Grok Bot 提供身份和共享资源的样本，Kimi Claw 的群聊又增加协调者和 Worker。它们都不能仅凭角色数量判断隔离强度。对我而言，只有最终质量、人工协调和等待成本一起记录，才知道分工是否值得。
【来源与证据】
Cue
本地：content/zh-cn/agents/personal/cue/references/index.md
原始入口：https://www.manus.im/blog/introducing-manus-2-0
Grok Bot
本地：content/zh-cn/agents/personal/grok-bot/references/index.md
原始入口：https://docs.x.ai/grok-bot/overview
Kimi Claw
本地：content/zh-cn/agents/personal/kimi-claw/references/index.md
原始入口：https://www.kimi.com/help/kimi-claw/overview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| Skills、Plugins、MCP 各解决哪一层
建议时间：60 秒。
这一页是我的比较词汇，具体产品命名仍以各自文档为准。Skill 主要描述怎么做，承载可复用方法；Plugin 常把配置、依赖或服务能力组合起来；MCP 等协议负责让工具和资源能被调用。
这三层可以共同降低接入成本，但方法文件存在，不等于工具已安装；工具已经连上，不等于凭证范围允许动作；插件升级也不保证所有任务都自动使用新方法。
对平台开发，我希望把方法版本、依赖清单、连接身份和动作审批关联起来。这样一次执行变化时，才知道是提示、工具、模型还是授权发生了变化。
【来源与证据】
Hermes Agent
本地：content/zh-cn/agents/personal/hermes-agent/references/index.md
原始入口：https://hermes-agent.nousresearch.com/docs/user-guide/features/memory
DeepSeek Harness
本地：content/zh-cn/agents/personal/deepseek-harness/references/index.md
原始入口：https://deepseek-harness.github.io/deepseek-harness/en/reference/subsystems/schedule
Claude Cowork
本地：content/zh-cn/agents/personal/claude-cowork/references/index.md
原始入口：https://support.claude.com/en/articles/15520349-use-claude-cowork-on-web-desktop-and-mobile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| 把批准绑定到真实动作和主体
建议时间：90 秒。
同一句允许整理资料，可能只允许读取，也可能涉及改写学习笔记。如果动作变成向外发送文件，还需要确认接收人、内容和时效。审批要绑定到具体动作条件，而不是只给任务一个笼统标志。
团队代理让关系更复杂：提问者是我，连接属于团队成员，代理用共享凭证写系统，审核者又可能是管理员。Cue、Autopilot 和 Lindy 分别提供了不同样本，但我们仍需要沿实际动作核实主体。
我希望任务审计能串起请求者、代理、批准者、凭证主体和目标对象。批准以后数据被修改、目标对象变化或权限撤回，都需要在真正动作前重新检查。
这是一条平台设计要求，并不意味着调研对象已经完整实现相同审批模型。
【来源与证据】
Cue
本地：content/zh-cn/agents/personal/cue/references/index.md
原始入口：https://www.manus.im/blog/introducing-manus-2-0
Copilot Autopilot
本地：content/zh-cn/agents/personal/copilot-autopilot/references/index.md
原始入口：https://blogs.microsoft.com/blog/2026/09/25/introducing-the-new-copilot-with-home-code-and-autopilot/
Lindy
本地：content/zh-cn/agents/personal/lindy/references/index.md
原始入口：https://docs.lindy.ai/integrations/overview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| 审批、隔离与出口分别检查
建议时间：75 秒。
我把控制拆为三类：审批决定某次动作能不能做，隔离限制运行进程能接触什么，出口控制限制数据和请求能去哪里。任何一项存在，都不能自动代表其他两项已经完备。
Lindy 的详细文档限定 Guardrails 适用的入口，不能把共享 Slack 线程规则直接泛化到私聊。Harness 的沙箱词汇主要描述文件系统范围，网络和进程可见性有另外的边界。OpenClaw 又明确区分个人可信运营与互不信任用户托管。
这些阅读让我更愿意从执行路径检查安全机制。用户批准的 API 失败以后，换用浏览器完成同样动作，也需要继续遵守原批准范围。
【来源与证据】
Lindy
本地：content/zh-cn/agents/personal/lindy/references/index.md
原始入口：https://docs.lindy.ai/integrations/overview
DeepSeek Harness
本地：content/zh-cn/agents/personal/deepseek-harness/references/index.md
原始入口：https://deepseek-harness.github.io/deepseek-harness/en/reference/subsystems/schedule
OpenClaw
本地：content/zh-cn/agents/personal/openclaw/references/index.md
原始入口：https://docs.openclaw.ai/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| 结束委托，要让派生状态收敛
建议时间：75 秒。
研究目标已经结束时，我希望关闭的不只是一条聊天。应该检查未来触发是否停止、当前运行是否终止、子任务是否还在继续、外部凭证是否撤销，以及既有资料和产物保留在哪里。
已经发送的消息或已经创建的订单，不会因为进程取消就自动回滚。某些动作需要检查回执、通知接收人或者做补偿。
所以用户界面最好明确表达停止范围，后台则保留传播过程和结果。我把这称为收敛，而不是瞬间让所有世界状态消失。调研中的生命周期资料给了很多线索，完整语义仍需用在途任务与撤权实验验证。
【来源与证据】
Gemini Spark / Task
本地：content/zh-cn/agents/personal/gemini-spark/references/index.md
原始入口：https://support.google.com/gemini/answer/17094507?hl=en
Dots
本地：content/zh-cn/agents/personal/dots/references/index.md
原始入口：https://learn.chatgpt.com/docs/dots
WorkBuddy
本地：content/zh-cn/agents/personal/workbuddy/references/index.md
原始入口：https://www.workbuddy.cn/docs/workbuddy/Changelog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| 可观测性要能解释一次真实委托
建议时间：60 秒。
如果只看到最终回答失败，我无法判断是资料过期、模型误判、服务拒绝、设备断线还是用户取消。对一个长期运行平台，这些区别决定下一步应该重试、等待还是交回给用户。
我希望以同一条委托标识关联目标、运行、模型请求、工具动作、批准、回执和产物，再标注输入版本与发生时间。日志采集只是起点，能否据此复盘业务才是验收标准。
调研里的 OTel、Session 事件和运行历史提供了不同层面的参考。我不会把任一产品事件目录直接当成完整业务审计；仍需要通过失败注入验证事件是否足以解释结果。
【来源与证据】
Claude Cowork
本地：content/zh-cn/agents/personal/claude-cowork/references/index.md
原始入口：https://support.claude.com/en/articles/15520349-use-claude-cowork-on-web-desktop-and-mobile
DeepSeek Harness
本地：content/zh-cn/agents/personal/deepseek-harness/references/index.md
原始入口：https://deepseek-harness.github.io/deepseek-harness/en/reference/subsystems/schedule
OpenClaw
本地：content/zh-cn/agents/personal/openclaw/references/index.md
原始入口：https://docs.openclaw.ai/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| 先用共同场景验证，再讨论效果
建议时间：90 秒。
下一阶段我准备收敛到共同的合成材料包，避免每个产品各演示一项最擅长的任务。先做研究文档交付，再修改一个关键事实，中断一轮执行，最后在运行期间撤销测试连接。
每项都要先定义完成标准。例如文档能打开、来源可追踪、引用支持对应事实、过期数据被更正。恢复任务则要检查最终产物和重复副作用，不能只用出现一段回复作判定。
记录里还包括账号、地区、版本、模型、工具配置、时间、人工介入和费用。条件不相同的样本先保留范围，不能强行归一成一个成功率。这些仍是待执行实验，不是我已经跑出的横向测试结果。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| 以完整委托计算成本
建议时间：60 秒。
我现在更愿意计算完成一项工作的成本，而不是比较某个模型的单次调用价格。长期代理会有搜索、子代理、重试、宿主、连接器、审核和人工修订，失败以后还可能出现重新整理和维护成本。
订阅和模型用量可以直接记账，人工等待、接管和运维则要另外记录。这里也要固定交付质量，否则低成本地交出一个不能用的文档，没有比较价值。
因此我会把成本与产物验收、人工介入和恢复能力一起观察。本页是成本框架，没有使用尚未验证的产品价格或虚构的节省比例。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| 我会按这个顺序建设运行平台
建议时间：75 秒。
把这些学习带回平台开发，我会分三步推进。先打通可检查的单次执行，能够保存输入版本、运行事件和真实产物，动作授权也有明确对象。没有这层基础，长任务只是把不可解释的问题拉长。
第二步是可靠地继续工作：目标、计划和运行分开，支持中断恢复、幂等检查、超时、取消和撤权传播。这个阶段优先证明任务可以正确停止和恢复。
第三步再扩展跨会话记忆、技能积累和多代理分工。每次增加自主性，都配一个可以检验和撤回的范围。
这是我从调研得到的建设顺序，不是对具体产品成熟度的排名，也不是一个未经估算的项目排期。
【来源与证据】
前八个阶段性比较
本地：content/zh-cn/agents/personal/first-eight-summary/index.md
第二批阶段性比较
本地：content/zh-cn/agents/personal/second-seven-summary/index.md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| 我目前形成的三个认识
建议时间：45 秒。
第一，Personal Agent 的核心价值在于减少持续委托的用户负担。这要求个人上下文、目标、状态和动作连接起来，不能只评价第一次回答。
第二，长期可靠性需要模型和运行平台共同成立。模型要理解变化并作出决策，平台要保存事实、检查权限、执行工具、恢复状态和验收交付。
第三，更多自主性需要更明确的边界和更好的证据。先证明任务完成了什么、能否正确停止，再扩大职责范围。
这些是当前的学习判断。我会继续通过统一场景积累真实记录，而不是让一份功能清单替代对系统的理解。接下来留四分钟交流。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 | 交流：我们最先验证哪一段？
建议时间：240 秒。
可以围绕三个问题交流。第一，在我们熟悉的工作里，哪个持续委托值得先做成可重复实验？例如资料跟踪、项目周报或文档维护。先说清产物与完成标准。
第二，当前 Agent 开发遇到的主要阻力在哪里：信息更新、任务恢复、外部工具还是授权与状态解释？尽量举一个真实失败点，而不是只讨论抽象能力。
第三，哪一段需要由通用运行平台承担，哪一段保留在业务 Agent？这个边界会影响复用、责任与维护成本。
如果需要产品资料，可以直接跳到附录的十五个样本速查和来源页。附录不计入四十分钟主流程。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| 附录 A｜第一批八个样本速查
备查页，不计入 40 分钟主流程。
此页用于交流时查找产品阅读线索，按本地笔记快照保留条件，不是同条件能力测试。
【来源与证据】
调研清单
本地：content/zh-cn/agents/personal/research-list/index.md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| 附录 B｜第二批七个样本速查
备查页，不计入 40 分钟主流程。
此页用于查找第二批的当前证据条件。版本是资料快照，不保证所有安装入口同步。
【来源与证据】
调研清单
本地：content/zh-cn/agents/personal/research-list/index.md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 | 附录 C｜三个值得复核的实现细节
备查页，不计入 40 分钟主流程。
这些细节来自公开参考文档，适合作为实验检查点。精确实现随版本变化，本轮没有部署或复现。
【来源与证据】
Hermes Agent
本地：content/zh-cn/agents/personal/hermes-agent/references/index.md
原始入口：https://hermes-agent.nousresearch.com/docs/user-guide/features/memory
DeepSeek Harness
本地：content/zh-cn/agents/personal/deepseek-harness/references/index.md
原始入口：https://deepseek-harness.github.io/deepseek-harness/en/reference/subsystems/schedule
Lindy
本地：content/zh-cn/agents/personal/lindy/references/index.md
原始入口：https://docs.lindy.ai/integrations/overview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 | 附录 D｜原始来源：第一批
备查页，不计入 40 分钟主流程。
完整的来源日期、资料性质和学习过程保留在仓库各产品 references/index.md。本页每个产品提供一个原始入口，逐页相关来源也放在讲者备注。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| 附录 E｜原始来源：第二批
备查页，不计入 40 分钟主流程。
这些原始入口配合本地索引阅读。资料快照截至 2026-10-22，没有把读取日期当成无日期页面的发布日期。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| 附录 F｜后续实验记录模板
备查页，不计入 40 分钟主流程。
实验模板用于日后沉淀真实观察，本轮没有填入虚构结果。不同配置先保留条件，结果有对应产物和过程后再讨论比较。
【来源与证据】
证据范围：基于既有调研笔记（第一批 2026-10-21，第二批 2026-10-22）。除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ntroducing.muse.ai/" TargetMode="External"/><Relationship Id="rId2" Type="http://schemas.openxmlformats.org/officeDocument/2006/relationships/hyperlink" Target="https://learn.chatgpt.com/docs/dots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nus.im/blog/introducing-manus-2-0" TargetMode="External"/><Relationship Id="rId2" Type="http://schemas.openxmlformats.org/officeDocument/2006/relationships/hyperlink" Target="https://docs.x.ai/grok-bot/overview" TargetMode="External"/><Relationship Id="rId3" Type="http://schemas.openxmlformats.org/officeDocument/2006/relationships/hyperlink" Target="https://poke.com/docs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google.com/gemini/answer/17094507?hl=en" TargetMode="External"/><Relationship Id="rId2" Type="http://schemas.openxmlformats.org/officeDocument/2006/relationships/hyperlink" Target="https://blogs.microsoft.com/blog/2026/09/25/introducing-the-new-copilot-with-home-code-and-autopilot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claude.com/en/articles/15520349-use-claude-cowork-on-web-desktop-and-mobile" TargetMode="External"/><Relationship Id="rId2" Type="http://schemas.openxmlformats.org/officeDocument/2006/relationships/hyperlink" Target="https://www.perplexity.ai/personal-computer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penclaw.ai/" TargetMode="External"/><Relationship Id="rId2" Type="http://schemas.openxmlformats.org/officeDocument/2006/relationships/hyperlink" Target="https://hermes-agent.nousresearch.com/docs/user-guide/features/memory" TargetMode="External"/><Relationship Id="rId3" Type="http://schemas.openxmlformats.org/officeDocument/2006/relationships/hyperlink" Target="https://www.kimi.com/help/kimi-claw/overview" TargetMode="External"/><Relationship Id="rId4" Type="http://schemas.openxmlformats.org/officeDocument/2006/relationships/hyperlink" Target="https://deepseek-harness.github.io/deepseek-harness/en/reference/subsystems/schedule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introducing.muse.ai/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www.workbuddy.cn/docs/workbuddy/Changelog" TargetMode="External"/><Relationship Id="rId3" Type="http://schemas.openxmlformats.org/officeDocument/2006/relationships/hyperlink" Target="https://deepseek-harness.github.io/deepseek-harness/en/reference/subsystems/schedule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docs.lindy.ai/integrations/overview" TargetMode="External"/><Relationship Id="rId3" Type="http://schemas.openxmlformats.org/officeDocument/2006/relationships/hyperlink" Target="https://deepseek-harness.github.io/deepseek-harness/en/reference/subsystems/schedule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erplexity.ai/personal-computer" TargetMode="External"/><Relationship Id="rId2" Type="http://schemas.openxmlformats.org/officeDocument/2006/relationships/hyperlink" Target="https://support.claude.com/en/articles/15520349-use-claude-cowork-on-web-desktop-and-mobile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nus.im/blog/introducing-manus-2-0" TargetMode="External"/><Relationship Id="rId2" Type="http://schemas.openxmlformats.org/officeDocument/2006/relationships/hyperlink" Target="https://docs.x.ai/grok-bot/overview" TargetMode="External"/><Relationship Id="rId3" Type="http://schemas.openxmlformats.org/officeDocument/2006/relationships/hyperlink" Target="https://www.kimi.com/help/kimi-claw/overview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support.claude.com/en/articles/15520349-use-claude-cowork-on-web-desktop-and-mobile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nus.im/blog/introducing-manus-2-0" TargetMode="External"/><Relationship Id="rId2" Type="http://schemas.openxmlformats.org/officeDocument/2006/relationships/hyperlink" Target="https://blogs.microsoft.com/blog/2026/09/25/introducing-the-new-copilot-with-home-code-and-autopilot/" TargetMode="External"/><Relationship Id="rId3" Type="http://schemas.openxmlformats.org/officeDocument/2006/relationships/hyperlink" Target="https://docs.lindy.ai/integrations/overview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indy.ai/integrations/overview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docs.openclaw.ai/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google.com/gemini/answer/17094507?hl=en" TargetMode="External"/><Relationship Id="rId2" Type="http://schemas.openxmlformats.org/officeDocument/2006/relationships/hyperlink" Target="https://learn.chatgpt.com/docs/dots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claude.com/en/articles/15520349-use-claude-cowork-on-web-desktop-and-mobile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docs.openclaw.ai/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docs.lindy.ai/integrations/overview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introducing.muse.ai/" TargetMode="External"/><Relationship Id="rId2" Type="http://schemas.openxmlformats.org/officeDocument/2006/relationships/hyperlink" Target="https://learn.chatgpt.com/docs/dots" TargetMode="External"/><Relationship Id="rId3" Type="http://schemas.openxmlformats.org/officeDocument/2006/relationships/hyperlink" Target="https://www.manus.im/blog/introducing-manus-2-0" TargetMode="External"/><Relationship Id="rId4" Type="http://schemas.openxmlformats.org/officeDocument/2006/relationships/hyperlink" Target="https://support.google.com/gemini/answer/17094507?hl=en" TargetMode="External"/><Relationship Id="rId5" Type="http://schemas.openxmlformats.org/officeDocument/2006/relationships/hyperlink" Target="https://docs.x.ai/grok-bot/overview" TargetMode="External"/><Relationship Id="rId6" Type="http://schemas.openxmlformats.org/officeDocument/2006/relationships/hyperlink" Target="https://docs.openclaw.ai/" TargetMode="External"/><Relationship Id="rId7" Type="http://schemas.openxmlformats.org/officeDocument/2006/relationships/hyperlink" Target="https://www.perplexity.ai/personal-computer" TargetMode="External"/><Relationship Id="rId8" Type="http://schemas.openxmlformats.org/officeDocument/2006/relationships/hyperlink" Target="https://support.claude.com/en/articles/15520349-use-claude-cowork-on-web-desktop-and-mobile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blogs.microsoft.com/blog/2026/09/25/introducing-the-new-copilot-with-home-code-and-autopilot/" TargetMode="External"/><Relationship Id="rId3" Type="http://schemas.openxmlformats.org/officeDocument/2006/relationships/hyperlink" Target="https://poke.com/docs" TargetMode="External"/><Relationship Id="rId4" Type="http://schemas.openxmlformats.org/officeDocument/2006/relationships/hyperlink" Target="https://docs.lindy.ai/integrations/overview" TargetMode="External"/><Relationship Id="rId5" Type="http://schemas.openxmlformats.org/officeDocument/2006/relationships/hyperlink" Target="https://www.kimi.com/help/kimi-claw/overview" TargetMode="External"/><Relationship Id="rId6" Type="http://schemas.openxmlformats.org/officeDocument/2006/relationships/hyperlink" Target="https://www.workbuddy.cn/docs/workbuddy/Changelog" TargetMode="External"/><Relationship Id="rId7" Type="http://schemas.openxmlformats.org/officeDocument/2006/relationships/hyperlink" Target="https://deepseek-harness.github.io/deepseek-harness/en/reference/subsystems/schedule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 NOTES / PERSONAL AGENT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</a:t>
            </a:r>
            <a:endParaRPr lang="zh-CN" sz="5400" dirty="0"/>
          </a:p>
        </p:txBody>
      </p:sp>
      <p:sp>
        <p:nvSpPr>
          <p:cNvPr id="5" name="Text 2"/>
          <p:cNvSpPr/>
          <p:nvPr/>
        </p:nvSpPr>
        <p:spPr>
          <a:xfrm>
            <a:off x="630936" y="2487168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从个人上下文到长期委托</a:t>
            </a:r>
            <a:endParaRPr lang="zh-CN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3767328"/>
            <a:ext cx="685800" cy="54864"/>
          </a:xfrm>
          <a:prstGeom prst="rect">
            <a:avLst>
              <a:gd name="adj" fmla="val 200000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69664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ABC7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个产品的学习比较</a:t>
            </a:r>
            <a:endParaRPr lang="zh-CN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ABC7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运行平台与开发视角</a:t>
            </a:r>
            <a:endParaRPr lang="zh-CN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6016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ABC7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 · 40 分钟技术交流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10378440" y="640080"/>
            <a:ext cx="621792" cy="621792"/>
          </a:xfrm>
          <a:prstGeom prst="rect">
            <a:avLst>
              <a:gd name="adj" fmla="val 17647"/>
            </a:avLst>
          </a:prstGeom>
          <a:solidFill>
            <a:srgbClr val="236B6C"/>
          </a:solidFill>
          <a:ln w="7620">
            <a:solidFill>
              <a:srgbClr val="236B6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43032" y="804672"/>
            <a:ext cx="621792" cy="621792"/>
          </a:xfrm>
          <a:prstGeom prst="rect">
            <a:avLst>
              <a:gd name="adj" fmla="val 17647"/>
            </a:avLst>
          </a:prstGeom>
          <a:solidFill>
            <a:srgbClr val="2D4C5E"/>
          </a:solidFill>
          <a:ln w="7620">
            <a:solidFill>
              <a:srgbClr val="2D4C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07624" y="969264"/>
            <a:ext cx="621792" cy="621792"/>
          </a:xfrm>
          <a:prstGeom prst="rect">
            <a:avLst>
              <a:gd name="adj" fmla="val 17647"/>
            </a:avLst>
          </a:prstGeom>
          <a:solidFill>
            <a:srgbClr val="236B6C"/>
          </a:solidFill>
          <a:ln w="7620">
            <a:solidFill>
              <a:srgbClr val="236B6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72216" y="1133856"/>
            <a:ext cx="621792" cy="621792"/>
          </a:xfrm>
          <a:prstGeom prst="rect">
            <a:avLst>
              <a:gd name="adj" fmla="val 17647"/>
            </a:avLst>
          </a:prstGeom>
          <a:solidFill>
            <a:srgbClr val="2D4C5E"/>
          </a:solidFill>
          <a:ln w="7620">
            <a:solidFill>
              <a:srgbClr val="2D4C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开场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我想带走三个判断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3584448" cy="3246120"/>
          </a:xfrm>
          <a:prstGeom prst="rect">
            <a:avLst>
              <a:gd name="adj" fmla="val 33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212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4000" dirty="0"/>
          </a:p>
        </p:txBody>
      </p:sp>
      <p:sp>
        <p:nvSpPr>
          <p:cNvPr id="11" name="Text 8"/>
          <p:cNvSpPr/>
          <p:nvPr/>
        </p:nvSpPr>
        <p:spPr>
          <a:xfrm>
            <a:off x="768096" y="30632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看清路线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68096" y="370332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个样本 · 6 条阅读线索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68096" y="4645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分钟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2011680"/>
            <a:ext cx="3584448" cy="3246120"/>
          </a:xfrm>
          <a:prstGeom prst="rect">
            <a:avLst>
              <a:gd name="adj" fmla="val 33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7136" y="2212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4000" dirty="0"/>
          </a:p>
        </p:txBody>
      </p:sp>
      <p:sp>
        <p:nvSpPr>
          <p:cNvPr id="16" name="Text 13"/>
          <p:cNvSpPr/>
          <p:nvPr/>
        </p:nvSpPr>
        <p:spPr>
          <a:xfrm>
            <a:off x="4517136" y="30632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理解机制</a:t>
            </a:r>
            <a:endParaRPr lang="zh-CN" sz="2600" dirty="0"/>
          </a:p>
        </p:txBody>
      </p:sp>
      <p:sp>
        <p:nvSpPr>
          <p:cNvPr id="17" name="Text 14"/>
          <p:cNvSpPr/>
          <p:nvPr/>
        </p:nvSpPr>
        <p:spPr>
          <a:xfrm>
            <a:off x="4517136" y="370332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从产品差异回到系统对象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4517136" y="4645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分钟</a:t>
            </a:r>
            <a:endParaRPr lang="zh-CN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2011680"/>
            <a:ext cx="3584448" cy="3246120"/>
          </a:xfrm>
          <a:prstGeom prst="rect">
            <a:avLst>
              <a:gd name="adj" fmla="val 33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6176" y="2212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4000" dirty="0"/>
          </a:p>
        </p:txBody>
      </p:sp>
      <p:sp>
        <p:nvSpPr>
          <p:cNvPr id="21" name="Text 18"/>
          <p:cNvSpPr/>
          <p:nvPr/>
        </p:nvSpPr>
        <p:spPr>
          <a:xfrm>
            <a:off x="8266176" y="30632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形成判断</a:t>
            </a:r>
            <a:endParaRPr lang="zh-CN" sz="2600" dirty="0"/>
          </a:p>
        </p:txBody>
      </p:sp>
      <p:sp>
        <p:nvSpPr>
          <p:cNvPr id="22" name="Text 19"/>
          <p:cNvSpPr/>
          <p:nvPr/>
        </p:nvSpPr>
        <p:spPr>
          <a:xfrm>
            <a:off x="8266176" y="370332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状态、授权、验证与建设顺序</a:t>
            </a:r>
            <a:endParaRPr lang="zh-CN" sz="1800" dirty="0"/>
          </a:p>
        </p:txBody>
      </p:sp>
      <p:sp>
        <p:nvSpPr>
          <p:cNvPr id="23" name="Text 20"/>
          <p:cNvSpPr/>
          <p:nvPr/>
        </p:nvSpPr>
        <p:spPr>
          <a:xfrm>
            <a:off x="8266176" y="4645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</a:t>
            </a:r>
            <a:endParaRPr lang="zh-CN" sz="150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讲解约 36 分钟 · 讨论 4 分钟</a:t>
            </a:r>
            <a:endParaRPr 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从一项我熟悉的委托开始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29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901952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“持续跟踪产品更新，按我的关注点维护笔记，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并交付可以核查的阶段性比较。”</a:t>
            </a:r>
            <a:endParaRPr lang="zh-CN" sz="2700" dirty="0"/>
          </a:p>
        </p:txBody>
      </p:sp>
      <p:sp>
        <p:nvSpPr>
          <p:cNvPr id="10" name="Shape 7"/>
          <p:cNvSpPr/>
          <p:nvPr/>
        </p:nvSpPr>
        <p:spPr>
          <a:xfrm>
            <a:off x="566928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给出长期目标</a:t>
            </a:r>
            <a:endParaRPr lang="zh-CN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 15 个产品</a:t>
            </a:r>
            <a:endParaRPr lang="zh-CN" sz="1550" dirty="0"/>
          </a:p>
        </p:txBody>
      </p:sp>
      <p:sp>
        <p:nvSpPr>
          <p:cNvPr id="14" name="Shape 11"/>
          <p:cNvSpPr/>
          <p:nvPr/>
        </p:nvSpPr>
        <p:spPr>
          <a:xfrm>
            <a:off x="3154680" y="4247388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87852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2444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3552444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维护个人上下文</a:t>
            </a:r>
            <a:endParaRPr lang="zh-CN" sz="2100" dirty="0"/>
          </a:p>
        </p:txBody>
      </p:sp>
      <p:sp>
        <p:nvSpPr>
          <p:cNvPr id="18" name="Text 15"/>
          <p:cNvSpPr/>
          <p:nvPr/>
        </p:nvSpPr>
        <p:spPr>
          <a:xfrm>
            <a:off x="3552444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偏好、范围、证据标准</a:t>
            </a:r>
            <a:endParaRPr lang="zh-CN" sz="1550" dirty="0"/>
          </a:p>
        </p:txBody>
      </p:sp>
      <p:sp>
        <p:nvSpPr>
          <p:cNvPr id="19" name="Shape 16"/>
          <p:cNvSpPr/>
          <p:nvPr/>
        </p:nvSpPr>
        <p:spPr>
          <a:xfrm>
            <a:off x="5975604" y="4247388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08776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73368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2" name="Text 19"/>
          <p:cNvSpPr/>
          <p:nvPr/>
        </p:nvSpPr>
        <p:spPr>
          <a:xfrm>
            <a:off x="6373368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应对变化</a:t>
            </a:r>
            <a:endParaRPr lang="zh-CN" sz="2100" dirty="0"/>
          </a:p>
        </p:txBody>
      </p:sp>
      <p:sp>
        <p:nvSpPr>
          <p:cNvPr id="23" name="Text 20"/>
          <p:cNvSpPr/>
          <p:nvPr/>
        </p:nvSpPr>
        <p:spPr>
          <a:xfrm>
            <a:off x="6373368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改名、版本、资料更新</a:t>
            </a:r>
            <a:endParaRPr lang="zh-CN" sz="1550" dirty="0"/>
          </a:p>
        </p:txBody>
      </p:sp>
      <p:sp>
        <p:nvSpPr>
          <p:cNvPr id="24" name="Shape 21"/>
          <p:cNvSpPr/>
          <p:nvPr/>
        </p:nvSpPr>
        <p:spPr>
          <a:xfrm>
            <a:off x="8796528" y="4247388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029700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94292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7" name="Text 24"/>
          <p:cNvSpPr/>
          <p:nvPr/>
        </p:nvSpPr>
        <p:spPr>
          <a:xfrm>
            <a:off x="9194292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交付可检查结果</a:t>
            </a:r>
            <a:endParaRPr lang="zh-CN" sz="2100" dirty="0"/>
          </a:p>
        </p:txBody>
      </p:sp>
      <p:sp>
        <p:nvSpPr>
          <p:cNvPr id="28" name="Text 25"/>
          <p:cNvSpPr/>
          <p:nvPr/>
        </p:nvSpPr>
        <p:spPr>
          <a:xfrm>
            <a:off x="9194292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文档、引用、差异记录</a:t>
            </a:r>
            <a:endParaRPr lang="zh-CN" sz="1550" dirty="0"/>
          </a:p>
        </p:txBody>
      </p:sp>
      <p:sp>
        <p:nvSpPr>
          <p:cNvPr id="29" name="Text 26"/>
          <p:cNvSpPr/>
          <p:nvPr/>
        </p:nvSpPr>
        <p:spPr>
          <a:xfrm>
            <a:off x="640080" y="5367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合成场景 · 非产品实测</a:t>
            </a:r>
            <a:endParaRPr lang="zh-CN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贯穿案例：持续维护一套 AI Agent 学习笔记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我如何界定 Personal Agent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29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920240"/>
            <a:ext cx="10789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长期服务于一个人，理解其上下文，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并能受托推进任务。</a:t>
            </a:r>
            <a:endParaRPr lang="zh-CN" sz="2900" dirty="0"/>
          </a:p>
        </p:txBody>
      </p:sp>
      <p:sp>
        <p:nvSpPr>
          <p:cNvPr id="10" name="Shape 7"/>
          <p:cNvSpPr/>
          <p:nvPr/>
        </p:nvSpPr>
        <p:spPr>
          <a:xfrm>
            <a:off x="58521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个人上下文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4066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偏好、资料、项目约束</a:t>
            </a:r>
            <a:endParaRPr lang="zh-CN" sz="1600" dirty="0"/>
          </a:p>
        </p:txBody>
      </p:sp>
      <p:sp>
        <p:nvSpPr>
          <p:cNvPr id="13" name="Shape 10"/>
          <p:cNvSpPr/>
          <p:nvPr/>
        </p:nvSpPr>
        <p:spPr>
          <a:xfrm>
            <a:off x="282549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8094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实际执行</a:t>
            </a:r>
            <a:endParaRPr lang="zh-CN" sz="2100" dirty="0"/>
          </a:p>
        </p:txBody>
      </p:sp>
      <p:sp>
        <p:nvSpPr>
          <p:cNvPr id="15" name="Text 12"/>
          <p:cNvSpPr/>
          <p:nvPr/>
        </p:nvSpPr>
        <p:spPr>
          <a:xfrm>
            <a:off x="298094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工具、应用、电脑与交付</a:t>
            </a:r>
            <a:endParaRPr lang="zh-CN" sz="1600" dirty="0"/>
          </a:p>
        </p:txBody>
      </p:sp>
      <p:sp>
        <p:nvSpPr>
          <p:cNvPr id="16" name="Shape 13"/>
          <p:cNvSpPr/>
          <p:nvPr/>
        </p:nvSpPr>
        <p:spPr>
          <a:xfrm>
            <a:off x="506577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122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持续运行</a:t>
            </a:r>
            <a:endParaRPr lang="zh-CN" sz="2100" dirty="0"/>
          </a:p>
        </p:txBody>
      </p:sp>
      <p:sp>
        <p:nvSpPr>
          <p:cNvPr id="18" name="Text 15"/>
          <p:cNvSpPr/>
          <p:nvPr/>
        </p:nvSpPr>
        <p:spPr>
          <a:xfrm>
            <a:off x="522122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时间、事件与恢复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730605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6150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长期委托</a:t>
            </a:r>
            <a:endParaRPr lang="zh-CN" sz="2100" dirty="0"/>
          </a:p>
        </p:txBody>
      </p:sp>
      <p:sp>
        <p:nvSpPr>
          <p:cNvPr id="21" name="Text 18"/>
          <p:cNvSpPr/>
          <p:nvPr/>
        </p:nvSpPr>
        <p:spPr>
          <a:xfrm>
            <a:off x="746150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目标变化与持续跟进</a:t>
            </a:r>
            <a:endParaRPr lang="zh-CN" sz="1600" dirty="0"/>
          </a:p>
        </p:txBody>
      </p:sp>
      <p:sp>
        <p:nvSpPr>
          <p:cNvPr id="22" name="Shape 19"/>
          <p:cNvSpPr/>
          <p:nvPr/>
        </p:nvSpPr>
        <p:spPr>
          <a:xfrm>
            <a:off x="954633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0178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用户控制</a:t>
            </a:r>
            <a:endParaRPr lang="zh-CN" sz="2100" dirty="0"/>
          </a:p>
        </p:txBody>
      </p:sp>
      <p:sp>
        <p:nvSpPr>
          <p:cNvPr id="24" name="Text 21"/>
          <p:cNvSpPr/>
          <p:nvPr/>
        </p:nvSpPr>
        <p:spPr>
          <a:xfrm>
            <a:off x="970178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审批、撤权与审计</a:t>
            </a:r>
            <a:endParaRPr lang="zh-CN" sz="160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这是研究定义；入选表示值得观察，能力仍逐项核验。</a:t>
            </a:r>
            <a:endParaRPr lang="zh-C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个样本，沿六条路线阅读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847088"/>
            <a:ext cx="41148" cy="1673352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09397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持续个人委托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68096" y="27249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· Dots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目标、工作环境、上下文</a:t>
            </a:r>
            <a:endParaRPr lang="zh-CN" sz="1650" dirty="0"/>
          </a:p>
        </p:txBody>
      </p:sp>
      <p:sp>
        <p:nvSpPr>
          <p:cNvPr id="13" name="Shape 10"/>
          <p:cNvSpPr/>
          <p:nvPr/>
        </p:nvSpPr>
        <p:spPr>
          <a:xfrm>
            <a:off x="4297680" y="1847088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1847088"/>
            <a:ext cx="41148" cy="1673352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7136" y="209397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身份与消息</a:t>
            </a:r>
            <a:endParaRPr lang="zh-CN" sz="2300" dirty="0"/>
          </a:p>
        </p:txBody>
      </p:sp>
      <p:sp>
        <p:nvSpPr>
          <p:cNvPr id="16" name="Text 13"/>
          <p:cNvSpPr/>
          <p:nvPr/>
        </p:nvSpPr>
        <p:spPr>
          <a:xfrm>
            <a:off x="4517136" y="27249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 · Grok Bot · Poke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联系人、角色、交接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8046720" y="1847088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1847088"/>
            <a:ext cx="41148" cy="1673352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209397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办公生态</a:t>
            </a:r>
            <a:endParaRPr lang="zh-CN" sz="2300" dirty="0"/>
          </a:p>
        </p:txBody>
      </p:sp>
      <p:sp>
        <p:nvSpPr>
          <p:cNvPr id="20" name="Text 17"/>
          <p:cNvSpPr/>
          <p:nvPr/>
        </p:nvSpPr>
        <p:spPr>
          <a:xfrm>
            <a:off x="8266176" y="27249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 · Autopilot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应用数据、组织身份</a:t>
            </a:r>
            <a:endParaRPr lang="zh-CN" sz="1650" dirty="0"/>
          </a:p>
        </p:txBody>
      </p:sp>
      <p:sp>
        <p:nvSpPr>
          <p:cNvPr id="21" name="Shape 18"/>
          <p:cNvSpPr/>
          <p:nvPr/>
        </p:nvSpPr>
        <p:spPr>
          <a:xfrm>
            <a:off x="548640" y="3694176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694176"/>
            <a:ext cx="41148" cy="1673352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" y="39410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知识工作与电脑</a:t>
            </a:r>
            <a:endParaRPr lang="zh-CN" sz="2300" dirty="0"/>
          </a:p>
        </p:txBody>
      </p:sp>
      <p:sp>
        <p:nvSpPr>
          <p:cNvPr id="24" name="Text 21"/>
          <p:cNvSpPr/>
          <p:nvPr/>
        </p:nvSpPr>
        <p:spPr>
          <a:xfrm>
            <a:off x="768096" y="4572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· Personal Computer · WorkBuddy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文件、应用、云端与本地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4297680" y="3694176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0" y="3694176"/>
            <a:ext cx="41148" cy="1673352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7136" y="39410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开源自建</a:t>
            </a:r>
            <a:endParaRPr lang="zh-CN" sz="2300" dirty="0"/>
          </a:p>
        </p:txBody>
      </p:sp>
      <p:sp>
        <p:nvSpPr>
          <p:cNvPr id="28" name="Text 25"/>
          <p:cNvSpPr/>
          <p:nvPr/>
        </p:nvSpPr>
        <p:spPr>
          <a:xfrm>
            <a:off x="4517136" y="4572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Hermes Agent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状态、宿主、运行维护</a:t>
            </a:r>
            <a:endParaRPr lang="zh-CN" sz="1650" dirty="0"/>
          </a:p>
        </p:txBody>
      </p:sp>
      <p:sp>
        <p:nvSpPr>
          <p:cNvPr id="29" name="Shape 26"/>
          <p:cNvSpPr/>
          <p:nvPr/>
        </p:nvSpPr>
        <p:spPr>
          <a:xfrm>
            <a:off x="8046720" y="3694176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46720" y="3694176"/>
            <a:ext cx="41148" cy="1673352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66176" y="39410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底座产品化</a:t>
            </a:r>
            <a:endParaRPr lang="zh-CN" sz="2300" dirty="0"/>
          </a:p>
        </p:txBody>
      </p:sp>
      <p:sp>
        <p:nvSpPr>
          <p:cNvPr id="32" name="Text 29"/>
          <p:cNvSpPr/>
          <p:nvPr/>
        </p:nvSpPr>
        <p:spPr>
          <a:xfrm>
            <a:off x="8266176" y="4572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 · DeepSeek Harness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托管、配置、版本责任</a:t>
            </a:r>
            <a:endParaRPr lang="zh-CN" sz="1650" dirty="0"/>
          </a:p>
        </p:txBody>
      </p:sp>
      <p:sp>
        <p:nvSpPr>
          <p:cNvPr id="33" name="Shape 30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分组表达阅读重点；同一产品可以跨越多条路线。</a:t>
            </a:r>
            <a:endParaRPr lang="zh-C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比较前，我先标明证据到哪里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官方说明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设计、帮助、版本记录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保留日期与开放条件</a:t>
            </a:r>
            <a:endParaRPr lang="zh-CN" sz="1600" dirty="0"/>
          </a:p>
        </p:txBody>
      </p:sp>
      <p:sp>
        <p:nvSpPr>
          <p:cNvPr id="14" name="Shape 11"/>
          <p:cNvSpPr/>
          <p:nvPr/>
        </p:nvSpPr>
        <p:spPr>
          <a:xfrm>
            <a:off x="3364992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3547872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外部观察</a:t>
            </a:r>
            <a:endParaRPr lang="zh-CN" sz="2300" dirty="0"/>
          </a:p>
        </p:txBody>
      </p:sp>
      <p:sp>
        <p:nvSpPr>
          <p:cNvPr id="17" name="Text 14"/>
          <p:cNvSpPr/>
          <p:nvPr/>
        </p:nvSpPr>
        <p:spPr>
          <a:xfrm>
            <a:off x="3547872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媒体、研究、用户样本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3547872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保留测试与样本范围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6181344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6364224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本人探索</a:t>
            </a:r>
            <a:endParaRPr lang="zh-CN" sz="2300" dirty="0"/>
          </a:p>
        </p:txBody>
      </p:sp>
      <p:sp>
        <p:nvSpPr>
          <p:cNvPr id="22" name="Text 19"/>
          <p:cNvSpPr/>
          <p:nvPr/>
        </p:nvSpPr>
        <p:spPr>
          <a:xfrm>
            <a:off x="6364224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既有记录</a:t>
            </a:r>
            <a:endParaRPr lang="zh-CN" sz="1800" dirty="0"/>
          </a:p>
        </p:txBody>
      </p:sp>
      <p:sp>
        <p:nvSpPr>
          <p:cNvPr id="23" name="Text 20"/>
          <p:cNvSpPr/>
          <p:nvPr/>
        </p:nvSpPr>
        <p:spPr>
          <a:xfrm>
            <a:off x="6364224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行为与代理自述分开</a:t>
            </a:r>
            <a:endParaRPr lang="zh-CN" sz="1600" dirty="0"/>
          </a:p>
        </p:txBody>
      </p:sp>
      <p:sp>
        <p:nvSpPr>
          <p:cNvPr id="24" name="Shape 21"/>
          <p:cNvSpPr/>
          <p:nvPr/>
        </p:nvSpPr>
        <p:spPr>
          <a:xfrm>
            <a:off x="8997696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80576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9180576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我的分析</a:t>
            </a:r>
            <a:endParaRPr lang="zh-CN" sz="2300" dirty="0"/>
          </a:p>
        </p:txBody>
      </p:sp>
      <p:sp>
        <p:nvSpPr>
          <p:cNvPr id="27" name="Text 24"/>
          <p:cNvSpPr/>
          <p:nvPr/>
        </p:nvSpPr>
        <p:spPr>
          <a:xfrm>
            <a:off x="9180576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参考模型、取舍、实验</a:t>
            </a:r>
            <a:endParaRPr lang="zh-CN" sz="1800" dirty="0"/>
          </a:p>
        </p:txBody>
      </p:sp>
      <p:sp>
        <p:nvSpPr>
          <p:cNvPr id="28" name="Text 25"/>
          <p:cNvSpPr/>
          <p:nvPr/>
        </p:nvSpPr>
        <p:spPr>
          <a:xfrm>
            <a:off x="9180576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不冒充厂商实现</a:t>
            </a:r>
            <a:endParaRPr lang="zh-CN" sz="1600" dirty="0"/>
          </a:p>
        </p:txBody>
      </p:sp>
      <p:sp>
        <p:nvSpPr>
          <p:cNvPr id="29" name="Shape 2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两批资料快照：2026-10-21 / 10-22；尚无跨产品同条件实测。</a:t>
            </a:r>
            <a:endParaRPr lang="zh-C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与 Dots：长期委托怎样延续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Mu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Dots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持续工作环境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专用工作环境与长期目标</a:t>
            </a:r>
            <a:endParaRPr lang="zh-CN" sz="195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文件、记忆与后台工作的联系</a:t>
            </a:r>
            <a:endParaRPr lang="zh-CN" sz="195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已有个人探索仍保留实现假设</a:t>
            </a:r>
            <a:endParaRPr lang="zh-CN" sz="1950" dirty="0"/>
          </a:p>
        </p:txBody>
      </p:sp>
      <p:sp>
        <p:nvSpPr>
          <p:cNvPr id="15" name="Shape 12"/>
          <p:cNvSpPr/>
          <p:nvPr/>
        </p:nvSpPr>
        <p:spPr>
          <a:xfrm>
            <a:off x="73152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实例变化后，谁重新唤醒工作？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619506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794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长期职责与任务委派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637794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2600" dirty="0"/>
          </a:p>
        </p:txBody>
      </p:sp>
      <p:sp>
        <p:nvSpPr>
          <p:cNvPr id="20" name="Text 17"/>
          <p:cNvSpPr/>
          <p:nvPr/>
        </p:nvSpPr>
        <p:spPr>
          <a:xfrm>
            <a:off x="637794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个人上下文进入持续职责</a:t>
            </a:r>
            <a:endParaRPr lang="zh-CN" sz="1950" dirty="0"/>
          </a:p>
        </p:txBody>
      </p:sp>
      <p:sp>
        <p:nvSpPr>
          <p:cNvPr id="21" name="Text 18"/>
          <p:cNvSpPr/>
          <p:nvPr/>
        </p:nvSpPr>
        <p:spPr>
          <a:xfrm>
            <a:off x="637794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职责派生任务，任务返回结果</a:t>
            </a:r>
            <a:endParaRPr lang="zh-CN" sz="1950" dirty="0"/>
          </a:p>
        </p:txBody>
      </p:sp>
      <p:sp>
        <p:nvSpPr>
          <p:cNvPr id="22" name="Text 19"/>
          <p:cNvSpPr/>
          <p:nvPr/>
        </p:nvSpPr>
        <p:spPr>
          <a:xfrm>
            <a:off x="637794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关注新要求在派生工作中的传播</a:t>
            </a:r>
            <a:endParaRPr lang="zh-CN" sz="1950" dirty="0"/>
          </a:p>
        </p:txBody>
      </p:sp>
      <p:sp>
        <p:nvSpPr>
          <p:cNvPr id="23" name="Shape 20"/>
          <p:cNvSpPr/>
          <p:nvPr/>
        </p:nvSpPr>
        <p:spPr>
          <a:xfrm>
            <a:off x="637794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794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目标变化后，哪些任务必须更新？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我的启发：目标、任务、运行实例要能独立描述。</a:t>
            </a:r>
            <a:endParaRPr lang="zh-CN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Cue、Grok Bot、Poke：代理成为联系对象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Grok B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Grok Bot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Pok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Poke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独立身份与资源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邮箱、电话、钱包、电脑</a:t>
            </a:r>
            <a:endParaRPr lang="zh-CN" sz="1850" dirty="0"/>
          </a:p>
        </p:txBody>
      </p:sp>
      <p:sp>
        <p:nvSpPr>
          <p:cNvPr id="13" name="Text 10"/>
          <p:cNvSpPr/>
          <p:nvPr/>
        </p:nvSpPr>
        <p:spPr>
          <a:xfrm>
            <a:off x="73152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团队工作交接与晚到事件</a:t>
            </a:r>
            <a:endParaRPr lang="zh-CN" sz="1850" dirty="0"/>
          </a:p>
        </p:txBody>
      </p:sp>
      <p:sp>
        <p:nvSpPr>
          <p:cNvPr id="14" name="Shape 11"/>
          <p:cNvSpPr/>
          <p:nvPr/>
        </p:nvSpPr>
        <p:spPr>
          <a:xfrm>
            <a:off x="73152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资源属于谁，批准传到哪里？</a:t>
            </a:r>
            <a:endParaRPr lang="zh-CN" sz="1650" dirty="0"/>
          </a:p>
        </p:txBody>
      </p:sp>
      <p:sp>
        <p:nvSpPr>
          <p:cNvPr id="16" name="Shape 13"/>
          <p:cNvSpPr/>
          <p:nvPr/>
        </p:nvSpPr>
        <p:spPr>
          <a:xfrm>
            <a:off x="431292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9580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长期角色与共享电脑</a:t>
            </a:r>
            <a:endParaRPr lang="zh-CN" sz="1100" dirty="0"/>
          </a:p>
        </p:txBody>
      </p:sp>
      <p:sp>
        <p:nvSpPr>
          <p:cNvPr id="18" name="Text 15"/>
          <p:cNvSpPr/>
          <p:nvPr/>
        </p:nvSpPr>
        <p:spPr>
          <a:xfrm>
            <a:off x="449580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2600" dirty="0"/>
          </a:p>
        </p:txBody>
      </p:sp>
      <p:sp>
        <p:nvSpPr>
          <p:cNvPr id="19" name="Text 16"/>
          <p:cNvSpPr/>
          <p:nvPr/>
        </p:nvSpPr>
        <p:spPr>
          <a:xfrm>
            <a:off x="449580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职责与方法持续存在</a:t>
            </a:r>
            <a:endParaRPr lang="zh-CN" sz="1850" dirty="0"/>
          </a:p>
        </p:txBody>
      </p:sp>
      <p:sp>
        <p:nvSpPr>
          <p:cNvPr id="20" name="Text 17"/>
          <p:cNvSpPr/>
          <p:nvPr/>
        </p:nvSpPr>
        <p:spPr>
          <a:xfrm>
            <a:off x="449580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共享文件、登录态与并发</a:t>
            </a:r>
            <a:endParaRPr lang="zh-CN" sz="1850" dirty="0"/>
          </a:p>
        </p:txBody>
      </p:sp>
      <p:sp>
        <p:nvSpPr>
          <p:cNvPr id="21" name="Shape 18"/>
          <p:cNvSpPr/>
          <p:nvPr/>
        </p:nvSpPr>
        <p:spPr>
          <a:xfrm>
            <a:off x="449580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580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分工以后，哪些资源仍共享？</a:t>
            </a:r>
            <a:endParaRPr lang="zh-CN" sz="1650" dirty="0"/>
          </a:p>
        </p:txBody>
      </p:sp>
      <p:sp>
        <p:nvSpPr>
          <p:cNvPr id="23" name="Shape 20"/>
          <p:cNvSpPr/>
          <p:nvPr/>
        </p:nvSpPr>
        <p:spPr>
          <a:xfrm>
            <a:off x="807720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消息入口与人工协助</a:t>
            </a:r>
            <a:endParaRPr lang="zh-CN" sz="1100" dirty="0"/>
          </a:p>
        </p:txBody>
      </p:sp>
      <p:sp>
        <p:nvSpPr>
          <p:cNvPr id="25" name="Text 22"/>
          <p:cNvSpPr/>
          <p:nvPr/>
        </p:nvSpPr>
        <p:spPr>
          <a:xfrm>
            <a:off x="826008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2600" dirty="0"/>
          </a:p>
        </p:txBody>
      </p:sp>
      <p:sp>
        <p:nvSpPr>
          <p:cNvPr id="26" name="Text 23"/>
          <p:cNvSpPr/>
          <p:nvPr/>
        </p:nvSpPr>
        <p:spPr>
          <a:xfrm>
            <a:off x="826008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消息、Recipes、MCP / API</a:t>
            </a:r>
            <a:endParaRPr lang="zh-CN" sz="1850" dirty="0"/>
          </a:p>
        </p:txBody>
      </p:sp>
      <p:sp>
        <p:nvSpPr>
          <p:cNvPr id="27" name="Text 24"/>
          <p:cNvSpPr/>
          <p:nvPr/>
        </p:nvSpPr>
        <p:spPr>
          <a:xfrm>
            <a:off x="826008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人工协助另有执行与费用范围</a:t>
            </a:r>
            <a:endParaRPr lang="zh-CN" sz="1850" dirty="0"/>
          </a:p>
        </p:txBody>
      </p:sp>
      <p:sp>
        <p:nvSpPr>
          <p:cNvPr id="28" name="Shape 25"/>
          <p:cNvSpPr/>
          <p:nvPr/>
        </p:nvSpPr>
        <p:spPr>
          <a:xfrm>
            <a:off x="826008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6008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联系人背后的执行者怎样追踪？</a:t>
            </a:r>
            <a:endParaRPr lang="zh-CN" sz="1650" dirty="0"/>
          </a:p>
        </p:txBody>
      </p:sp>
      <p:sp>
        <p:nvSpPr>
          <p:cNvPr id="30" name="Shape 2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我的启发：用户、代理、连接账号和执行者分别建模。</a:t>
            </a:r>
            <a:endParaRPr lang="zh-C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与 Autopilot：生态上下文进入委托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Gemini Spark / Ta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Spark / Task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opilot Autopil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Copilot Autopilot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个人应用生态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当前入口与名称按帮助记录</a:t>
            </a:r>
            <a:endParaRPr lang="zh-CN" sz="195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个人上下文、计划与多条执行路径</a:t>
            </a:r>
            <a:endParaRPr lang="zh-CN" sz="195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来源更新与动作确认分别核验</a:t>
            </a:r>
            <a:endParaRPr lang="zh-CN" sz="1950" dirty="0"/>
          </a:p>
        </p:txBody>
      </p:sp>
      <p:sp>
        <p:nvSpPr>
          <p:cNvPr id="15" name="Shape 12"/>
          <p:cNvSpPr/>
          <p:nvPr/>
        </p:nvSpPr>
        <p:spPr>
          <a:xfrm>
            <a:off x="73152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应用里的新事实怎样进入下一轮？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619506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794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组织中的个人代理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637794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2600" dirty="0"/>
          </a:p>
        </p:txBody>
      </p:sp>
      <p:sp>
        <p:nvSpPr>
          <p:cNvPr id="20" name="Text 17"/>
          <p:cNvSpPr/>
          <p:nvPr/>
        </p:nvSpPr>
        <p:spPr>
          <a:xfrm>
            <a:off x="637794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云托管公告与独立身份</a:t>
            </a:r>
            <a:endParaRPr lang="zh-CN" sz="1950" dirty="0"/>
          </a:p>
        </p:txBody>
      </p:sp>
      <p:sp>
        <p:nvSpPr>
          <p:cNvPr id="21" name="Text 18"/>
          <p:cNvSpPr/>
          <p:nvPr/>
        </p:nvSpPr>
        <p:spPr>
          <a:xfrm>
            <a:off x="637794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Private Preview，未做账号实测</a:t>
            </a:r>
            <a:endParaRPr lang="zh-CN" sz="1950" dirty="0"/>
          </a:p>
        </p:txBody>
      </p:sp>
      <p:sp>
        <p:nvSpPr>
          <p:cNvPr id="22" name="Text 19"/>
          <p:cNvSpPr/>
          <p:nvPr/>
        </p:nvSpPr>
        <p:spPr>
          <a:xfrm>
            <a:off x="637794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旧 Scout 桌面机制分期保留</a:t>
            </a:r>
            <a:endParaRPr lang="zh-CN" sz="1950" dirty="0"/>
          </a:p>
        </p:txBody>
      </p:sp>
      <p:sp>
        <p:nvSpPr>
          <p:cNvPr id="23" name="Shape 20"/>
          <p:cNvSpPr/>
          <p:nvPr/>
        </p:nvSpPr>
        <p:spPr>
          <a:xfrm>
            <a:off x="637794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794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组织资源最终由哪个主体访问？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我的启发：生态接入减少搬运，权限与来源仍需沿动作核对。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知识工作代理：把文档交付做成持续工作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Cowork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Personal Compu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Personal Computer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统一任务入口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Projects、记忆与连接器</a:t>
            </a:r>
            <a:endParaRPr lang="zh-CN" sz="1850" dirty="0"/>
          </a:p>
        </p:txBody>
      </p:sp>
      <p:sp>
        <p:nvSpPr>
          <p:cNvPr id="13" name="Text 10"/>
          <p:cNvSpPr/>
          <p:nvPr/>
        </p:nvSpPr>
        <p:spPr>
          <a:xfrm>
            <a:off x="73152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云端任务和桌面资源桥接</a:t>
            </a:r>
            <a:endParaRPr lang="zh-CN" sz="1850" dirty="0"/>
          </a:p>
        </p:txBody>
      </p:sp>
      <p:sp>
        <p:nvSpPr>
          <p:cNvPr id="14" name="Shape 11"/>
          <p:cNvSpPr/>
          <p:nvPr/>
        </p:nvSpPr>
        <p:spPr>
          <a:xfrm>
            <a:off x="73152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断线后哪类工作还能推进？</a:t>
            </a:r>
            <a:endParaRPr lang="zh-CN" sz="1650" dirty="0"/>
          </a:p>
        </p:txBody>
      </p:sp>
      <p:sp>
        <p:nvSpPr>
          <p:cNvPr id="16" name="Shape 13"/>
          <p:cNvSpPr/>
          <p:nvPr/>
        </p:nvSpPr>
        <p:spPr>
          <a:xfrm>
            <a:off x="431292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9580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个人环境参与</a:t>
            </a:r>
            <a:endParaRPr lang="zh-CN" sz="1100" dirty="0"/>
          </a:p>
        </p:txBody>
      </p:sp>
      <p:sp>
        <p:nvSpPr>
          <p:cNvPr id="18" name="Text 15"/>
          <p:cNvSpPr/>
          <p:nvPr/>
        </p:nvSpPr>
        <p:spPr>
          <a:xfrm>
            <a:off x="449580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2600" dirty="0"/>
          </a:p>
        </p:txBody>
      </p:sp>
      <p:sp>
        <p:nvSpPr>
          <p:cNvPr id="19" name="Text 16"/>
          <p:cNvSpPr/>
          <p:nvPr/>
        </p:nvSpPr>
        <p:spPr>
          <a:xfrm>
            <a:off x="449580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Brain 与周期工作</a:t>
            </a:r>
            <a:endParaRPr lang="zh-CN" sz="1850" dirty="0"/>
          </a:p>
        </p:txBody>
      </p:sp>
      <p:sp>
        <p:nvSpPr>
          <p:cNvPr id="20" name="Text 17"/>
          <p:cNvSpPr/>
          <p:nvPr/>
        </p:nvSpPr>
        <p:spPr>
          <a:xfrm>
            <a:off x="449580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 / 混合执行各有条件</a:t>
            </a:r>
            <a:endParaRPr lang="zh-CN" sz="1850" dirty="0"/>
          </a:p>
        </p:txBody>
      </p:sp>
      <p:sp>
        <p:nvSpPr>
          <p:cNvPr id="21" name="Shape 18"/>
          <p:cNvSpPr/>
          <p:nvPr/>
        </p:nvSpPr>
        <p:spPr>
          <a:xfrm>
            <a:off x="449580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580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模型、数据、动作分别在哪？</a:t>
            </a:r>
            <a:endParaRPr lang="zh-CN" sz="1650" dirty="0"/>
          </a:p>
        </p:txBody>
      </p:sp>
      <p:sp>
        <p:nvSpPr>
          <p:cNvPr id="23" name="Shape 20"/>
          <p:cNvSpPr/>
          <p:nvPr/>
        </p:nvSpPr>
        <p:spPr>
          <a:xfrm>
            <a:off x="807720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个人办公与项目</a:t>
            </a:r>
            <a:endParaRPr lang="zh-CN" sz="1100" dirty="0"/>
          </a:p>
        </p:txBody>
      </p:sp>
      <p:sp>
        <p:nvSpPr>
          <p:cNvPr id="25" name="Text 22"/>
          <p:cNvSpPr/>
          <p:nvPr/>
        </p:nvSpPr>
        <p:spPr>
          <a:xfrm>
            <a:off x="826008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2600" dirty="0"/>
          </a:p>
        </p:txBody>
      </p:sp>
      <p:sp>
        <p:nvSpPr>
          <p:cNvPr id="26" name="Text 23"/>
          <p:cNvSpPr/>
          <p:nvPr/>
        </p:nvSpPr>
        <p:spPr>
          <a:xfrm>
            <a:off x="826008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桌面、手机入口与云端作业</a:t>
            </a:r>
            <a:endParaRPr lang="zh-CN" sz="1850" dirty="0"/>
          </a:p>
        </p:txBody>
      </p:sp>
      <p:sp>
        <p:nvSpPr>
          <p:cNvPr id="27" name="Text 24"/>
          <p:cNvSpPr/>
          <p:nvPr/>
        </p:nvSpPr>
        <p:spPr>
          <a:xfrm>
            <a:off x="826008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客户端和企业版本分别核验</a:t>
            </a:r>
            <a:endParaRPr lang="zh-CN" sz="1850" dirty="0"/>
          </a:p>
        </p:txBody>
      </p:sp>
      <p:sp>
        <p:nvSpPr>
          <p:cNvPr id="28" name="Shape 25"/>
          <p:cNvSpPr/>
          <p:nvPr/>
        </p:nvSpPr>
        <p:spPr>
          <a:xfrm>
            <a:off x="826008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6008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远程控制本机还是云端执行？</a:t>
            </a:r>
            <a:endParaRPr lang="zh-CN" sz="1650" dirty="0"/>
          </a:p>
        </p:txBody>
      </p:sp>
      <p:sp>
        <p:nvSpPr>
          <p:cNvPr id="30" name="Shape 2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我的启发：交付质量与运行路径一起验收。</a:t>
            </a:r>
            <a:endParaRPr lang="zh-CN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开源与产品化：运行责任怎样分配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Open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OpenClaw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Kimi 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Kimi Claw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个人自建运行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Gateway / Node 与自动化</a:t>
            </a:r>
            <a:endParaRPr lang="zh-CN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谁负责宿主和恢复？</a:t>
            </a:r>
            <a:endParaRPr lang="zh-CN" sz="1550" dirty="0"/>
          </a:p>
        </p:txBody>
      </p:sp>
      <p:sp>
        <p:nvSpPr>
          <p:cNvPr id="15" name="Shape 12"/>
          <p:cNvSpPr/>
          <p:nvPr/>
        </p:nvSpPr>
        <p:spPr>
          <a:xfrm>
            <a:off x="337185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473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记忆与经验技能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355473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2200" dirty="0"/>
          </a:p>
        </p:txBody>
      </p:sp>
      <p:sp>
        <p:nvSpPr>
          <p:cNvPr id="18" name="Text 15"/>
          <p:cNvSpPr/>
          <p:nvPr/>
        </p:nvSpPr>
        <p:spPr>
          <a:xfrm>
            <a:off x="355473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Profile / Bot、Goal、Cron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355473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5473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状态在什么范围生效？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619506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794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开源底座产品化</a:t>
            </a:r>
            <a:endParaRPr lang="zh-CN" sz="1100" dirty="0"/>
          </a:p>
        </p:txBody>
      </p:sp>
      <p:sp>
        <p:nvSpPr>
          <p:cNvPr id="23" name="Text 20"/>
          <p:cNvSpPr/>
          <p:nvPr/>
        </p:nvSpPr>
        <p:spPr>
          <a:xfrm>
            <a:off x="637794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2200" dirty="0"/>
          </a:p>
        </p:txBody>
      </p:sp>
      <p:sp>
        <p:nvSpPr>
          <p:cNvPr id="24" name="Text 21"/>
          <p:cNvSpPr/>
          <p:nvPr/>
        </p:nvSpPr>
        <p:spPr>
          <a:xfrm>
            <a:off x="637794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托管、设备、会员与适配</a:t>
            </a:r>
            <a:endParaRPr lang="zh-CN" sz="1700" dirty="0"/>
          </a:p>
        </p:txBody>
      </p:sp>
      <p:sp>
        <p:nvSpPr>
          <p:cNvPr id="25" name="Shape 22"/>
          <p:cNvSpPr/>
          <p:nvPr/>
        </p:nvSpPr>
        <p:spPr>
          <a:xfrm>
            <a:off x="637794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7794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版本与升级由谁维护？</a:t>
            </a:r>
            <a:endParaRPr lang="zh-CN" sz="1550" dirty="0"/>
          </a:p>
        </p:txBody>
      </p:sp>
      <p:sp>
        <p:nvSpPr>
          <p:cNvPr id="27" name="Shape 24"/>
          <p:cNvSpPr/>
          <p:nvPr/>
        </p:nvSpPr>
        <p:spPr>
          <a:xfrm>
            <a:off x="901827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0115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工作助手与可组合底座</a:t>
            </a:r>
            <a:endParaRPr lang="zh-CN" sz="1100" dirty="0"/>
          </a:p>
        </p:txBody>
      </p:sp>
      <p:sp>
        <p:nvSpPr>
          <p:cNvPr id="29" name="Text 26"/>
          <p:cNvSpPr/>
          <p:nvPr/>
        </p:nvSpPr>
        <p:spPr>
          <a:xfrm>
            <a:off x="920115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2200" dirty="0"/>
          </a:p>
        </p:txBody>
      </p:sp>
      <p:sp>
        <p:nvSpPr>
          <p:cNvPr id="30" name="Text 27"/>
          <p:cNvSpPr/>
          <p:nvPr/>
        </p:nvSpPr>
        <p:spPr>
          <a:xfrm>
            <a:off x="920115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插件、Session、调度、Goal</a:t>
            </a:r>
            <a:endParaRPr lang="zh-CN" sz="1700" dirty="0"/>
          </a:p>
        </p:txBody>
      </p:sp>
      <p:sp>
        <p:nvSpPr>
          <p:cNvPr id="31" name="Shape 28"/>
          <p:cNvSpPr/>
          <p:nvPr/>
        </p:nvSpPr>
        <p:spPr>
          <a:xfrm>
            <a:off x="920115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0115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Profile 实际装了什么？</a:t>
            </a:r>
            <a:endParaRPr lang="zh-CN" sz="1550" dirty="0"/>
          </a:p>
        </p:txBody>
      </p:sp>
      <p:sp>
        <p:nvSpPr>
          <p:cNvPr id="33" name="Shape 30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我的启发：运行形态改变的是责任分配，也影响状态和成本。</a:t>
            </a:r>
            <a:endParaRPr lang="zh-CN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我用五类对象串起这些产品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722376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zh-CN" sz="2800" dirty="0"/>
          </a:p>
        </p:txBody>
      </p:sp>
      <p:sp>
        <p:nvSpPr>
          <p:cNvPr id="12" name="Text 9"/>
          <p:cNvSpPr/>
          <p:nvPr/>
        </p:nvSpPr>
        <p:spPr>
          <a:xfrm>
            <a:off x="722376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谁在委托、代表谁执行</a:t>
            </a:r>
            <a:endParaRPr lang="zh-CN" sz="1650" dirty="0"/>
          </a:p>
        </p:txBody>
      </p:sp>
      <p:sp>
        <p:nvSpPr>
          <p:cNvPr id="13" name="Shape 10"/>
          <p:cNvSpPr/>
          <p:nvPr/>
        </p:nvSpPr>
        <p:spPr>
          <a:xfrm>
            <a:off x="2809037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4485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2000" dirty="0"/>
          </a:p>
        </p:txBody>
      </p:sp>
      <p:sp>
        <p:nvSpPr>
          <p:cNvPr id="15" name="Text 12"/>
          <p:cNvSpPr/>
          <p:nvPr/>
        </p:nvSpPr>
        <p:spPr>
          <a:xfrm>
            <a:off x="2964485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zh-CN" sz="2800" dirty="0"/>
          </a:p>
        </p:txBody>
      </p:sp>
      <p:sp>
        <p:nvSpPr>
          <p:cNvPr id="16" name="Text 13"/>
          <p:cNvSpPr/>
          <p:nvPr/>
        </p:nvSpPr>
        <p:spPr>
          <a:xfrm>
            <a:off x="2964485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长期要达到什么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5051146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06594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2000" dirty="0"/>
          </a:p>
        </p:txBody>
      </p:sp>
      <p:sp>
        <p:nvSpPr>
          <p:cNvPr id="19" name="Text 16"/>
          <p:cNvSpPr/>
          <p:nvPr/>
        </p:nvSpPr>
        <p:spPr>
          <a:xfrm>
            <a:off x="5206594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zh-CN" sz="2800" dirty="0"/>
          </a:p>
        </p:txBody>
      </p:sp>
      <p:sp>
        <p:nvSpPr>
          <p:cNvPr id="20" name="Text 17"/>
          <p:cNvSpPr/>
          <p:nvPr/>
        </p:nvSpPr>
        <p:spPr>
          <a:xfrm>
            <a:off x="5206594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什么时候开始或再做</a:t>
            </a:r>
            <a:endParaRPr lang="zh-CN" sz="1650" dirty="0"/>
          </a:p>
        </p:txBody>
      </p:sp>
      <p:sp>
        <p:nvSpPr>
          <p:cNvPr id="21" name="Shape 18"/>
          <p:cNvSpPr/>
          <p:nvPr/>
        </p:nvSpPr>
        <p:spPr>
          <a:xfrm>
            <a:off x="7293254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48702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2000" dirty="0"/>
          </a:p>
        </p:txBody>
      </p:sp>
      <p:sp>
        <p:nvSpPr>
          <p:cNvPr id="23" name="Text 20"/>
          <p:cNvSpPr/>
          <p:nvPr/>
        </p:nvSpPr>
        <p:spPr>
          <a:xfrm>
            <a:off x="7448702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zh-CN" sz="2800" dirty="0"/>
          </a:p>
        </p:txBody>
      </p:sp>
      <p:sp>
        <p:nvSpPr>
          <p:cNvPr id="24" name="Text 21"/>
          <p:cNvSpPr/>
          <p:nvPr/>
        </p:nvSpPr>
        <p:spPr>
          <a:xfrm>
            <a:off x="7448702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这一轮进行到哪一步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9535363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0811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2000" dirty="0"/>
          </a:p>
        </p:txBody>
      </p:sp>
      <p:sp>
        <p:nvSpPr>
          <p:cNvPr id="27" name="Text 24"/>
          <p:cNvSpPr/>
          <p:nvPr/>
        </p:nvSpPr>
        <p:spPr>
          <a:xfrm>
            <a:off x="9690811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</a:t>
            </a:r>
            <a:endParaRPr lang="zh-CN" sz="2800" dirty="0"/>
          </a:p>
        </p:txBody>
      </p:sp>
      <p:sp>
        <p:nvSpPr>
          <p:cNvPr id="28" name="Text 25"/>
          <p:cNvSpPr/>
          <p:nvPr/>
        </p:nvSpPr>
        <p:spPr>
          <a:xfrm>
            <a:off x="9690811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现实中完成了什么</a:t>
            </a:r>
            <a:endParaRPr lang="zh-CN" sz="1650" dirty="0"/>
          </a:p>
        </p:txBody>
      </p:sp>
      <p:sp>
        <p:nvSpPr>
          <p:cNvPr id="29" name="Shape 2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我的参考模型 · 用于比较与平台设计，非厂商内部对象图。</a:t>
            </a:r>
            <a:endParaRPr lang="zh-C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长期个人代理的一张参考架构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960120" cy="3584448"/>
          </a:xfrm>
          <a:prstGeom prst="rect">
            <a:avLst>
              <a:gd name="adj" fmla="val 11429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80192" y="1847088"/>
            <a:ext cx="960120" cy="3584448"/>
          </a:xfrm>
          <a:prstGeom prst="rect">
            <a:avLst>
              <a:gd name="adj" fmla="val 11429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26060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 限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 证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 销</a:t>
            </a:r>
            <a:endParaRPr lang="zh-CN" sz="1900" dirty="0"/>
          </a:p>
        </p:txBody>
      </p:sp>
      <p:sp>
        <p:nvSpPr>
          <p:cNvPr id="12" name="Text 9"/>
          <p:cNvSpPr/>
          <p:nvPr/>
        </p:nvSpPr>
        <p:spPr>
          <a:xfrm>
            <a:off x="10835640" y="26060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 件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物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 本</a:t>
            </a:r>
            <a:endParaRPr lang="zh-CN" sz="1900" dirty="0"/>
          </a:p>
        </p:txBody>
      </p:sp>
      <p:sp>
        <p:nvSpPr>
          <p:cNvPr id="13" name="Shape 10"/>
          <p:cNvSpPr/>
          <p:nvPr/>
        </p:nvSpPr>
        <p:spPr>
          <a:xfrm>
            <a:off x="1719072" y="1847088"/>
            <a:ext cx="8741664" cy="786384"/>
          </a:xfrm>
          <a:prstGeom prst="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01952" y="19933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交互入口</a:t>
            </a:r>
            <a:endParaRPr lang="zh-CN" sz="2000" dirty="0"/>
          </a:p>
        </p:txBody>
      </p:sp>
      <p:sp>
        <p:nvSpPr>
          <p:cNvPr id="15" name="Text 12"/>
          <p:cNvSpPr/>
          <p:nvPr/>
        </p:nvSpPr>
        <p:spPr>
          <a:xfrm>
            <a:off x="3291840" y="1947672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/ Web / 语音 / 设备</a:t>
            </a:r>
            <a:endParaRPr lang="zh-CN" sz="1900" dirty="0"/>
          </a:p>
        </p:txBody>
      </p:sp>
      <p:sp>
        <p:nvSpPr>
          <p:cNvPr id="16" name="Text 13"/>
          <p:cNvSpPr/>
          <p:nvPr/>
        </p:nvSpPr>
        <p:spPr>
          <a:xfrm>
            <a:off x="3291840" y="2304288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意图输入与状态反馈</a:t>
            </a:r>
            <a:endParaRPr lang="zh-CN" sz="1300" dirty="0"/>
          </a:p>
        </p:txBody>
      </p:sp>
      <p:sp>
        <p:nvSpPr>
          <p:cNvPr id="17" name="Shape 14"/>
          <p:cNvSpPr/>
          <p:nvPr/>
        </p:nvSpPr>
        <p:spPr>
          <a:xfrm>
            <a:off x="6089904" y="2651760"/>
            <a:ext cx="0" cy="109728"/>
          </a:xfrm>
          <a:prstGeom prst="line">
            <a:avLst/>
          </a:prstGeom>
          <a:noFill/>
          <a:ln w="1270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719072" y="2779776"/>
            <a:ext cx="8741664" cy="786384"/>
          </a:xfrm>
          <a:prstGeom prst="rect">
            <a:avLst>
              <a:gd name="adj" fmla="val 139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01952" y="29260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持续控制</a:t>
            </a:r>
            <a:endParaRPr lang="zh-CN" sz="2000" dirty="0"/>
          </a:p>
        </p:txBody>
      </p:sp>
      <p:sp>
        <p:nvSpPr>
          <p:cNvPr id="20" name="Text 17"/>
          <p:cNvSpPr/>
          <p:nvPr/>
        </p:nvSpPr>
        <p:spPr>
          <a:xfrm>
            <a:off x="3291840" y="2880360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· 上下文 · 目标 · 计划 · 任务</a:t>
            </a:r>
            <a:endParaRPr lang="zh-CN" sz="1900" dirty="0"/>
          </a:p>
        </p:txBody>
      </p:sp>
      <p:sp>
        <p:nvSpPr>
          <p:cNvPr id="21" name="Text 18"/>
          <p:cNvSpPr/>
          <p:nvPr/>
        </p:nvSpPr>
        <p:spPr>
          <a:xfrm>
            <a:off x="3291840" y="3236976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保存跨会话、跨运行的关系</a:t>
            </a:r>
            <a:endParaRPr lang="zh-CN" sz="1300" dirty="0"/>
          </a:p>
        </p:txBody>
      </p:sp>
      <p:sp>
        <p:nvSpPr>
          <p:cNvPr id="22" name="Shape 19"/>
          <p:cNvSpPr/>
          <p:nvPr/>
        </p:nvSpPr>
        <p:spPr>
          <a:xfrm>
            <a:off x="6089904" y="3584448"/>
            <a:ext cx="0" cy="109728"/>
          </a:xfrm>
          <a:prstGeom prst="line">
            <a:avLst/>
          </a:prstGeom>
          <a:noFill/>
          <a:ln w="1270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719072" y="3712464"/>
            <a:ext cx="8741664" cy="786384"/>
          </a:xfrm>
          <a:prstGeom prst="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01952" y="38587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单次执行</a:t>
            </a:r>
            <a:endParaRPr lang="zh-CN" sz="2000" dirty="0"/>
          </a:p>
        </p:txBody>
      </p:sp>
      <p:sp>
        <p:nvSpPr>
          <p:cNvPr id="25" name="Text 22"/>
          <p:cNvSpPr/>
          <p:nvPr/>
        </p:nvSpPr>
        <p:spPr>
          <a:xfrm>
            <a:off x="3291840" y="3813048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上下文构建 → 模型 → 工具 → 检查</a:t>
            </a:r>
            <a:endParaRPr lang="zh-CN" sz="1900" dirty="0"/>
          </a:p>
        </p:txBody>
      </p:sp>
      <p:sp>
        <p:nvSpPr>
          <p:cNvPr id="26" name="Text 23"/>
          <p:cNvSpPr/>
          <p:nvPr/>
        </p:nvSpPr>
        <p:spPr>
          <a:xfrm>
            <a:off x="3291840" y="4169664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执行、等待、恢复与交付</a:t>
            </a:r>
            <a:endParaRPr lang="zh-CN" sz="1300" dirty="0"/>
          </a:p>
        </p:txBody>
      </p:sp>
      <p:sp>
        <p:nvSpPr>
          <p:cNvPr id="27" name="Shape 24"/>
          <p:cNvSpPr/>
          <p:nvPr/>
        </p:nvSpPr>
        <p:spPr>
          <a:xfrm>
            <a:off x="6089904" y="4517136"/>
            <a:ext cx="0" cy="109728"/>
          </a:xfrm>
          <a:prstGeom prst="line">
            <a:avLst/>
          </a:prstGeom>
          <a:noFill/>
          <a:ln w="1270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719072" y="4645152"/>
            <a:ext cx="8741664" cy="786384"/>
          </a:xfrm>
          <a:prstGeom prst="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01952" y="479145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资源与动作</a:t>
            </a:r>
            <a:endParaRPr lang="zh-CN" sz="2000" dirty="0"/>
          </a:p>
        </p:txBody>
      </p:sp>
      <p:sp>
        <p:nvSpPr>
          <p:cNvPr id="30" name="Text 27"/>
          <p:cNvSpPr/>
          <p:nvPr/>
        </p:nvSpPr>
        <p:spPr>
          <a:xfrm>
            <a:off x="3291840" y="4745736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云端电脑 / 本机 / API / 外部服务</a:t>
            </a:r>
            <a:endParaRPr lang="zh-CN" sz="1900" dirty="0"/>
          </a:p>
        </p:txBody>
      </p:sp>
      <p:sp>
        <p:nvSpPr>
          <p:cNvPr id="31" name="Text 28"/>
          <p:cNvSpPr/>
          <p:nvPr/>
        </p:nvSpPr>
        <p:spPr>
          <a:xfrm>
            <a:off x="3291840" y="5102352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真实文件、账号和业务副作用</a:t>
            </a:r>
            <a:endParaRPr lang="zh-CN" sz="1300" dirty="0"/>
          </a:p>
        </p:txBody>
      </p:sp>
      <p:sp>
        <p:nvSpPr>
          <p:cNvPr id="32" name="Shape 29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我的参考架构 · 不是任一产品的内部部署图。</a:t>
            </a:r>
            <a:endParaRPr lang="zh-CN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一项委托跨越多个运行实例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Mu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29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</a:t>
            </a:r>
            <a:endParaRPr lang="zh-CN" sz="1800" dirty="0"/>
          </a:p>
        </p:txBody>
      </p:sp>
      <p:sp>
        <p:nvSpPr>
          <p:cNvPr id="10" name="Shape 7"/>
          <p:cNvSpPr/>
          <p:nvPr/>
        </p:nvSpPr>
        <p:spPr>
          <a:xfrm>
            <a:off x="2139696" y="2221992"/>
            <a:ext cx="9381744" cy="0"/>
          </a:xfrm>
          <a:prstGeom prst="line">
            <a:avLst/>
          </a:prstGeom>
          <a:noFill/>
          <a:ln w="25400">
            <a:solidFill>
              <a:srgbClr val="D8DF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/ 触发</a:t>
            </a:r>
            <a:endParaRPr lang="zh-CN" sz="1800" dirty="0"/>
          </a:p>
        </p:txBody>
      </p:sp>
      <p:sp>
        <p:nvSpPr>
          <p:cNvPr id="12" name="Shape 9"/>
          <p:cNvSpPr/>
          <p:nvPr/>
        </p:nvSpPr>
        <p:spPr>
          <a:xfrm>
            <a:off x="2139696" y="3218688"/>
            <a:ext cx="9381744" cy="0"/>
          </a:xfrm>
          <a:prstGeom prst="line">
            <a:avLst/>
          </a:prstGeom>
          <a:noFill/>
          <a:ln w="25400">
            <a:solidFill>
              <a:srgbClr val="D8DF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187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单次运行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2139696" y="4370832"/>
            <a:ext cx="9381744" cy="0"/>
          </a:xfrm>
          <a:prstGeom prst="line">
            <a:avLst/>
          </a:prstGeom>
          <a:noFill/>
          <a:ln w="25400">
            <a:solidFill>
              <a:srgbClr val="D8DF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49424" y="1993392"/>
            <a:ext cx="8988552" cy="438912"/>
          </a:xfrm>
          <a:prstGeom prst="rect">
            <a:avLst>
              <a:gd name="adj" fmla="val 25000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23160" y="206654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持续跟踪产品，并维护学习笔记</a:t>
            </a:r>
            <a:endParaRPr lang="zh-CN" sz="1600" dirty="0"/>
          </a:p>
        </p:txBody>
      </p:sp>
      <p:sp>
        <p:nvSpPr>
          <p:cNvPr id="17" name="Shape 14"/>
          <p:cNvSpPr/>
          <p:nvPr/>
        </p:nvSpPr>
        <p:spPr>
          <a:xfrm>
            <a:off x="2537460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A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5253228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18888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B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8407908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3568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C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10666476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32136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停止计划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2295144" y="4050792"/>
            <a:ext cx="1280160" cy="822960"/>
          </a:xfrm>
          <a:prstGeom prst="rect">
            <a:avLst>
              <a:gd name="adj" fmla="val 1333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86584" y="4151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1</a:t>
            </a:r>
            <a:endParaRPr lang="zh-CN" sz="1500" dirty="0"/>
          </a:p>
        </p:txBody>
      </p:sp>
      <p:sp>
        <p:nvSpPr>
          <p:cNvPr id="27" name="Text 24"/>
          <p:cNvSpPr/>
          <p:nvPr/>
        </p:nvSpPr>
        <p:spPr>
          <a:xfrm>
            <a:off x="2386584" y="453542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zh-CN" sz="1200" dirty="0"/>
          </a:p>
        </p:txBody>
      </p:sp>
      <p:sp>
        <p:nvSpPr>
          <p:cNvPr id="28" name="Shape 25"/>
          <p:cNvSpPr/>
          <p:nvPr/>
        </p:nvSpPr>
        <p:spPr>
          <a:xfrm>
            <a:off x="4700016" y="4050792"/>
            <a:ext cx="1371600" cy="822960"/>
          </a:xfrm>
          <a:prstGeom prst="rect">
            <a:avLst>
              <a:gd name="adj" fmla="val 13333"/>
            </a:avLst>
          </a:prstGeom>
          <a:solidFill>
            <a:srgbClr val="F7EAD7"/>
          </a:solidFill>
          <a:ln w="7620">
            <a:solidFill>
              <a:srgbClr val="F7EA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91456" y="41513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2</a:t>
            </a:r>
            <a:endParaRPr lang="zh-CN" sz="1500" dirty="0"/>
          </a:p>
        </p:txBody>
      </p:sp>
      <p:sp>
        <p:nvSpPr>
          <p:cNvPr id="30" name="Text 27"/>
          <p:cNvSpPr/>
          <p:nvPr/>
        </p:nvSpPr>
        <p:spPr>
          <a:xfrm>
            <a:off x="4791456" y="453542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</a:t>
            </a:r>
            <a:endParaRPr lang="zh-CN" sz="1200" dirty="0"/>
          </a:p>
        </p:txBody>
      </p:sp>
      <p:sp>
        <p:nvSpPr>
          <p:cNvPr id="31" name="Shape 28"/>
          <p:cNvSpPr/>
          <p:nvPr/>
        </p:nvSpPr>
        <p:spPr>
          <a:xfrm>
            <a:off x="6464808" y="4050792"/>
            <a:ext cx="1554480" cy="822960"/>
          </a:xfrm>
          <a:prstGeom prst="rect">
            <a:avLst>
              <a:gd name="adj" fmla="val 13333"/>
            </a:avLst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56248" y="4151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恢复运行</a:t>
            </a:r>
            <a:endParaRPr lang="zh-CN" sz="1500" dirty="0"/>
          </a:p>
        </p:txBody>
      </p:sp>
      <p:sp>
        <p:nvSpPr>
          <p:cNvPr id="33" name="Text 30"/>
          <p:cNvSpPr/>
          <p:nvPr/>
        </p:nvSpPr>
        <p:spPr>
          <a:xfrm>
            <a:off x="6556248" y="45354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检查回执</a:t>
            </a:r>
            <a:endParaRPr lang="zh-CN" sz="1200" dirty="0"/>
          </a:p>
        </p:txBody>
      </p:sp>
      <p:sp>
        <p:nvSpPr>
          <p:cNvPr id="34" name="Shape 31"/>
          <p:cNvSpPr/>
          <p:nvPr/>
        </p:nvSpPr>
        <p:spPr>
          <a:xfrm>
            <a:off x="8567928" y="4050792"/>
            <a:ext cx="1508760" cy="822960"/>
          </a:xfrm>
          <a:prstGeom prst="rect">
            <a:avLst>
              <a:gd name="adj" fmla="val 1333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59368" y="41513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3</a:t>
            </a:r>
            <a:endParaRPr lang="zh-CN" sz="1500" dirty="0"/>
          </a:p>
        </p:txBody>
      </p:sp>
      <p:sp>
        <p:nvSpPr>
          <p:cNvPr id="36" name="Text 33"/>
          <p:cNvSpPr/>
          <p:nvPr/>
        </p:nvSpPr>
        <p:spPr>
          <a:xfrm>
            <a:off x="8659368" y="453542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等待审批</a:t>
            </a:r>
            <a:endParaRPr lang="zh-CN" sz="1200" dirty="0"/>
          </a:p>
        </p:txBody>
      </p:sp>
      <p:sp>
        <p:nvSpPr>
          <p:cNvPr id="37" name="Shape 34"/>
          <p:cNvSpPr/>
          <p:nvPr/>
        </p:nvSpPr>
        <p:spPr>
          <a:xfrm>
            <a:off x="6126480" y="4462272"/>
            <a:ext cx="292608" cy="0"/>
          </a:xfrm>
          <a:prstGeom prst="line">
            <a:avLst/>
          </a:prstGeom>
          <a:noFill/>
          <a:ln w="19050">
            <a:solidFill>
              <a:srgbClr val="BA691F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713232" y="5166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BA6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故障点：外部写入已成功，结果尚未记入状态。</a:t>
            </a:r>
            <a:endParaRPr lang="zh-CN" sz="1700" dirty="0"/>
          </a:p>
        </p:txBody>
      </p:sp>
      <p:sp>
        <p:nvSpPr>
          <p:cNvPr id="39" name="Shape 3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恢复要回答：从哪里继续、哪些动作已发生、还缺什么证据。</a:t>
            </a:r>
            <a:endParaRPr lang="zh-C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目标、计划与运行分别停止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达到什么结果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49808" y="3035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/ 暂停 / 改变范围</a:t>
            </a:r>
            <a:endParaRPr lang="zh-CN" sz="1650" dirty="0"/>
          </a:p>
        </p:txBody>
      </p:sp>
      <p:sp>
        <p:nvSpPr>
          <p:cNvPr id="13" name="Shape 10"/>
          <p:cNvSpPr/>
          <p:nvPr/>
        </p:nvSpPr>
        <p:spPr>
          <a:xfrm>
            <a:off x="6199632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zh-CN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何时发起下一轮</a:t>
            </a:r>
            <a:endParaRPr lang="zh-CN" sz="2300" dirty="0"/>
          </a:p>
        </p:txBody>
      </p:sp>
      <p:sp>
        <p:nvSpPr>
          <p:cNvPr id="16" name="Text 13"/>
          <p:cNvSpPr/>
          <p:nvPr/>
        </p:nvSpPr>
        <p:spPr>
          <a:xfrm>
            <a:off x="6400800" y="3035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暂停未来触发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548640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877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这一轮实际执行</a:t>
            </a:r>
            <a:endParaRPr lang="zh-CN" sz="2300" dirty="0"/>
          </a:p>
        </p:txBody>
      </p:sp>
      <p:sp>
        <p:nvSpPr>
          <p:cNvPr id="20" name="Text 17"/>
          <p:cNvSpPr/>
          <p:nvPr/>
        </p:nvSpPr>
        <p:spPr>
          <a:xfrm>
            <a:off x="74980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 / 等待 / 恢复</a:t>
            </a:r>
            <a:endParaRPr lang="zh-CN" sz="1650" dirty="0"/>
          </a:p>
        </p:txBody>
      </p:sp>
      <p:sp>
        <p:nvSpPr>
          <p:cNvPr id="21" name="Shape 18"/>
          <p:cNvSpPr/>
          <p:nvPr/>
        </p:nvSpPr>
        <p:spPr>
          <a:xfrm>
            <a:off x="6199632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877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zh-CN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还允许做哪些动作</a:t>
            </a:r>
            <a:endParaRPr lang="zh-CN" sz="2300" dirty="0"/>
          </a:p>
        </p:txBody>
      </p:sp>
      <p:sp>
        <p:nvSpPr>
          <p:cNvPr id="24" name="Text 21"/>
          <p:cNvSpPr/>
          <p:nvPr/>
        </p:nvSpPr>
        <p:spPr>
          <a:xfrm>
            <a:off x="6400800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/ 到期 / 缩小范围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产品阅读线索：Hermes Goal / Cron · WorkBuddy 排程 · Harness Host Schedule。</a:t>
            </a:r>
            <a:endParaRPr lang="zh-CN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记忆需要沿写入、更新、使用检查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/ 文件 / 应用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2590495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23667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88259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2988259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2988259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偏好 / 方法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4847234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080406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44998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5244998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5244998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来源、范围与版本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7103974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37146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1738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7501738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7501738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相关性、时效与预算</a:t>
            </a:r>
            <a:endParaRPr lang="zh-CN" sz="1550" dirty="0"/>
          </a:p>
        </p:txBody>
      </p:sp>
      <p:sp>
        <p:nvSpPr>
          <p:cNvPr id="28" name="Shape 25"/>
          <p:cNvSpPr/>
          <p:nvPr/>
        </p:nvSpPr>
        <p:spPr>
          <a:xfrm>
            <a:off x="9360713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593885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8477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100" dirty="0"/>
          </a:p>
        </p:txBody>
      </p:sp>
      <p:sp>
        <p:nvSpPr>
          <p:cNvPr id="31" name="Text 28"/>
          <p:cNvSpPr/>
          <p:nvPr/>
        </p:nvSpPr>
        <p:spPr>
          <a:xfrm>
            <a:off x="9758477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zh-CN" sz="2100" dirty="0"/>
          </a:p>
        </p:txBody>
      </p:sp>
      <p:sp>
        <p:nvSpPr>
          <p:cNvPr id="32" name="Text 29"/>
          <p:cNvSpPr/>
          <p:nvPr/>
        </p:nvSpPr>
        <p:spPr>
          <a:xfrm>
            <a:off x="9758477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反映到动作与产物</a:t>
            </a:r>
            <a:endParaRPr lang="zh-CN" sz="1550" dirty="0"/>
          </a:p>
        </p:txBody>
      </p:sp>
      <p:sp>
        <p:nvSpPr>
          <p:cNvPr id="33" name="Text 30"/>
          <p:cNvSpPr/>
          <p:nvPr/>
        </p:nvSpPr>
        <p:spPr>
          <a:xfrm>
            <a:off x="640080" y="431596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更正</a:t>
            </a:r>
            <a:endParaRPr lang="zh-CN" sz="2200" dirty="0"/>
          </a:p>
        </p:txBody>
      </p:sp>
      <p:sp>
        <p:nvSpPr>
          <p:cNvPr id="34" name="Text 31"/>
          <p:cNvSpPr/>
          <p:nvPr/>
        </p:nvSpPr>
        <p:spPr>
          <a:xfrm>
            <a:off x="640080" y="484632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新事实何时生效？</a:t>
            </a:r>
            <a:endParaRPr lang="zh-CN" sz="1800" dirty="0"/>
          </a:p>
        </p:txBody>
      </p:sp>
      <p:sp>
        <p:nvSpPr>
          <p:cNvPr id="35" name="Text 32"/>
          <p:cNvSpPr/>
          <p:nvPr/>
        </p:nvSpPr>
        <p:spPr>
          <a:xfrm>
            <a:off x="4389120" y="431596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</a:t>
            </a:r>
            <a:endParaRPr lang="zh-CN" sz="2200" dirty="0"/>
          </a:p>
        </p:txBody>
      </p:sp>
      <p:sp>
        <p:nvSpPr>
          <p:cNvPr id="36" name="Text 33"/>
          <p:cNvSpPr/>
          <p:nvPr/>
        </p:nvSpPr>
        <p:spPr>
          <a:xfrm>
            <a:off x="4389120" y="484632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依据哪个来源判断？</a:t>
            </a:r>
            <a:endParaRPr lang="zh-CN" sz="1800" dirty="0"/>
          </a:p>
        </p:txBody>
      </p:sp>
      <p:sp>
        <p:nvSpPr>
          <p:cNvPr id="37" name="Text 34"/>
          <p:cNvSpPr/>
          <p:nvPr/>
        </p:nvSpPr>
        <p:spPr>
          <a:xfrm>
            <a:off x="8138160" y="431596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遗忘</a:t>
            </a:r>
            <a:endParaRPr lang="zh-CN" sz="2200" dirty="0"/>
          </a:p>
        </p:txBody>
      </p:sp>
      <p:sp>
        <p:nvSpPr>
          <p:cNvPr id="38" name="Text 35"/>
          <p:cNvSpPr/>
          <p:nvPr/>
        </p:nvSpPr>
        <p:spPr>
          <a:xfrm>
            <a:off x="8138160" y="484632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删除后还剩哪些副本？</a:t>
            </a:r>
            <a:endParaRPr lang="zh-CN" sz="1800" dirty="0"/>
          </a:p>
        </p:txBody>
      </p:sp>
      <p:sp>
        <p:nvSpPr>
          <p:cNvPr id="39" name="Shape 3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评价记忆：保存正确 → 取回正确 → 使用正确。</a:t>
            </a:r>
            <a:endParaRPr lang="zh-CN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三种记忆样本，三个不同边界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Lindy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242316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22199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2971800" y="2148840"/>
            <a:ext cx="388620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9816" y="2221992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公开机制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858000" y="2148840"/>
            <a:ext cx="475488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6016" y="222199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我会怎样验证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587752"/>
            <a:ext cx="242316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660904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900" dirty="0"/>
          </a:p>
        </p:txBody>
      </p:sp>
      <p:sp>
        <p:nvSpPr>
          <p:cNvPr id="17" name="Shape 14"/>
          <p:cNvSpPr/>
          <p:nvPr/>
        </p:nvSpPr>
        <p:spPr>
          <a:xfrm>
            <a:off x="2971800" y="2587752"/>
            <a:ext cx="388620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9816" y="2660904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文件记忆 + 会话快照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6858000" y="2587752"/>
            <a:ext cx="475488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86016" y="2660904"/>
            <a:ext cx="4498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写入后在同会话与新会话分别检查</a:t>
            </a:r>
            <a:endParaRPr lang="zh-CN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3520440"/>
            <a:ext cx="2423160" cy="932688"/>
          </a:xfrm>
          <a:prstGeom prst="rect">
            <a:avLst>
              <a:gd name="adj" fmla="val 11765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593592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900" dirty="0"/>
          </a:p>
        </p:txBody>
      </p:sp>
      <p:sp>
        <p:nvSpPr>
          <p:cNvPr id="23" name="Shape 20"/>
          <p:cNvSpPr/>
          <p:nvPr/>
        </p:nvSpPr>
        <p:spPr>
          <a:xfrm>
            <a:off x="2971800" y="3520440"/>
            <a:ext cx="3886200" cy="932688"/>
          </a:xfrm>
          <a:prstGeom prst="rect">
            <a:avLst>
              <a:gd name="adj" fmla="val 11765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99816" y="3593592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团队 / 系统作用域</a:t>
            </a:r>
            <a:endParaRPr lang="zh-CN" sz="1900" dirty="0"/>
          </a:p>
        </p:txBody>
      </p:sp>
      <p:sp>
        <p:nvSpPr>
          <p:cNvPr id="25" name="Shape 22"/>
          <p:cNvSpPr/>
          <p:nvPr/>
        </p:nvSpPr>
        <p:spPr>
          <a:xfrm>
            <a:off x="6858000" y="3520440"/>
            <a:ext cx="4754880" cy="932688"/>
          </a:xfrm>
          <a:prstGeom prst="rect">
            <a:avLst>
              <a:gd name="adj" fmla="val 11765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86016" y="3593592"/>
            <a:ext cx="4498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事实纠错与共享范围分别检查</a:t>
            </a:r>
            <a:endParaRPr lang="zh-CN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4453128"/>
            <a:ext cx="242316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4526280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900" dirty="0"/>
          </a:p>
        </p:txBody>
      </p:sp>
      <p:sp>
        <p:nvSpPr>
          <p:cNvPr id="29" name="Shape 26"/>
          <p:cNvSpPr/>
          <p:nvPr/>
        </p:nvSpPr>
        <p:spPr>
          <a:xfrm>
            <a:off x="2971800" y="4453128"/>
            <a:ext cx="388620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99816" y="4526280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会话日志；记忆 MCP 另配</a:t>
            </a:r>
            <a:endParaRPr lang="zh-CN" sz="1900" dirty="0"/>
          </a:p>
        </p:txBody>
      </p:sp>
      <p:sp>
        <p:nvSpPr>
          <p:cNvPr id="31" name="Shape 28"/>
          <p:cNvSpPr/>
          <p:nvPr/>
        </p:nvSpPr>
        <p:spPr>
          <a:xfrm>
            <a:off x="6858000" y="4453128"/>
            <a:ext cx="475488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86016" y="4526280"/>
            <a:ext cx="4498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先确认记忆服务是否实际启用</a:t>
            </a:r>
            <a:endParaRPr lang="zh-CN" sz="1900" dirty="0"/>
          </a:p>
        </p:txBody>
      </p:sp>
      <p:sp>
        <p:nvSpPr>
          <p:cNvPr id="33" name="Shape 30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公开设计用于确定实验对象；实际记忆效果仍需验证。</a:t>
            </a:r>
            <a:endParaRPr lang="zh-CN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把“本地 / 云端”拆成三个坐标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Personal Compu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Personal Computer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Cowork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297180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221992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推理位置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520440" y="2148840"/>
            <a:ext cx="420624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48456" y="22219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数据位置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7726680" y="2148840"/>
            <a:ext cx="388620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54696" y="2221992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动作位置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587752"/>
            <a:ext cx="29718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660904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</a:t>
            </a:r>
            <a:endParaRPr lang="zh-CN" sz="1900" dirty="0"/>
          </a:p>
        </p:txBody>
      </p:sp>
      <p:sp>
        <p:nvSpPr>
          <p:cNvPr id="17" name="Shape 14"/>
          <p:cNvSpPr/>
          <p:nvPr/>
        </p:nvSpPr>
        <p:spPr>
          <a:xfrm>
            <a:off x="3520440" y="2587752"/>
            <a:ext cx="420624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48456" y="2660904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本机资料 → 任务上下文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7726680" y="2587752"/>
            <a:ext cx="38862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54696" y="2660904"/>
            <a:ext cx="3630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本机工具 / 浏览器</a:t>
            </a:r>
            <a:endParaRPr lang="zh-CN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3465576"/>
            <a:ext cx="2971800" cy="877824"/>
          </a:xfrm>
          <a:prstGeom prst="rect">
            <a:avLst>
              <a:gd name="adj" fmla="val 125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538728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</a:t>
            </a:r>
            <a:endParaRPr lang="zh-CN" sz="1900" dirty="0"/>
          </a:p>
        </p:txBody>
      </p:sp>
      <p:sp>
        <p:nvSpPr>
          <p:cNvPr id="23" name="Shape 20"/>
          <p:cNvSpPr/>
          <p:nvPr/>
        </p:nvSpPr>
        <p:spPr>
          <a:xfrm>
            <a:off x="3520440" y="3465576"/>
            <a:ext cx="4206240" cy="877824"/>
          </a:xfrm>
          <a:prstGeom prst="rect">
            <a:avLst>
              <a:gd name="adj" fmla="val 125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48456" y="3538728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云端工作区 / 连接器</a:t>
            </a:r>
            <a:endParaRPr lang="zh-CN" sz="1900" dirty="0"/>
          </a:p>
        </p:txBody>
      </p:sp>
      <p:sp>
        <p:nvSpPr>
          <p:cNvPr id="25" name="Shape 22"/>
          <p:cNvSpPr/>
          <p:nvPr/>
        </p:nvSpPr>
        <p:spPr>
          <a:xfrm>
            <a:off x="7726680" y="3465576"/>
            <a:ext cx="3886200" cy="877824"/>
          </a:xfrm>
          <a:prstGeom prst="rect">
            <a:avLst>
              <a:gd name="adj" fmla="val 125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54696" y="3538728"/>
            <a:ext cx="3630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云端电脑 / 服务 API</a:t>
            </a:r>
            <a:endParaRPr lang="zh-CN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4343400"/>
            <a:ext cx="29718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4416552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本地模型（有条件）</a:t>
            </a:r>
            <a:endParaRPr lang="zh-CN" sz="1900" dirty="0"/>
          </a:p>
        </p:txBody>
      </p:sp>
      <p:sp>
        <p:nvSpPr>
          <p:cNvPr id="29" name="Shape 26"/>
          <p:cNvSpPr/>
          <p:nvPr/>
        </p:nvSpPr>
        <p:spPr>
          <a:xfrm>
            <a:off x="3520440" y="4343400"/>
            <a:ext cx="420624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48456" y="4416552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本机文件与状态</a:t>
            </a:r>
            <a:endParaRPr lang="zh-CN" sz="1900" dirty="0"/>
          </a:p>
        </p:txBody>
      </p:sp>
      <p:sp>
        <p:nvSpPr>
          <p:cNvPr id="31" name="Shape 28"/>
          <p:cNvSpPr/>
          <p:nvPr/>
        </p:nvSpPr>
        <p:spPr>
          <a:xfrm>
            <a:off x="7726680" y="4343400"/>
            <a:ext cx="38862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54696" y="4416552"/>
            <a:ext cx="3630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本机工具</a:t>
            </a:r>
            <a:endParaRPr lang="zh-CN" sz="1900" dirty="0"/>
          </a:p>
        </p:txBody>
      </p:sp>
      <p:sp>
        <p:nvSpPr>
          <p:cNvPr id="33" name="Text 30"/>
          <p:cNvSpPr/>
          <p:nvPr/>
        </p:nvSpPr>
        <p:spPr>
          <a:xfrm>
            <a:off x="694944" y="5404104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分别检查：模型端点、数据流、执行宿主与凭证主体。</a:t>
            </a:r>
            <a:endParaRPr lang="zh-CN" sz="1600" dirty="0"/>
          </a:p>
        </p:txBody>
      </p:sp>
      <p:sp>
        <p:nvSpPr>
          <p:cNvPr id="34" name="Shape 3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路径示意，不代表任一产品的完整部署；条件按账号、设备、版本核验。</a:t>
            </a:r>
            <a:endParaRPr lang="zh-C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多代理协作需要可验收的交接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Grok B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Grok Bot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Kimi 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Kimi Claw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收集来源与限制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3154680" y="287121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87852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52444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3552444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3552444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查日期、版本与冲突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5975604" y="287121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8776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6373368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依据确认材料交付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8796528" y="287121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29700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94292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9194292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9194292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检查引用与实际产物</a:t>
            </a:r>
            <a:endParaRPr lang="zh-CN" sz="1550" dirty="0"/>
          </a:p>
        </p:txBody>
      </p:sp>
      <p:sp>
        <p:nvSpPr>
          <p:cNvPr id="28" name="Text 25"/>
          <p:cNvSpPr/>
          <p:nvPr/>
        </p:nvSpPr>
        <p:spPr>
          <a:xfrm>
            <a:off x="658368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每次交接携带</a:t>
            </a:r>
            <a:endParaRPr lang="zh-CN" sz="1100" dirty="0"/>
          </a:p>
        </p:txBody>
      </p:sp>
      <p:sp>
        <p:nvSpPr>
          <p:cNvPr id="29" name="Shape 26"/>
          <p:cNvSpPr/>
          <p:nvPr/>
        </p:nvSpPr>
        <p:spPr>
          <a:xfrm>
            <a:off x="658368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输入版本</a:t>
            </a:r>
            <a:endParaRPr lang="zh-CN" sz="1600" dirty="0"/>
          </a:p>
        </p:txBody>
      </p:sp>
      <p:sp>
        <p:nvSpPr>
          <p:cNvPr id="31" name="Shape 28"/>
          <p:cNvSpPr/>
          <p:nvPr/>
        </p:nvSpPr>
        <p:spPr>
          <a:xfrm>
            <a:off x="3465576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57016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/ 不确定性</a:t>
            </a:r>
            <a:endParaRPr lang="zh-CN" sz="1600" dirty="0"/>
          </a:p>
        </p:txBody>
      </p:sp>
      <p:sp>
        <p:nvSpPr>
          <p:cNvPr id="33" name="Shape 30"/>
          <p:cNvSpPr/>
          <p:nvPr/>
        </p:nvSpPr>
        <p:spPr>
          <a:xfrm>
            <a:off x="6272784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64224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 / 预算</a:t>
            </a:r>
            <a:endParaRPr lang="zh-CN" sz="1600" dirty="0"/>
          </a:p>
        </p:txBody>
      </p:sp>
      <p:sp>
        <p:nvSpPr>
          <p:cNvPr id="35" name="Shape 32"/>
          <p:cNvSpPr/>
          <p:nvPr/>
        </p:nvSpPr>
        <p:spPr>
          <a:xfrm>
            <a:off x="9079992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71432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 / 完成标准</a:t>
            </a:r>
            <a:endParaRPr lang="zh-CN" sz="1600" dirty="0"/>
          </a:p>
        </p:txBody>
      </p:sp>
      <p:sp>
        <p:nvSpPr>
          <p:cNvPr id="37" name="Shape 34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角色数量解释分工；资源范围与完成质量另行验证。</a:t>
            </a:r>
            <a:endParaRPr lang="zh-CN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Skills、Plugins、MCP 各解决哪一层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Cowork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35661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148840"/>
            <a:ext cx="41148" cy="3017520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01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768096" y="27797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zh-CN" sz="2300" dirty="0"/>
          </a:p>
        </p:txBody>
      </p:sp>
      <p:sp>
        <p:nvSpPr>
          <p:cNvPr id="13" name="Text 10"/>
          <p:cNvSpPr/>
          <p:nvPr/>
        </p:nvSpPr>
        <p:spPr>
          <a:xfrm>
            <a:off x="768096" y="341071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复用工作方法</a:t>
            </a: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指令、示例、脚本与版本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4297680" y="2148840"/>
            <a:ext cx="35661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2148840"/>
            <a:ext cx="41148" cy="3017520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02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4517136" y="27797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</a:t>
            </a:r>
            <a:endParaRPr lang="zh-CN" sz="2300" dirty="0"/>
          </a:p>
        </p:txBody>
      </p:sp>
      <p:sp>
        <p:nvSpPr>
          <p:cNvPr id="18" name="Text 15"/>
          <p:cNvSpPr/>
          <p:nvPr/>
        </p:nvSpPr>
        <p:spPr>
          <a:xfrm>
            <a:off x="4517136" y="341071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组合配置或服务</a:t>
            </a: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依赖、安装、生命周期</a:t>
            </a:r>
            <a:endParaRPr lang="zh-CN" sz="2100" dirty="0"/>
          </a:p>
        </p:txBody>
      </p:sp>
      <p:sp>
        <p:nvSpPr>
          <p:cNvPr id="19" name="Shape 16"/>
          <p:cNvSpPr/>
          <p:nvPr/>
        </p:nvSpPr>
        <p:spPr>
          <a:xfrm>
            <a:off x="8046720" y="2148840"/>
            <a:ext cx="35661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2148840"/>
            <a:ext cx="41148" cy="3017520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03</a:t>
            </a:r>
            <a:endParaRPr lang="zh-CN" sz="1100" dirty="0"/>
          </a:p>
        </p:txBody>
      </p:sp>
      <p:sp>
        <p:nvSpPr>
          <p:cNvPr id="22" name="Text 19"/>
          <p:cNvSpPr/>
          <p:nvPr/>
        </p:nvSpPr>
        <p:spPr>
          <a:xfrm>
            <a:off x="8266176" y="27797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API</a:t>
            </a:r>
            <a:endParaRPr lang="zh-CN" sz="2300" dirty="0"/>
          </a:p>
        </p:txBody>
      </p:sp>
      <p:sp>
        <p:nvSpPr>
          <p:cNvPr id="23" name="Text 20"/>
          <p:cNvSpPr/>
          <p:nvPr/>
        </p:nvSpPr>
        <p:spPr>
          <a:xfrm>
            <a:off x="8266176" y="341071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接入工具与资源</a:t>
            </a: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协议、可用性与调用结果</a:t>
            </a:r>
            <a:endParaRPr lang="zh-CN" sz="210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方法、能力与授权共同决定一次动作能否完成。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把批准绑定到真实动作和主体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opilot Autopil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Copilot Autopilot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Lindy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请求者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谁提出委托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2590495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23667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88259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2988259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2988259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谁组织执行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4847234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080406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44998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5244998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批准者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5244998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谁同意这次动作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7103974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37146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1738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7501738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凭证主体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7501738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动作代表哪个账号</a:t>
            </a:r>
            <a:endParaRPr lang="zh-CN" sz="1550" dirty="0"/>
          </a:p>
        </p:txBody>
      </p:sp>
      <p:sp>
        <p:nvSpPr>
          <p:cNvPr id="28" name="Shape 25"/>
          <p:cNvSpPr/>
          <p:nvPr/>
        </p:nvSpPr>
        <p:spPr>
          <a:xfrm>
            <a:off x="9360713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593885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8477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100" dirty="0"/>
          </a:p>
        </p:txBody>
      </p:sp>
      <p:sp>
        <p:nvSpPr>
          <p:cNvPr id="31" name="Text 28"/>
          <p:cNvSpPr/>
          <p:nvPr/>
        </p:nvSpPr>
        <p:spPr>
          <a:xfrm>
            <a:off x="9758477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业务对象</a:t>
            </a:r>
            <a:endParaRPr lang="zh-CN" sz="2100" dirty="0"/>
          </a:p>
        </p:txBody>
      </p:sp>
      <p:sp>
        <p:nvSpPr>
          <p:cNvPr id="32" name="Text 29"/>
          <p:cNvSpPr/>
          <p:nvPr/>
        </p:nvSpPr>
        <p:spPr>
          <a:xfrm>
            <a:off x="9758477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改了什么、给谁发送</a:t>
            </a:r>
            <a:endParaRPr lang="zh-CN" sz="1550" dirty="0"/>
          </a:p>
        </p:txBody>
      </p:sp>
      <p:sp>
        <p:nvSpPr>
          <p:cNvPr id="33" name="Text 30"/>
          <p:cNvSpPr/>
          <p:nvPr/>
        </p:nvSpPr>
        <p:spPr>
          <a:xfrm>
            <a:off x="667512" y="4837176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示例：我提出修改 → 代理组织 → 审核人批准 → 团队账号写入 → 指定文档版本</a:t>
            </a:r>
            <a:endParaRPr lang="zh-CN" sz="1800" dirty="0"/>
          </a:p>
        </p:txBody>
      </p:sp>
      <p:sp>
        <p:nvSpPr>
          <p:cNvPr id="34" name="Shape 3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批准范围 = 动作 + 对象 + 内容 / 金额 + 条件 + 有效期。</a:t>
            </a:r>
            <a:endParaRPr lang="zh-CN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审批、隔离与出口分别检查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Open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OpenClaw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57984"/>
            <a:ext cx="3566160" cy="3081528"/>
          </a:xfrm>
          <a:prstGeom prst="rect">
            <a:avLst>
              <a:gd name="adj" fmla="val 356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157984"/>
            <a:ext cx="41148" cy="3081528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404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01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768096" y="27889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动作审批</a:t>
            </a:r>
            <a:endParaRPr lang="zh-CN" sz="2300" dirty="0"/>
          </a:p>
        </p:txBody>
      </p:sp>
      <p:sp>
        <p:nvSpPr>
          <p:cNvPr id="13" name="Text 10"/>
          <p:cNvSpPr/>
          <p:nvPr/>
        </p:nvSpPr>
        <p:spPr>
          <a:xfrm>
            <a:off x="768096" y="3419856"/>
            <a:ext cx="31272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这次是否允许做？</a:t>
            </a: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检查对象、内容与有效条件</a:t>
            </a:r>
            <a:endParaRPr lang="zh-CN" sz="1950" dirty="0"/>
          </a:p>
        </p:txBody>
      </p:sp>
      <p:sp>
        <p:nvSpPr>
          <p:cNvPr id="14" name="Shape 11"/>
          <p:cNvSpPr/>
          <p:nvPr/>
        </p:nvSpPr>
        <p:spPr>
          <a:xfrm>
            <a:off x="4297680" y="2157984"/>
            <a:ext cx="3566160" cy="3081528"/>
          </a:xfrm>
          <a:prstGeom prst="rect">
            <a:avLst>
              <a:gd name="adj" fmla="val 356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2157984"/>
            <a:ext cx="41148" cy="3081528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2404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02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4517136" y="27889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执行隔离</a:t>
            </a:r>
            <a:endParaRPr lang="zh-CN" sz="2300" dirty="0"/>
          </a:p>
        </p:txBody>
      </p:sp>
      <p:sp>
        <p:nvSpPr>
          <p:cNvPr id="18" name="Text 15"/>
          <p:cNvSpPr/>
          <p:nvPr/>
        </p:nvSpPr>
        <p:spPr>
          <a:xfrm>
            <a:off x="4517136" y="3419856"/>
            <a:ext cx="31272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进程能接触什么？</a:t>
            </a: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检查文件、进程、设备边界</a:t>
            </a:r>
            <a:endParaRPr lang="zh-CN" sz="1950" dirty="0"/>
          </a:p>
        </p:txBody>
      </p:sp>
      <p:sp>
        <p:nvSpPr>
          <p:cNvPr id="19" name="Shape 16"/>
          <p:cNvSpPr/>
          <p:nvPr/>
        </p:nvSpPr>
        <p:spPr>
          <a:xfrm>
            <a:off x="8046720" y="2157984"/>
            <a:ext cx="3566160" cy="3081528"/>
          </a:xfrm>
          <a:prstGeom prst="rect">
            <a:avLst>
              <a:gd name="adj" fmla="val 356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2157984"/>
            <a:ext cx="41148" cy="3081528"/>
          </a:xfrm>
          <a:prstGeom prst="rect">
            <a:avLst>
              <a:gd name="adj" fmla="val 266667"/>
            </a:avLst>
          </a:prstGeom>
          <a:solidFill>
            <a:srgbClr val="BA691F"/>
          </a:solidFill>
          <a:ln w="7620">
            <a:solidFill>
              <a:srgbClr val="BA69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2404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BA6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03</a:t>
            </a:r>
            <a:endParaRPr lang="zh-CN" sz="1100" dirty="0"/>
          </a:p>
        </p:txBody>
      </p:sp>
      <p:sp>
        <p:nvSpPr>
          <p:cNvPr id="22" name="Text 19"/>
          <p:cNvSpPr/>
          <p:nvPr/>
        </p:nvSpPr>
        <p:spPr>
          <a:xfrm>
            <a:off x="8266176" y="27889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出口限制</a:t>
            </a:r>
            <a:endParaRPr lang="zh-CN" sz="2300" dirty="0"/>
          </a:p>
        </p:txBody>
      </p:sp>
      <p:sp>
        <p:nvSpPr>
          <p:cNvPr id="23" name="Text 20"/>
          <p:cNvSpPr/>
          <p:nvPr/>
        </p:nvSpPr>
        <p:spPr>
          <a:xfrm>
            <a:off x="8266176" y="3419856"/>
            <a:ext cx="31272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数据与请求能去哪里？</a:t>
            </a: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检查网络、服务和替代通道</a:t>
            </a:r>
            <a:endParaRPr lang="zh-CN" sz="195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验证实际执行路径：连接器、浏览器、Shell 可能到达同一副作用。</a:t>
            </a:r>
            <a:endParaRPr lang="zh-CN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结束委托，要让派生状态收敛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Gemini Spark / Ta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Spark / Task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Dots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38528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18541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未来工作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68096" y="2816352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计划与触发 · 是否还会再次启动</a:t>
            </a:r>
            <a:endParaRPr lang="zh-CN" sz="1680" dirty="0"/>
          </a:p>
        </p:txBody>
      </p:sp>
      <p:sp>
        <p:nvSpPr>
          <p:cNvPr id="13" name="Shape 10"/>
          <p:cNvSpPr/>
          <p:nvPr/>
        </p:nvSpPr>
        <p:spPr>
          <a:xfrm>
            <a:off x="6199632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9632" y="1938528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218541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在途执行</a:t>
            </a:r>
            <a:endParaRPr lang="zh-CN" sz="2300" dirty="0"/>
          </a:p>
        </p:txBody>
      </p:sp>
      <p:sp>
        <p:nvSpPr>
          <p:cNvPr id="16" name="Text 13"/>
          <p:cNvSpPr/>
          <p:nvPr/>
        </p:nvSpPr>
        <p:spPr>
          <a:xfrm>
            <a:off x="6419088" y="2816352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运行与派生任务 · 是否继续调用工具</a:t>
            </a:r>
            <a:endParaRPr lang="zh-CN" sz="1680" dirty="0"/>
          </a:p>
        </p:txBody>
      </p:sp>
      <p:sp>
        <p:nvSpPr>
          <p:cNvPr id="17" name="Shape 14"/>
          <p:cNvSpPr/>
          <p:nvPr/>
        </p:nvSpPr>
        <p:spPr>
          <a:xfrm>
            <a:off x="548640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94176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9410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资源访问</a:t>
            </a:r>
            <a:endParaRPr lang="zh-CN" sz="2300" dirty="0"/>
          </a:p>
        </p:txBody>
      </p:sp>
      <p:sp>
        <p:nvSpPr>
          <p:cNvPr id="20" name="Text 17"/>
          <p:cNvSpPr/>
          <p:nvPr/>
        </p:nvSpPr>
        <p:spPr>
          <a:xfrm>
            <a:off x="768096" y="4572000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令牌、连接与设备 · 撤权何时真实生效</a:t>
            </a:r>
            <a:endParaRPr lang="zh-CN" sz="1680" dirty="0"/>
          </a:p>
        </p:txBody>
      </p:sp>
      <p:sp>
        <p:nvSpPr>
          <p:cNvPr id="21" name="Shape 18"/>
          <p:cNvSpPr/>
          <p:nvPr/>
        </p:nvSpPr>
        <p:spPr>
          <a:xfrm>
            <a:off x="6199632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9632" y="3694176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9088" y="39410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既有结果</a:t>
            </a:r>
            <a:endParaRPr lang="zh-CN" sz="2300" dirty="0"/>
          </a:p>
        </p:txBody>
      </p:sp>
      <p:sp>
        <p:nvSpPr>
          <p:cNvPr id="24" name="Text 21"/>
          <p:cNvSpPr/>
          <p:nvPr/>
        </p:nvSpPr>
        <p:spPr>
          <a:xfrm>
            <a:off x="6419088" y="4572000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文件、消息与订单 · 保留、删除或补偿</a:t>
            </a:r>
            <a:endParaRPr lang="zh-CN" sz="168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停止与删除各有范围；外部副作用需要独立核查。</a:t>
            </a:r>
            <a:endParaRPr lang="zh-CN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可观测性要能解释一次真实委托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Cowork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Open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OpenClaw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计划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为什么开始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3154680" y="341071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87852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52444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3552444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/ 输入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3552444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依据什么执行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5975604" y="341071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8776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/ 审批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6373368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实际做了什么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8796528" y="341071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29700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94292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9194292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回执 / 产物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9194292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怎样证明完成</a:t>
            </a:r>
            <a:endParaRPr lang="zh-CN" sz="1550" dirty="0"/>
          </a:p>
        </p:txBody>
      </p:sp>
      <p:sp>
        <p:nvSpPr>
          <p:cNvPr id="28" name="Text 25"/>
          <p:cNvSpPr/>
          <p:nvPr/>
        </p:nvSpPr>
        <p:spPr>
          <a:xfrm>
            <a:off x="749808" y="491947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 ID ─────────── 运行 ID ─────────── 动作 ID ─────────── 产物版本</a:t>
            </a:r>
            <a:endParaRPr lang="zh-CN" sz="1800" dirty="0"/>
          </a:p>
        </p:txBody>
      </p:sp>
      <p:sp>
        <p:nvSpPr>
          <p:cNvPr id="29" name="Shape 2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同一委托贯穿：来源版本 · 执行身份 · 时间线 · 费用 · 人工介入。</a:t>
            </a:r>
            <a:endParaRPr lang="zh-CN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先用共同场景验证，再讨论效果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42316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99339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共同场景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2971800" y="1920240"/>
            <a:ext cx="3858768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9816" y="199339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830568" y="1920240"/>
            <a:ext cx="4782312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58584" y="199339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留存证据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359152"/>
            <a:ext cx="2423160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432304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调研交付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2971800" y="2359152"/>
            <a:ext cx="3858768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9816" y="2432304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来源与文档正确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>
            <a:off x="6830568" y="2359152"/>
            <a:ext cx="4782312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58584" y="243230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文件、引用、人工修订</a:t>
            </a:r>
            <a:endParaRPr lang="zh-CN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2990088"/>
            <a:ext cx="2423160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06324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事实纠错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2971800" y="2990088"/>
            <a:ext cx="3858768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99816" y="306324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后续实际使用新信息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6830568" y="2990088"/>
            <a:ext cx="4782312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58584" y="30632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更新记录、输出差异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3621024"/>
            <a:ext cx="2423160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3694176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中断恢复</a:t>
            </a:r>
            <a:endParaRPr lang="zh-CN" sz="1800" dirty="0"/>
          </a:p>
        </p:txBody>
      </p:sp>
      <p:sp>
        <p:nvSpPr>
          <p:cNvPr id="29" name="Shape 26"/>
          <p:cNvSpPr/>
          <p:nvPr/>
        </p:nvSpPr>
        <p:spPr>
          <a:xfrm>
            <a:off x="2971800" y="3621024"/>
            <a:ext cx="3858768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99816" y="3694176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继续且不重复写入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6830568" y="3621024"/>
            <a:ext cx="4782312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58584" y="36941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中断点、回执、产物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4251960"/>
            <a:ext cx="2423160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432511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周期工作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2971800" y="4251960"/>
            <a:ext cx="3858768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99816" y="4325112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处理离线和错过周期</a:t>
            </a:r>
            <a:endParaRPr lang="zh-CN" sz="1800" dirty="0"/>
          </a:p>
        </p:txBody>
      </p:sp>
      <p:sp>
        <p:nvSpPr>
          <p:cNvPr id="37" name="Shape 34"/>
          <p:cNvSpPr/>
          <p:nvPr/>
        </p:nvSpPr>
        <p:spPr>
          <a:xfrm>
            <a:off x="6830568" y="4251960"/>
            <a:ext cx="4782312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58584" y="43251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计划、运行、失败原因</a:t>
            </a:r>
            <a:endParaRPr lang="zh-CN" sz="1800" dirty="0"/>
          </a:p>
        </p:txBody>
      </p:sp>
      <p:sp>
        <p:nvSpPr>
          <p:cNvPr id="39" name="Shape 36"/>
          <p:cNvSpPr/>
          <p:nvPr/>
        </p:nvSpPr>
        <p:spPr>
          <a:xfrm>
            <a:off x="548640" y="4882896"/>
            <a:ext cx="2423160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4956048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运行时撤权</a:t>
            </a:r>
            <a:endParaRPr lang="zh-CN" sz="1800" dirty="0"/>
          </a:p>
        </p:txBody>
      </p:sp>
      <p:sp>
        <p:nvSpPr>
          <p:cNvPr id="41" name="Shape 38"/>
          <p:cNvSpPr/>
          <p:nvPr/>
        </p:nvSpPr>
        <p:spPr>
          <a:xfrm>
            <a:off x="2971800" y="4882896"/>
            <a:ext cx="3858768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99816" y="4956048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派生工作收敛</a:t>
            </a:r>
            <a:endParaRPr lang="zh-CN" sz="1800" dirty="0"/>
          </a:p>
        </p:txBody>
      </p:sp>
      <p:sp>
        <p:nvSpPr>
          <p:cNvPr id="43" name="Shape 40"/>
          <p:cNvSpPr/>
          <p:nvPr/>
        </p:nvSpPr>
        <p:spPr>
          <a:xfrm>
            <a:off x="6830568" y="4882896"/>
            <a:ext cx="4782312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58584" y="4956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撤权时间、拒绝与审计</a:t>
            </a:r>
            <a:endParaRPr lang="zh-CN" sz="1800" dirty="0"/>
          </a:p>
        </p:txBody>
      </p:sp>
      <p:sp>
        <p:nvSpPr>
          <p:cNvPr id="45" name="Shape 4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待执行方案 · 用业务完成证据评价，保留全部实验条件。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以完整委托计算成本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29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76656" y="19385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完整工作成本</a:t>
            </a:r>
            <a:endParaRPr lang="zh-CN" sz="2900" dirty="0"/>
          </a:p>
        </p:txBody>
      </p:sp>
      <p:sp>
        <p:nvSpPr>
          <p:cNvPr id="10" name="Shape 7"/>
          <p:cNvSpPr/>
          <p:nvPr/>
        </p:nvSpPr>
        <p:spPr>
          <a:xfrm>
            <a:off x="56692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服务用量</a:t>
            </a:r>
            <a:endParaRPr lang="zh-CN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搜索 · 工具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337870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330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运行资源</a:t>
            </a:r>
            <a:endParaRPr lang="zh-CN" sz="2200" dirty="0"/>
          </a:p>
        </p:txBody>
      </p:sp>
      <p:sp>
        <p:nvSpPr>
          <p:cNvPr id="15" name="Text 12"/>
          <p:cNvSpPr/>
          <p:nvPr/>
        </p:nvSpPr>
        <p:spPr>
          <a:xfrm>
            <a:off x="354330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云端宿主 · 本机硬件</a:t>
            </a:r>
            <a:endParaRPr lang="zh-CN" sz="1800" dirty="0"/>
          </a:p>
        </p:txBody>
      </p:sp>
      <p:sp>
        <p:nvSpPr>
          <p:cNvPr id="16" name="Shape 13"/>
          <p:cNvSpPr/>
          <p:nvPr/>
        </p:nvSpPr>
        <p:spPr>
          <a:xfrm>
            <a:off x="619048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人工投入</a:t>
            </a:r>
            <a:endParaRPr lang="zh-CN" sz="2200" dirty="0"/>
          </a:p>
        </p:txBody>
      </p:sp>
      <p:sp>
        <p:nvSpPr>
          <p:cNvPr id="18" name="Text 15"/>
          <p:cNvSpPr/>
          <p:nvPr/>
        </p:nvSpPr>
        <p:spPr>
          <a:xfrm>
            <a:off x="635508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 · 修订 · 接管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>
            <a:off x="900226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6686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长期维护</a:t>
            </a:r>
            <a:endParaRPr lang="zh-CN" sz="2200" dirty="0"/>
          </a:p>
        </p:txBody>
      </p:sp>
      <p:sp>
        <p:nvSpPr>
          <p:cNvPr id="21" name="Text 18"/>
          <p:cNvSpPr/>
          <p:nvPr/>
        </p:nvSpPr>
        <p:spPr>
          <a:xfrm>
            <a:off x="916686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 · 备份 · 恢复</a:t>
            </a:r>
            <a:endParaRPr lang="zh-CN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固定完成标准，再比较费用、耗时与人工介入；不只看调用单价。</a:t>
            </a:r>
            <a:endParaRPr lang="zh-CN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我会按这个顺序建设运行平台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29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3575304" cy="356616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1945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3800" dirty="0"/>
          </a:p>
        </p:txBody>
      </p:sp>
      <p:sp>
        <p:nvSpPr>
          <p:cNvPr id="11" name="Text 8"/>
          <p:cNvSpPr/>
          <p:nvPr/>
        </p:nvSpPr>
        <p:spPr>
          <a:xfrm>
            <a:off x="749808" y="3081528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可检查地执行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749808" y="37947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工具 / 审批 / 产物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49808" y="480060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先能解释一轮工作</a:t>
            </a:r>
            <a:endParaRPr lang="zh-CN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1938528"/>
            <a:ext cx="3575304" cy="356616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8848" y="21945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3800" dirty="0"/>
          </a:p>
        </p:txBody>
      </p:sp>
      <p:sp>
        <p:nvSpPr>
          <p:cNvPr id="16" name="Text 13"/>
          <p:cNvSpPr/>
          <p:nvPr/>
        </p:nvSpPr>
        <p:spPr>
          <a:xfrm>
            <a:off x="4498848" y="3081528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可靠地继续</a:t>
            </a:r>
            <a:endParaRPr lang="zh-CN" sz="2400" dirty="0"/>
          </a:p>
        </p:txBody>
      </p:sp>
      <p:sp>
        <p:nvSpPr>
          <p:cNvPr id="17" name="Text 14"/>
          <p:cNvSpPr/>
          <p:nvPr/>
        </p:nvSpPr>
        <p:spPr>
          <a:xfrm>
            <a:off x="4498848" y="37947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/ 恢复 / 幂等 / 撤权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4498848" y="480060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再处理时间与故障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8046720" y="1938528"/>
            <a:ext cx="3575304" cy="356616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47888" y="21945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3800" dirty="0"/>
          </a:p>
        </p:txBody>
      </p:sp>
      <p:sp>
        <p:nvSpPr>
          <p:cNvPr id="21" name="Text 18"/>
          <p:cNvSpPr/>
          <p:nvPr/>
        </p:nvSpPr>
        <p:spPr>
          <a:xfrm>
            <a:off x="8247888" y="3081528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可控地积累</a:t>
            </a:r>
            <a:endParaRPr lang="zh-CN" sz="2400" dirty="0"/>
          </a:p>
        </p:txBody>
      </p:sp>
      <p:sp>
        <p:nvSpPr>
          <p:cNvPr id="22" name="Text 19"/>
          <p:cNvSpPr/>
          <p:nvPr/>
        </p:nvSpPr>
        <p:spPr>
          <a:xfrm>
            <a:off x="8247888" y="37947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技能 / 协作 / 评估</a:t>
            </a:r>
            <a:endParaRPr lang="zh-CN" sz="1800" dirty="0"/>
          </a:p>
        </p:txBody>
      </p:sp>
      <p:sp>
        <p:nvSpPr>
          <p:cNvPr id="23" name="Text 20"/>
          <p:cNvSpPr/>
          <p:nvPr/>
        </p:nvSpPr>
        <p:spPr>
          <a:xfrm>
            <a:off x="8247888" y="480060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逐步扩大委托范围</a:t>
            </a:r>
            <a:endParaRPr lang="zh-CN" sz="160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我的建设判断：每增加一项自主能力，都补齐验证与控制。</a:t>
            </a:r>
            <a:endParaRPr lang="zh-CN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我目前形成的三个认识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3550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3550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29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984248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2800" dirty="0"/>
          </a:p>
        </p:txBody>
      </p:sp>
      <p:sp>
        <p:nvSpPr>
          <p:cNvPr id="10" name="Text 7"/>
          <p:cNvSpPr/>
          <p:nvPr/>
        </p:nvSpPr>
        <p:spPr>
          <a:xfrm>
            <a:off x="1572768" y="1984248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持续委托</a:t>
            </a:r>
            <a:endParaRPr lang="zh-CN" sz="2600" dirty="0"/>
          </a:p>
        </p:txBody>
      </p:sp>
      <p:sp>
        <p:nvSpPr>
          <p:cNvPr id="11" name="Text 8"/>
          <p:cNvSpPr/>
          <p:nvPr/>
        </p:nvSpPr>
        <p:spPr>
          <a:xfrm>
            <a:off x="3675888" y="204825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C5D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把个人上下文、目标与现实动作连接起来</a:t>
            </a:r>
            <a:endParaRPr lang="zh-CN" sz="2300" dirty="0"/>
          </a:p>
        </p:txBody>
      </p:sp>
      <p:sp>
        <p:nvSpPr>
          <p:cNvPr id="12" name="Shape 9"/>
          <p:cNvSpPr/>
          <p:nvPr/>
        </p:nvSpPr>
        <p:spPr>
          <a:xfrm>
            <a:off x="676656" y="2807208"/>
            <a:ext cx="10753344" cy="0"/>
          </a:xfrm>
          <a:prstGeom prst="line">
            <a:avLst/>
          </a:prstGeom>
          <a:noFill/>
          <a:ln w="7620">
            <a:solidFill>
              <a:srgbClr val="3550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3063240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2800" dirty="0"/>
          </a:p>
        </p:txBody>
      </p:sp>
      <p:sp>
        <p:nvSpPr>
          <p:cNvPr id="14" name="Text 11"/>
          <p:cNvSpPr/>
          <p:nvPr/>
        </p:nvSpPr>
        <p:spPr>
          <a:xfrm>
            <a:off x="1572768" y="3063240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共同成立</a:t>
            </a:r>
            <a:endParaRPr lang="zh-CN" sz="2600" dirty="0"/>
          </a:p>
        </p:txBody>
      </p:sp>
      <p:sp>
        <p:nvSpPr>
          <p:cNvPr id="15" name="Text 12"/>
          <p:cNvSpPr/>
          <p:nvPr/>
        </p:nvSpPr>
        <p:spPr>
          <a:xfrm>
            <a:off x="3675888" y="312724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C5D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模型决策与平台状态、执行、控制一起评价</a:t>
            </a:r>
            <a:endParaRPr lang="zh-CN" sz="2300" dirty="0"/>
          </a:p>
        </p:txBody>
      </p:sp>
      <p:sp>
        <p:nvSpPr>
          <p:cNvPr id="16" name="Shape 13"/>
          <p:cNvSpPr/>
          <p:nvPr/>
        </p:nvSpPr>
        <p:spPr>
          <a:xfrm>
            <a:off x="676656" y="3886200"/>
            <a:ext cx="10753344" cy="0"/>
          </a:xfrm>
          <a:prstGeom prst="line">
            <a:avLst/>
          </a:prstGeom>
          <a:noFill/>
          <a:ln w="7620">
            <a:solidFill>
              <a:srgbClr val="3550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142232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2800" dirty="0"/>
          </a:p>
        </p:txBody>
      </p:sp>
      <p:sp>
        <p:nvSpPr>
          <p:cNvPr id="18" name="Text 15"/>
          <p:cNvSpPr/>
          <p:nvPr/>
        </p:nvSpPr>
        <p:spPr>
          <a:xfrm>
            <a:off x="1572768" y="414223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</a:t>
            </a:r>
            <a:endParaRPr lang="zh-CN" sz="2600" dirty="0"/>
          </a:p>
        </p:txBody>
      </p:sp>
      <p:sp>
        <p:nvSpPr>
          <p:cNvPr id="19" name="Text 16"/>
          <p:cNvSpPr/>
          <p:nvPr/>
        </p:nvSpPr>
        <p:spPr>
          <a:xfrm>
            <a:off x="3675888" y="420624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C5D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以产物、恢复、撤权和人工介入修正判断</a:t>
            </a:r>
            <a:endParaRPr lang="zh-CN" sz="2300" dirty="0"/>
          </a:p>
        </p:txBody>
      </p:sp>
      <p:sp>
        <p:nvSpPr>
          <p:cNvPr id="20" name="Shape 1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203B4B"/>
          </a:solidFill>
          <a:ln w="7620">
            <a:solidFill>
              <a:srgbClr val="203B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7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从“知道我的偏好”，走向“可以长期受托办事”。</a:t>
            </a:r>
            <a:endParaRPr lang="zh-CN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 /  讨论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交流：我们最先验证哪一段？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3550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3550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29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21305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0" name="Text 7"/>
          <p:cNvSpPr/>
          <p:nvPr/>
        </p:nvSpPr>
        <p:spPr>
          <a:xfrm>
            <a:off x="1536192" y="2103120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哪项持续委托值得先做成共同实验？</a:t>
            </a:r>
            <a:endParaRPr lang="zh-CN" sz="2600" dirty="0"/>
          </a:p>
        </p:txBody>
      </p:sp>
      <p:sp>
        <p:nvSpPr>
          <p:cNvPr id="11" name="Text 8"/>
          <p:cNvSpPr/>
          <p:nvPr/>
        </p:nvSpPr>
        <p:spPr>
          <a:xfrm>
            <a:off x="667512" y="3200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1536192" y="3172968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当前最难解释的是记忆、恢复，还是权限？</a:t>
            </a:r>
            <a:endParaRPr lang="zh-CN" sz="2600" dirty="0"/>
          </a:p>
        </p:txBody>
      </p:sp>
      <p:sp>
        <p:nvSpPr>
          <p:cNvPr id="13" name="Text 10"/>
          <p:cNvSpPr/>
          <p:nvPr/>
        </p:nvSpPr>
        <p:spPr>
          <a:xfrm>
            <a:off x="667512" y="42702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14" name="Text 11"/>
          <p:cNvSpPr/>
          <p:nvPr/>
        </p:nvSpPr>
        <p:spPr>
          <a:xfrm>
            <a:off x="1536192" y="4242816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哪些能力由平台提供，哪些留在业务 Agent？</a:t>
            </a:r>
            <a:endParaRPr lang="zh-CN" sz="2600" dirty="0"/>
          </a:p>
        </p:txBody>
      </p:sp>
      <p:sp>
        <p:nvSpPr>
          <p:cNvPr id="15" name="Shape 1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203B4B"/>
          </a:solidFill>
          <a:ln w="7620">
            <a:solidFill>
              <a:srgbClr val="203B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7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先明确一个场景、一个完成标准、一个最重要的故障点。</a:t>
            </a:r>
            <a:endParaRPr lang="zh-CN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A｜第一批八个样本速查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19656"/>
            <a:ext cx="2487168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892808"/>
            <a:ext cx="2231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035808" y="1819656"/>
            <a:ext cx="392277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3824" y="1892808"/>
            <a:ext cx="3666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阅读重点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958584" y="1819656"/>
            <a:ext cx="465429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892808"/>
            <a:ext cx="4398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证据与条件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231136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30428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550" dirty="0"/>
          </a:p>
        </p:txBody>
      </p:sp>
      <p:sp>
        <p:nvSpPr>
          <p:cNvPr id="17" name="Shape 14"/>
          <p:cNvSpPr/>
          <p:nvPr/>
        </p:nvSpPr>
        <p:spPr>
          <a:xfrm>
            <a:off x="3035808" y="2231136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63824" y="230428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长期目标、持续环境与安全</a:t>
            </a:r>
            <a:endParaRPr lang="zh-CN" sz="1550" dirty="0"/>
          </a:p>
        </p:txBody>
      </p:sp>
      <p:sp>
        <p:nvSpPr>
          <p:cNvPr id="19" name="Shape 16"/>
          <p:cNvSpPr/>
          <p:nvPr/>
        </p:nvSpPr>
        <p:spPr>
          <a:xfrm>
            <a:off x="6958584" y="2231136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230428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原有个人探索 + 公开资料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548640" y="2702052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277520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3035808" y="2702052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63824" y="277520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持续职责、委派与个人上下文</a:t>
            </a:r>
            <a:endParaRPr lang="zh-CN" sz="1550" dirty="0"/>
          </a:p>
        </p:txBody>
      </p:sp>
      <p:sp>
        <p:nvSpPr>
          <p:cNvPr id="25" name="Shape 22"/>
          <p:cNvSpPr/>
          <p:nvPr/>
        </p:nvSpPr>
        <p:spPr>
          <a:xfrm>
            <a:off x="6958584" y="2702052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86600" y="277520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公开资料；未做账号实测</a:t>
            </a:r>
            <a:endParaRPr lang="zh-CN" sz="1550" dirty="0"/>
          </a:p>
        </p:txBody>
      </p:sp>
      <p:sp>
        <p:nvSpPr>
          <p:cNvPr id="27" name="Shape 24"/>
          <p:cNvSpPr/>
          <p:nvPr/>
        </p:nvSpPr>
        <p:spPr>
          <a:xfrm>
            <a:off x="548640" y="3172968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324612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550" dirty="0"/>
          </a:p>
        </p:txBody>
      </p:sp>
      <p:sp>
        <p:nvSpPr>
          <p:cNvPr id="29" name="Shape 26"/>
          <p:cNvSpPr/>
          <p:nvPr/>
        </p:nvSpPr>
        <p:spPr>
          <a:xfrm>
            <a:off x="3035808" y="3172968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63824" y="324612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独立身份、钱包与团队交接</a:t>
            </a:r>
            <a:endParaRPr lang="zh-CN" sz="1550" dirty="0"/>
          </a:p>
        </p:txBody>
      </p:sp>
      <p:sp>
        <p:nvSpPr>
          <p:cNvPr id="31" name="Shape 28"/>
          <p:cNvSpPr/>
          <p:nvPr/>
        </p:nvSpPr>
        <p:spPr>
          <a:xfrm>
            <a:off x="6958584" y="3172968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324612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Early Access；条件按账号核验</a:t>
            </a:r>
            <a:endParaRPr lang="zh-CN" sz="1550" dirty="0"/>
          </a:p>
        </p:txBody>
      </p:sp>
      <p:sp>
        <p:nvSpPr>
          <p:cNvPr id="33" name="Shape 30"/>
          <p:cNvSpPr/>
          <p:nvPr/>
        </p:nvSpPr>
        <p:spPr>
          <a:xfrm>
            <a:off x="548640" y="3643884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3717036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550" dirty="0"/>
          </a:p>
        </p:txBody>
      </p:sp>
      <p:sp>
        <p:nvSpPr>
          <p:cNvPr id="35" name="Shape 32"/>
          <p:cNvSpPr/>
          <p:nvPr/>
        </p:nvSpPr>
        <p:spPr>
          <a:xfrm>
            <a:off x="3035808" y="3643884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63824" y="3717036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应用上下文、计划与执行路径</a:t>
            </a:r>
            <a:endParaRPr lang="zh-CN" sz="1550" dirty="0"/>
          </a:p>
        </p:txBody>
      </p:sp>
      <p:sp>
        <p:nvSpPr>
          <p:cNvPr id="37" name="Shape 34"/>
          <p:cNvSpPr/>
          <p:nvPr/>
        </p:nvSpPr>
        <p:spPr>
          <a:xfrm>
            <a:off x="6958584" y="3643884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3717036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当前名称与地区、套餐分开核验</a:t>
            </a:r>
            <a:endParaRPr lang="zh-CN" sz="1550" dirty="0"/>
          </a:p>
        </p:txBody>
      </p:sp>
      <p:sp>
        <p:nvSpPr>
          <p:cNvPr id="39" name="Shape 36"/>
          <p:cNvSpPr/>
          <p:nvPr/>
        </p:nvSpPr>
        <p:spPr>
          <a:xfrm>
            <a:off x="548640" y="4114800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4187952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550" dirty="0"/>
          </a:p>
        </p:txBody>
      </p:sp>
      <p:sp>
        <p:nvSpPr>
          <p:cNvPr id="41" name="Shape 38"/>
          <p:cNvSpPr/>
          <p:nvPr/>
        </p:nvSpPr>
        <p:spPr>
          <a:xfrm>
            <a:off x="3035808" y="4114800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63824" y="4187952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长期角色、共享电脑与团队资源</a:t>
            </a:r>
            <a:endParaRPr lang="zh-CN" sz="1550" dirty="0"/>
          </a:p>
        </p:txBody>
      </p:sp>
      <p:sp>
        <p:nvSpPr>
          <p:cNvPr id="43" name="Shape 40"/>
          <p:cNvSpPr/>
          <p:nvPr/>
        </p:nvSpPr>
        <p:spPr>
          <a:xfrm>
            <a:off x="6958584" y="4114800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4187952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共享资源不推定强隔离</a:t>
            </a:r>
            <a:endParaRPr lang="zh-CN" sz="1550" dirty="0"/>
          </a:p>
        </p:txBody>
      </p:sp>
      <p:sp>
        <p:nvSpPr>
          <p:cNvPr id="45" name="Shape 42"/>
          <p:cNvSpPr/>
          <p:nvPr/>
        </p:nvSpPr>
        <p:spPr>
          <a:xfrm>
            <a:off x="548640" y="4585716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6656" y="465886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550" dirty="0"/>
          </a:p>
        </p:txBody>
      </p:sp>
      <p:sp>
        <p:nvSpPr>
          <p:cNvPr id="47" name="Shape 44"/>
          <p:cNvSpPr/>
          <p:nvPr/>
        </p:nvSpPr>
        <p:spPr>
          <a:xfrm>
            <a:off x="3035808" y="4585716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63824" y="465886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自建运行、设备路由与自动化</a:t>
            </a:r>
            <a:endParaRPr lang="zh-CN" sz="1550" dirty="0"/>
          </a:p>
        </p:txBody>
      </p:sp>
      <p:sp>
        <p:nvSpPr>
          <p:cNvPr id="49" name="Shape 46"/>
          <p:cNvSpPr/>
          <p:nvPr/>
        </p:nvSpPr>
        <p:spPr>
          <a:xfrm>
            <a:off x="6958584" y="4585716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86600" y="465886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固定版本；宿主在线与运营责任</a:t>
            </a:r>
            <a:endParaRPr lang="zh-CN" sz="1550" dirty="0"/>
          </a:p>
        </p:txBody>
      </p:sp>
      <p:sp>
        <p:nvSpPr>
          <p:cNvPr id="51" name="Shape 48"/>
          <p:cNvSpPr/>
          <p:nvPr/>
        </p:nvSpPr>
        <p:spPr>
          <a:xfrm>
            <a:off x="548640" y="5056632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" y="512978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1550" dirty="0"/>
          </a:p>
        </p:txBody>
      </p:sp>
      <p:sp>
        <p:nvSpPr>
          <p:cNvPr id="53" name="Shape 50"/>
          <p:cNvSpPr/>
          <p:nvPr/>
        </p:nvSpPr>
        <p:spPr>
          <a:xfrm>
            <a:off x="3035808" y="5056632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163824" y="512978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Brain、本地 / 混合运行</a:t>
            </a:r>
            <a:endParaRPr lang="zh-CN" sz="1550" dirty="0"/>
          </a:p>
        </p:txBody>
      </p:sp>
      <p:sp>
        <p:nvSpPr>
          <p:cNvPr id="55" name="Shape 52"/>
          <p:cNvSpPr/>
          <p:nvPr/>
        </p:nvSpPr>
        <p:spPr>
          <a:xfrm>
            <a:off x="6958584" y="5056632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86600" y="512978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设备、模型与入口分别核验</a:t>
            </a:r>
            <a:endParaRPr lang="zh-CN" sz="1550" dirty="0"/>
          </a:p>
        </p:txBody>
      </p:sp>
      <p:sp>
        <p:nvSpPr>
          <p:cNvPr id="57" name="Shape 54"/>
          <p:cNvSpPr/>
          <p:nvPr/>
        </p:nvSpPr>
        <p:spPr>
          <a:xfrm>
            <a:off x="548640" y="5527548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6656" y="560070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1550" dirty="0"/>
          </a:p>
        </p:txBody>
      </p:sp>
      <p:sp>
        <p:nvSpPr>
          <p:cNvPr id="59" name="Shape 56"/>
          <p:cNvSpPr/>
          <p:nvPr/>
        </p:nvSpPr>
        <p:spPr>
          <a:xfrm>
            <a:off x="3035808" y="5527548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163824" y="560070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知识任务、云端与桌面桥接</a:t>
            </a:r>
            <a:endParaRPr lang="zh-CN" sz="1550" dirty="0"/>
          </a:p>
        </p:txBody>
      </p:sp>
      <p:sp>
        <p:nvSpPr>
          <p:cNvPr id="61" name="Shape 58"/>
          <p:cNvSpPr/>
          <p:nvPr/>
        </p:nvSpPr>
        <p:spPr>
          <a:xfrm>
            <a:off x="6958584" y="5527548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86600" y="560070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新旧环境和组织条件分开记录</a:t>
            </a:r>
            <a:endParaRPr lang="zh-CN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B｜第二批七个样本速查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19656"/>
            <a:ext cx="2487168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892808"/>
            <a:ext cx="2231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035808" y="1819656"/>
            <a:ext cx="392277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3824" y="1892808"/>
            <a:ext cx="3666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阅读重点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958584" y="1819656"/>
            <a:ext cx="465429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892808"/>
            <a:ext cx="4398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证据与条件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231136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30428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550" dirty="0"/>
          </a:p>
        </p:txBody>
      </p:sp>
      <p:sp>
        <p:nvSpPr>
          <p:cNvPr id="17" name="Shape 14"/>
          <p:cNvSpPr/>
          <p:nvPr/>
        </p:nvSpPr>
        <p:spPr>
          <a:xfrm>
            <a:off x="3035808" y="2231136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63824" y="230428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记忆、Profile、经验技能</a:t>
            </a:r>
            <a:endParaRPr lang="zh-CN" sz="1550" dirty="0"/>
          </a:p>
        </p:txBody>
      </p:sp>
      <p:sp>
        <p:nvSpPr>
          <p:cNvPr id="19" name="Shape 16"/>
          <p:cNvSpPr/>
          <p:nvPr/>
        </p:nvSpPr>
        <p:spPr>
          <a:xfrm>
            <a:off x="6958584" y="2231136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230428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10-21 稳定版 v0.22.3；分发不同步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548640" y="2702052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277520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3035808" y="2702052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63824" y="277520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组织内个人云托管代理</a:t>
            </a:r>
            <a:endParaRPr lang="zh-CN" sz="1550" dirty="0"/>
          </a:p>
        </p:txBody>
      </p:sp>
      <p:sp>
        <p:nvSpPr>
          <p:cNvPr id="25" name="Shape 22"/>
          <p:cNvSpPr/>
          <p:nvPr/>
        </p:nvSpPr>
        <p:spPr>
          <a:xfrm>
            <a:off x="6958584" y="2702052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86600" y="277520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Private Preview；旧 Scout 单独解释</a:t>
            </a:r>
            <a:endParaRPr lang="zh-CN" sz="1550" dirty="0"/>
          </a:p>
        </p:txBody>
      </p:sp>
      <p:sp>
        <p:nvSpPr>
          <p:cNvPr id="27" name="Shape 24"/>
          <p:cNvSpPr/>
          <p:nvPr/>
        </p:nvSpPr>
        <p:spPr>
          <a:xfrm>
            <a:off x="548640" y="3172968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324612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1550" dirty="0"/>
          </a:p>
        </p:txBody>
      </p:sp>
      <p:sp>
        <p:nvSpPr>
          <p:cNvPr id="29" name="Shape 26"/>
          <p:cNvSpPr/>
          <p:nvPr/>
        </p:nvSpPr>
        <p:spPr>
          <a:xfrm>
            <a:off x="3035808" y="3172968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63824" y="324612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消息入口、Recipes、人工协助</a:t>
            </a:r>
            <a:endParaRPr lang="zh-CN" sz="1550" dirty="0"/>
          </a:p>
        </p:txBody>
      </p:sp>
      <p:sp>
        <p:nvSpPr>
          <p:cNvPr id="31" name="Shape 28"/>
          <p:cNvSpPr/>
          <p:nvPr/>
        </p:nvSpPr>
        <p:spPr>
          <a:xfrm>
            <a:off x="6958584" y="3172968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324612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团队现加入 Cognition；不推断架构共用</a:t>
            </a:r>
            <a:endParaRPr lang="zh-CN" sz="1550" dirty="0"/>
          </a:p>
        </p:txBody>
      </p:sp>
      <p:sp>
        <p:nvSpPr>
          <p:cNvPr id="33" name="Shape 30"/>
          <p:cNvSpPr/>
          <p:nvPr/>
        </p:nvSpPr>
        <p:spPr>
          <a:xfrm>
            <a:off x="548640" y="3643884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3717036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550" dirty="0"/>
          </a:p>
        </p:txBody>
      </p:sp>
      <p:sp>
        <p:nvSpPr>
          <p:cNvPr id="35" name="Shape 32"/>
          <p:cNvSpPr/>
          <p:nvPr/>
        </p:nvSpPr>
        <p:spPr>
          <a:xfrm>
            <a:off x="3035808" y="3643884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63824" y="3717036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团队记忆、Routines、Guardrails</a:t>
            </a:r>
            <a:endParaRPr lang="zh-CN" sz="1550" dirty="0"/>
          </a:p>
        </p:txBody>
      </p:sp>
      <p:sp>
        <p:nvSpPr>
          <p:cNvPr id="37" name="Shape 34"/>
          <p:cNvSpPr/>
          <p:nvPr/>
        </p:nvSpPr>
        <p:spPr>
          <a:xfrm>
            <a:off x="6958584" y="3643884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3717036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逐步开放；审批按入口核验</a:t>
            </a:r>
            <a:endParaRPr lang="zh-CN" sz="1550" dirty="0"/>
          </a:p>
        </p:txBody>
      </p:sp>
      <p:sp>
        <p:nvSpPr>
          <p:cNvPr id="39" name="Shape 36"/>
          <p:cNvSpPr/>
          <p:nvPr/>
        </p:nvSpPr>
        <p:spPr>
          <a:xfrm>
            <a:off x="548640" y="4114800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4187952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1550" dirty="0"/>
          </a:p>
        </p:txBody>
      </p:sp>
      <p:sp>
        <p:nvSpPr>
          <p:cNvPr id="41" name="Shape 38"/>
          <p:cNvSpPr/>
          <p:nvPr/>
        </p:nvSpPr>
        <p:spPr>
          <a:xfrm>
            <a:off x="3035808" y="4114800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63824" y="4187952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产品化与多设备</a:t>
            </a:r>
            <a:endParaRPr lang="zh-CN" sz="1550" dirty="0"/>
          </a:p>
        </p:txBody>
      </p:sp>
      <p:sp>
        <p:nvSpPr>
          <p:cNvPr id="43" name="Shape 40"/>
          <p:cNvSpPr/>
          <p:nvPr/>
        </p:nvSpPr>
        <p:spPr>
          <a:xfrm>
            <a:off x="6958584" y="4114800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4187952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云端会员条件与其他路径分开</a:t>
            </a:r>
            <a:endParaRPr lang="zh-CN" sz="1550" dirty="0"/>
          </a:p>
        </p:txBody>
      </p:sp>
      <p:sp>
        <p:nvSpPr>
          <p:cNvPr id="45" name="Shape 42"/>
          <p:cNvSpPr/>
          <p:nvPr/>
        </p:nvSpPr>
        <p:spPr>
          <a:xfrm>
            <a:off x="548640" y="4585716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6656" y="465886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550" dirty="0"/>
          </a:p>
        </p:txBody>
      </p:sp>
      <p:sp>
        <p:nvSpPr>
          <p:cNvPr id="47" name="Shape 44"/>
          <p:cNvSpPr/>
          <p:nvPr/>
        </p:nvSpPr>
        <p:spPr>
          <a:xfrm>
            <a:off x="3035808" y="4585716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63824" y="465886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个人办公、项目、本地与云端</a:t>
            </a:r>
            <a:endParaRPr lang="zh-CN" sz="1550" dirty="0"/>
          </a:p>
        </p:txBody>
      </p:sp>
      <p:sp>
        <p:nvSpPr>
          <p:cNvPr id="49" name="Shape 46"/>
          <p:cNvSpPr/>
          <p:nvPr/>
        </p:nvSpPr>
        <p:spPr>
          <a:xfrm>
            <a:off x="6958584" y="4585716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86600" y="465886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5.8.3 与企业套件版本分开</a:t>
            </a:r>
            <a:endParaRPr lang="zh-CN" sz="1550" dirty="0"/>
          </a:p>
        </p:txBody>
      </p:sp>
      <p:sp>
        <p:nvSpPr>
          <p:cNvPr id="51" name="Shape 48"/>
          <p:cNvSpPr/>
          <p:nvPr/>
        </p:nvSpPr>
        <p:spPr>
          <a:xfrm>
            <a:off x="548640" y="5056632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" y="512978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550" dirty="0"/>
          </a:p>
        </p:txBody>
      </p:sp>
      <p:sp>
        <p:nvSpPr>
          <p:cNvPr id="53" name="Shape 50"/>
          <p:cNvSpPr/>
          <p:nvPr/>
        </p:nvSpPr>
        <p:spPr>
          <a:xfrm>
            <a:off x="3035808" y="5056632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163824" y="512978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助手形态与插件化运行底座</a:t>
            </a:r>
            <a:endParaRPr lang="zh-CN" sz="1550" dirty="0"/>
          </a:p>
        </p:txBody>
      </p:sp>
      <p:sp>
        <p:nvSpPr>
          <p:cNvPr id="55" name="Shape 52"/>
          <p:cNvSpPr/>
          <p:nvPr/>
        </p:nvSpPr>
        <p:spPr>
          <a:xfrm>
            <a:off x="6958584" y="5056632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86600" y="512978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v0.2.1-rc.2 预发布；记忆 MCP 另配</a:t>
            </a:r>
            <a:endParaRPr lang="zh-CN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C｜三个值得复核的实现细节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Lindy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85216" y="1920240"/>
            <a:ext cx="11009376" cy="969264"/>
          </a:xfrm>
          <a:prstGeom prst="rect">
            <a:avLst>
              <a:gd name="adj" fmla="val 1132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066544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Hermes：快照与写入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4242816" y="206654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会话启动快照与会话内落盘分开；测试同会话 / 新会话的生效范围。</a:t>
            </a:r>
            <a:endParaRPr lang="zh-CN" sz="1800" dirty="0"/>
          </a:p>
        </p:txBody>
      </p:sp>
      <p:sp>
        <p:nvSpPr>
          <p:cNvPr id="12" name="Shape 9"/>
          <p:cNvSpPr/>
          <p:nvPr/>
        </p:nvSpPr>
        <p:spPr>
          <a:xfrm>
            <a:off x="585216" y="3063240"/>
            <a:ext cx="11009376" cy="969264"/>
          </a:xfrm>
          <a:prstGeom prst="rect">
            <a:avLst>
              <a:gd name="adj" fmla="val 1132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209544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Harness：入箱与完成</a:t>
            </a:r>
            <a:endParaRPr lang="zh-CN" sz="2000" dirty="0"/>
          </a:p>
        </p:txBody>
      </p:sp>
      <p:sp>
        <p:nvSpPr>
          <p:cNvPr id="14" name="Text 11"/>
          <p:cNvSpPr/>
          <p:nvPr/>
        </p:nvSpPr>
        <p:spPr>
          <a:xfrm>
            <a:off x="4242816" y="320954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调度确认是持久收件箱交付；崩溃窗口可能重复投递，检查业务幂等。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585216" y="4206240"/>
            <a:ext cx="11009376" cy="969264"/>
          </a:xfrm>
          <a:prstGeom prst="rect">
            <a:avLst>
              <a:gd name="adj" fmla="val 1132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352544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Lindy：Guardrails 的入口</a:t>
            </a:r>
            <a:endParaRPr lang="zh-CN" sz="2000" dirty="0"/>
          </a:p>
        </p:txBody>
      </p:sp>
      <p:sp>
        <p:nvSpPr>
          <p:cNvPr id="17" name="Text 14"/>
          <p:cNvSpPr/>
          <p:nvPr/>
        </p:nvSpPr>
        <p:spPr>
          <a:xfrm>
            <a:off x="4242816" y="435254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详细帮助限定共享 Slack 线程的写操作；私聊与其他入口分别核验。</a:t>
            </a:r>
            <a:endParaRPr lang="zh-CN" sz="1800" dirty="0"/>
          </a:p>
        </p:txBody>
      </p:sp>
      <p:sp>
        <p:nvSpPr>
          <p:cNvPr id="18" name="Shape 15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资料机制 → 明确假设 → 设计故障实验 → 回到真实产物。</a:t>
            </a:r>
            <a:endParaRPr lang="zh-CN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 /  来源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D｜原始来源：第一批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865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700" dirty="0"/>
          </a:p>
        </p:txBody>
      </p:sp>
      <p:sp>
        <p:nvSpPr>
          <p:cNvPr id="10" name="Text 7">
            <a:hlinkClick r:id="rId1" tooltip="https://introducing.muse.ai/"/>
          </p:cNvPr>
          <p:cNvSpPr/>
          <p:nvPr/>
        </p:nvSpPr>
        <p:spPr>
          <a:xfrm>
            <a:off x="3511296" y="1892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ttps://introducing.muse.ai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introducing.muse.ai</a:t>
            </a:r>
            <a:endParaRPr lang="zh-CN" sz="1250" dirty="0"/>
          </a:p>
        </p:txBody>
      </p:sp>
      <p:sp>
        <p:nvSpPr>
          <p:cNvPr id="11" name="Text 8"/>
          <p:cNvSpPr/>
          <p:nvPr/>
        </p:nvSpPr>
        <p:spPr>
          <a:xfrm>
            <a:off x="667512" y="2322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700" dirty="0"/>
          </a:p>
        </p:txBody>
      </p:sp>
      <p:sp>
        <p:nvSpPr>
          <p:cNvPr id="12" name="Text 9">
            <a:hlinkClick r:id="rId2" tooltip="https://learn.chatgpt.com/docs/dots"/>
          </p:cNvPr>
          <p:cNvSpPr/>
          <p:nvPr/>
        </p:nvSpPr>
        <p:spPr>
          <a:xfrm>
            <a:off x="3511296" y="2350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https://learn.chatgpt.com/docs/do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learn.chatgpt.com/docs/dots</a:t>
            </a:r>
            <a:endParaRPr lang="zh-CN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779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700" dirty="0"/>
          </a:p>
        </p:txBody>
      </p:sp>
      <p:sp>
        <p:nvSpPr>
          <p:cNvPr id="14" name="Text 11">
            <a:hlinkClick r:id="rId3" tooltip="https://www.manus.im/blog/introducing-manus-2-0"/>
          </p:cNvPr>
          <p:cNvSpPr/>
          <p:nvPr/>
        </p:nvSpPr>
        <p:spPr>
          <a:xfrm>
            <a:off x="3511296" y="2807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https://www.manus.im/blog/introducing-manus-2-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www.manus.im/blog/introducing-manus-2-0</a:t>
            </a:r>
            <a:endParaRPr lang="zh-CN" sz="1250" dirty="0"/>
          </a:p>
        </p:txBody>
      </p:sp>
      <p:sp>
        <p:nvSpPr>
          <p:cNvPr id="15" name="Text 12"/>
          <p:cNvSpPr/>
          <p:nvPr/>
        </p:nvSpPr>
        <p:spPr>
          <a:xfrm>
            <a:off x="667512" y="3236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700" dirty="0"/>
          </a:p>
        </p:txBody>
      </p:sp>
      <p:sp>
        <p:nvSpPr>
          <p:cNvPr id="16" name="Text 13">
            <a:hlinkClick r:id="rId4" tooltip="https://support.google.com/gemini/answer/17094507?hl=en"/>
          </p:cNvPr>
          <p:cNvSpPr/>
          <p:nvPr/>
        </p:nvSpPr>
        <p:spPr>
          <a:xfrm>
            <a:off x="3511296" y="32644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https://support.google.com/gemini/answer/17094507?hl=e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support.google.com/gemini/answer/17094507?hl=en</a:t>
            </a:r>
            <a:endParaRPr lang="zh-CN" sz="1250" dirty="0"/>
          </a:p>
        </p:txBody>
      </p:sp>
      <p:sp>
        <p:nvSpPr>
          <p:cNvPr id="17" name="Text 14"/>
          <p:cNvSpPr/>
          <p:nvPr/>
        </p:nvSpPr>
        <p:spPr>
          <a:xfrm>
            <a:off x="667512" y="36941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700" dirty="0"/>
          </a:p>
        </p:txBody>
      </p:sp>
      <p:sp>
        <p:nvSpPr>
          <p:cNvPr id="18" name="Text 15">
            <a:hlinkClick r:id="rId5" tooltip="https://docs.x.ai/grok-bot/overview"/>
          </p:cNvPr>
          <p:cNvSpPr/>
          <p:nvPr/>
        </p:nvSpPr>
        <p:spPr>
          <a:xfrm>
            <a:off x="3511296" y="37216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https://docs.x.ai/grok-bot/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docs.x.ai/grok-bot/overview</a:t>
            </a:r>
            <a:endParaRPr lang="zh-CN" sz="1250" dirty="0"/>
          </a:p>
        </p:txBody>
      </p:sp>
      <p:sp>
        <p:nvSpPr>
          <p:cNvPr id="19" name="Text 16"/>
          <p:cNvSpPr/>
          <p:nvPr/>
        </p:nvSpPr>
        <p:spPr>
          <a:xfrm>
            <a:off x="667512" y="4151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700" dirty="0"/>
          </a:p>
        </p:txBody>
      </p:sp>
      <p:sp>
        <p:nvSpPr>
          <p:cNvPr id="20" name="Text 17">
            <a:hlinkClick r:id="rId6" tooltip="https://docs.openclaw.ai/"/>
          </p:cNvPr>
          <p:cNvSpPr/>
          <p:nvPr/>
        </p:nvSpPr>
        <p:spPr>
          <a:xfrm>
            <a:off x="3511296" y="4178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https://docs.openclaw.ai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docs.openclaw.ai</a:t>
            </a:r>
            <a:endParaRPr lang="zh-CN" sz="1250" dirty="0"/>
          </a:p>
        </p:txBody>
      </p:sp>
      <p:sp>
        <p:nvSpPr>
          <p:cNvPr id="21" name="Text 18"/>
          <p:cNvSpPr/>
          <p:nvPr/>
        </p:nvSpPr>
        <p:spPr>
          <a:xfrm>
            <a:off x="667512" y="4608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1700" dirty="0"/>
          </a:p>
        </p:txBody>
      </p:sp>
      <p:sp>
        <p:nvSpPr>
          <p:cNvPr id="22" name="Text 19">
            <a:hlinkClick r:id="rId7" tooltip="https://www.perplexity.ai/personal-computer"/>
          </p:cNvPr>
          <p:cNvSpPr/>
          <p:nvPr/>
        </p:nvSpPr>
        <p:spPr>
          <a:xfrm>
            <a:off x="3511296" y="4636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https://www.perplexity.ai/personal-compu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www.perplexity.ai/personal-computer</a:t>
            </a:r>
            <a:endParaRPr lang="zh-CN" sz="1250" dirty="0"/>
          </a:p>
        </p:txBody>
      </p:sp>
      <p:sp>
        <p:nvSpPr>
          <p:cNvPr id="23" name="Text 20"/>
          <p:cNvSpPr/>
          <p:nvPr/>
        </p:nvSpPr>
        <p:spPr>
          <a:xfrm>
            <a:off x="667512" y="5065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1700" dirty="0"/>
          </a:p>
        </p:txBody>
      </p:sp>
      <p:sp>
        <p:nvSpPr>
          <p:cNvPr id="24" name="Text 21">
            <a:hlinkClick r:id="rId8" tooltip="https://support.claude.com/en/articles/15520349-use-claude-cowork-on-web-desktop-and-mobile"/>
          </p:cNvPr>
          <p:cNvSpPr/>
          <p:nvPr/>
        </p:nvSpPr>
        <p:spPr>
          <a:xfrm>
            <a:off x="3511296" y="5093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8" invalidUrl="" action="" tgtFrame="" tooltip="https://support.claude.com/en/articles/15520349-use-claude-cowork-on-web-desktop-and-mobi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support.claude.com/en/articles/15520349-use-claude-cowork-on-web-desktop-and-mobile</a:t>
            </a:r>
            <a:endParaRPr lang="zh-CN" sz="1250" dirty="0"/>
          </a:p>
        </p:txBody>
      </p:sp>
      <p:sp>
        <p:nvSpPr>
          <p:cNvPr id="25" name="Text 22"/>
          <p:cNvSpPr/>
          <p:nvPr/>
        </p:nvSpPr>
        <p:spPr>
          <a:xfrm>
            <a:off x="685800" y="580644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完整日期与证据范围：仓库各产品 references/index.md；逐页来源也保存在讲者备注。</a:t>
            </a:r>
            <a:endParaRPr lang="zh-CN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 /  来源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E｜原始来源：第二批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E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865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700" dirty="0"/>
          </a:p>
        </p:txBody>
      </p:sp>
      <p:sp>
        <p:nvSpPr>
          <p:cNvPr id="10" name="Text 7">
            <a:hlinkClick r:id="rId1" tooltip="https://hermes-agent.nousresearch.com/docs/user-guide/features/memory"/>
          </p:cNvPr>
          <p:cNvSpPr/>
          <p:nvPr/>
        </p:nvSpPr>
        <p:spPr>
          <a:xfrm>
            <a:off x="3511296" y="1892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ttps://hermes-agent.nousresearch.com/docs/user-guide/features/mem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hermes-agent.nousresearch.com/docs/user-guide/features/memory</a:t>
            </a:r>
            <a:endParaRPr lang="zh-CN" sz="1250" dirty="0"/>
          </a:p>
        </p:txBody>
      </p:sp>
      <p:sp>
        <p:nvSpPr>
          <p:cNvPr id="11" name="Text 8"/>
          <p:cNvSpPr/>
          <p:nvPr/>
        </p:nvSpPr>
        <p:spPr>
          <a:xfrm>
            <a:off x="667512" y="2322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1700" dirty="0"/>
          </a:p>
        </p:txBody>
      </p:sp>
      <p:sp>
        <p:nvSpPr>
          <p:cNvPr id="12" name="Text 9">
            <a:hlinkClick r:id="rId2" tooltip="https://blogs.microsoft.com/blog/2026/09/25/introducing-the-new-copilot-with-home-code-and-autopilot/"/>
          </p:cNvPr>
          <p:cNvSpPr/>
          <p:nvPr/>
        </p:nvSpPr>
        <p:spPr>
          <a:xfrm>
            <a:off x="3511296" y="2350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https://blogs.microsoft.com/blog/2026/09/25/introducing-the-new-copilot-with-home-code-and-autopilot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blogs.microsoft.com/blog/2026/09/25/introducing-the-new-copilot-with-home-code-and-autopilot</a:t>
            </a:r>
            <a:endParaRPr lang="zh-CN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779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1700" dirty="0"/>
          </a:p>
        </p:txBody>
      </p:sp>
      <p:sp>
        <p:nvSpPr>
          <p:cNvPr id="14" name="Text 11">
            <a:hlinkClick r:id="rId3" tooltip="https://poke.com/docs"/>
          </p:cNvPr>
          <p:cNvSpPr/>
          <p:nvPr/>
        </p:nvSpPr>
        <p:spPr>
          <a:xfrm>
            <a:off x="3511296" y="2807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https://poke.com/doc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poke.com/docs</a:t>
            </a:r>
            <a:endParaRPr lang="zh-CN" sz="1250" dirty="0"/>
          </a:p>
        </p:txBody>
      </p:sp>
      <p:sp>
        <p:nvSpPr>
          <p:cNvPr id="15" name="Text 12"/>
          <p:cNvSpPr/>
          <p:nvPr/>
        </p:nvSpPr>
        <p:spPr>
          <a:xfrm>
            <a:off x="667512" y="3236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700" dirty="0"/>
          </a:p>
        </p:txBody>
      </p:sp>
      <p:sp>
        <p:nvSpPr>
          <p:cNvPr id="16" name="Text 13">
            <a:hlinkClick r:id="rId4" tooltip="https://docs.lindy.ai/integrations/overview"/>
          </p:cNvPr>
          <p:cNvSpPr/>
          <p:nvPr/>
        </p:nvSpPr>
        <p:spPr>
          <a:xfrm>
            <a:off x="3511296" y="32644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https://docs.lindy.ai/integrations/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docs.lindy.ai/integrations/overview</a:t>
            </a:r>
            <a:endParaRPr lang="zh-CN" sz="1250" dirty="0"/>
          </a:p>
        </p:txBody>
      </p:sp>
      <p:sp>
        <p:nvSpPr>
          <p:cNvPr id="17" name="Text 14"/>
          <p:cNvSpPr/>
          <p:nvPr/>
        </p:nvSpPr>
        <p:spPr>
          <a:xfrm>
            <a:off x="667512" y="36941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1700" dirty="0"/>
          </a:p>
        </p:txBody>
      </p:sp>
      <p:sp>
        <p:nvSpPr>
          <p:cNvPr id="18" name="Text 15">
            <a:hlinkClick r:id="rId5" tooltip="https://www.kimi.com/help/kimi-claw/overview"/>
          </p:cNvPr>
          <p:cNvSpPr/>
          <p:nvPr/>
        </p:nvSpPr>
        <p:spPr>
          <a:xfrm>
            <a:off x="3511296" y="37216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https://www.kimi.com/help/kimi-claw/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www.kimi.com/help/kimi-claw/overview</a:t>
            </a:r>
            <a:endParaRPr lang="zh-CN" sz="1250" dirty="0"/>
          </a:p>
        </p:txBody>
      </p:sp>
      <p:sp>
        <p:nvSpPr>
          <p:cNvPr id="19" name="Text 16"/>
          <p:cNvSpPr/>
          <p:nvPr/>
        </p:nvSpPr>
        <p:spPr>
          <a:xfrm>
            <a:off x="667512" y="4151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700" dirty="0"/>
          </a:p>
        </p:txBody>
      </p:sp>
      <p:sp>
        <p:nvSpPr>
          <p:cNvPr id="20" name="Text 17">
            <a:hlinkClick r:id="rId6" tooltip="https://www.workbuddy.cn/docs/workbuddy/Changelog"/>
          </p:cNvPr>
          <p:cNvSpPr/>
          <p:nvPr/>
        </p:nvSpPr>
        <p:spPr>
          <a:xfrm>
            <a:off x="3511296" y="4178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https://www.workbuddy.cn/docs/workbuddy/Changelo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www.workbuddy.cn/docs/workbuddy/Changelog</a:t>
            </a:r>
            <a:endParaRPr lang="zh-CN" sz="1250" dirty="0"/>
          </a:p>
        </p:txBody>
      </p:sp>
      <p:sp>
        <p:nvSpPr>
          <p:cNvPr id="21" name="Text 18"/>
          <p:cNvSpPr/>
          <p:nvPr/>
        </p:nvSpPr>
        <p:spPr>
          <a:xfrm>
            <a:off x="667512" y="4608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700" dirty="0"/>
          </a:p>
        </p:txBody>
      </p:sp>
      <p:sp>
        <p:nvSpPr>
          <p:cNvPr id="22" name="Text 19">
            <a:hlinkClick r:id="rId7" tooltip="https://deepseek-harness.github.io/deepseek-harness/en/reference/subsystems/schedule"/>
          </p:cNvPr>
          <p:cNvSpPr/>
          <p:nvPr/>
        </p:nvSpPr>
        <p:spPr>
          <a:xfrm>
            <a:off x="3511296" y="4636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https://deepseek-harness.github.io/deepseek-harness/en/reference/subsystems/schedu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deepseek-harness.github.io/deepseek-harness/en/reference/subsystems/schedule</a:t>
            </a:r>
            <a:endParaRPr lang="zh-CN" sz="1250" dirty="0"/>
          </a:p>
        </p:txBody>
      </p:sp>
      <p:sp>
        <p:nvSpPr>
          <p:cNvPr id="23" name="Text 20"/>
          <p:cNvSpPr/>
          <p:nvPr/>
        </p:nvSpPr>
        <p:spPr>
          <a:xfrm>
            <a:off x="685800" y="580644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完整日期与证据范围：仓库各产品 references/index.md；逐页来源也保存在讲者备注。</a:t>
            </a:r>
            <a:endParaRPr lang="zh-CN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F｜后续实验记录模板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10.21–10.22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F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47672"/>
            <a:ext cx="2496312" cy="402336"/>
          </a:xfrm>
          <a:prstGeom prst="rect">
            <a:avLst>
              <a:gd name="adj" fmla="val 27273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020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记录部分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044952" y="1947672"/>
            <a:ext cx="8567928" cy="402336"/>
          </a:xfrm>
          <a:prstGeom prst="rect">
            <a:avLst>
              <a:gd name="adj" fmla="val 27273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72968" y="2020824"/>
            <a:ext cx="8311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必须保留的信息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350008"/>
            <a:ext cx="2496312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4231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任务条件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3044952" y="2350008"/>
            <a:ext cx="8567928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2968" y="242316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目标、输入材料、完成标准、截止时间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898648"/>
            <a:ext cx="2496312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297180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运行条件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>
            <a:off x="3044952" y="2898648"/>
            <a:ext cx="8567928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72968" y="297180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模型版本、账号、地区、设备、Profile</a:t>
            </a:r>
            <a:endParaRPr lang="zh-CN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47288"/>
            <a:ext cx="2496312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5204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能力与授权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3044952" y="3447288"/>
            <a:ext cx="8567928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72968" y="352044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工具、连接、审批范围、凭证主体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3995928"/>
            <a:ext cx="2496312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6908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执行时间线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3044952" y="3995928"/>
            <a:ext cx="8567928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72968" y="406908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触发、排队、模型、工具、回执、通知</a:t>
            </a:r>
            <a:endParaRPr lang="zh-CN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4544568"/>
            <a:ext cx="2496312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" y="46177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交付与恢复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3044952" y="4544568"/>
            <a:ext cx="8567928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72968" y="461772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产物、错误、重试、重复副作用、人工介入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093208"/>
            <a:ext cx="2496312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51663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成本与结论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3044952" y="5093208"/>
            <a:ext cx="8567928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72968" y="516636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费用、时间、维护投入、限制与待验证问题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Agent：从个人上下文到长期委托</dc:title>
  <dc:subject>Personal Agent 业界调研与架构学习</dc:subject>
  <dc:creator>Sky</dc:creator>
  <cp:lastModifiedBy>Sky</cp:lastModifiedBy>
  <cp:revision>1</cp:revision>
  <dcterms:created xsi:type="dcterms:W3CDTF">2026-10-22T01:41:17Z</dcterms:created>
  <dcterms:modified xsi:type="dcterms:W3CDTF">2026-10-22T01:41:17Z</dcterms:modified>
</cp:coreProperties>
</file>