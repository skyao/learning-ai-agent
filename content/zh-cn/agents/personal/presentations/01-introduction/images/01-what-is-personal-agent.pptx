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60 秒。
AI Agent 是以大语言模型为决策核心，在多步循环里对环境采取行动，并根据反馈继续迭代，直到目标完成或失败的软件系统。
这里采用已有学习笔记的 LLM Agent 工作定义，不覆盖传统人工智能中所有 Agent。下一步由模型决定，能够多步行动，并依据工具与环境反馈继续调整。只看对话轮数，或者看到一次工具调用，都不足以确认执行循环。自主程度可以不同，用户审批和人工介入不妨碍 Agent 形态成立。
本地依据：content/zh-cn/definition/what-is-ai-agent/index.md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40 秒。
以调研为例，我给出目标，Agent 决定检索方向，调用搜索与阅读工具，观察实际取得的资料。如果发现来源已过期或不同文档互相矛盾，模型需要决定补查哪些来源，然后整理文件并检查引用。图中是一条便于理解的路径，实际执行中每一步都可能依据反馈调整，不是写死的四步工作流。
这个例子用于解释判断方法，不表示某款产品已经完成此项实测。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80 秒。
Personal Agent 是以具体个人为服务对象，利用其个人上下文，在授权范围内自主组织并执行任务的 AI 智能体。
这是结合研究论文与社区资料归纳的工作定义，不是统一行业标准。2024 年综述关注与个人数据、设备和服务结合；W3C 社区组材料关注代表具体用户与用户利益，后者不是正式 W3C 标准。
我理解的个人，首先是围绕具体个人的目标；其次是资料、偏好、工作背景与约束会真正影响判断；最后是根据委托代表用户推进任务。生活与工作都可以纳入。仍用调研示例，如果系统能结合我的方向、已有笔记和写作习惯补充缺口，个人上下文才实际进入工作。
资料：https://arxiv.org/html/2401.05459v2#S3
社区材料：https://www.w3.org/2024/01/webevolve-series-events/annual-2025/slides/ai-agent-protocol-cg.pdf
阅读日期：2026-10-24；论文为 2024-05-08 修订的 v2，社区材料来自 2025 年活动。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建议讲述 60 秒。
我先检查是否有 Agent 执行循环，再看它是否围绕具体个人工作，个人上下文是否实际影响执行。在基础归类之上，本系列更关注长期服务：跨会话使用并修正上下文，延续任务或承担重复工作，以及根据变化持续跟进。
这三类能力不能相互代替；有定时任务，不等于可以自行持续推进一个长期目标。我也不把所有能力齐备作为统一准入门槛，单次委托可以发生在个人代理中。独立电脑、云端常驻和多代理协作属于具体路线。后续按个人模式、团队模式和运行底座分别判断，官方说明与实测结果分别记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第一部分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先理解 AI Agent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沿用已有学习笔记的定义，先统一讨论范围。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64224"/>
            <a:ext cx="11091672" cy="0"/>
          </a:xfrm>
          <a:prstGeom prst="line">
            <a:avLst/>
          </a:prstGeom>
          <a:noFill/>
          <a:ln w="1778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依据：什么是 AI Agent · 项目内工作定义（LLM Agent）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556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993392"/>
            <a:ext cx="11091672" cy="1097280"/>
          </a:xfrm>
          <a:prstGeom prst="rect">
            <a:avLst/>
          </a:prstGeom>
          <a:solidFill>
            <a:srgbClr val="1E3446"/>
          </a:solidFill>
          <a:ln w="7620">
            <a:solidFill>
              <a:srgbClr val="1E34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185416"/>
            <a:ext cx="10616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是以大语言模型为决策核心，在多步循环里对环境采取行动，</a:t>
            </a:r>
            <a:endParaRPr lang="zh-CN" sz="2300" dirty="0"/>
          </a:p>
          <a:p>
            <a:pPr indent="0" marL="0">
              <a:buNone/>
            </a:pPr>
            <a:r>
              <a:rPr lang="zh-CN" alt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并根据反馈继续迭代，直到目标完成或失败的软件系统。</a:t>
            </a:r>
            <a:endParaRPr lang="zh-CN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3410712"/>
            <a:ext cx="2615184" cy="153619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575304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968496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决策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731520" y="448970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由模型选择下一步</a:t>
            </a:r>
            <a:endParaRPr lang="zh-CN" sz="1600" dirty="0"/>
          </a:p>
        </p:txBody>
      </p:sp>
      <p:sp>
        <p:nvSpPr>
          <p:cNvPr id="14" name="Shape 12"/>
          <p:cNvSpPr/>
          <p:nvPr/>
        </p:nvSpPr>
        <p:spPr>
          <a:xfrm>
            <a:off x="3374136" y="3410712"/>
            <a:ext cx="2615184" cy="153619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57016" y="3575304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16" name="Text 14"/>
          <p:cNvSpPr/>
          <p:nvPr/>
        </p:nvSpPr>
        <p:spPr>
          <a:xfrm>
            <a:off x="3557016" y="3968496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多步循环</a:t>
            </a:r>
            <a:endParaRPr lang="zh-CN" sz="2000" dirty="0"/>
          </a:p>
        </p:txBody>
      </p:sp>
      <p:sp>
        <p:nvSpPr>
          <p:cNvPr id="17" name="Text 15"/>
          <p:cNvSpPr/>
          <p:nvPr/>
        </p:nvSpPr>
        <p:spPr>
          <a:xfrm>
            <a:off x="3557016" y="448970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围绕目标连续执行</a:t>
            </a:r>
            <a:endParaRPr lang="zh-CN" sz="1600" dirty="0"/>
          </a:p>
        </p:txBody>
      </p:sp>
      <p:sp>
        <p:nvSpPr>
          <p:cNvPr id="18" name="Shape 16"/>
          <p:cNvSpPr/>
          <p:nvPr/>
        </p:nvSpPr>
        <p:spPr>
          <a:xfrm>
            <a:off x="6199632" y="3410712"/>
            <a:ext cx="2615184" cy="153619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3575304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20" name="Text 18"/>
          <p:cNvSpPr/>
          <p:nvPr/>
        </p:nvSpPr>
        <p:spPr>
          <a:xfrm>
            <a:off x="6382512" y="3968496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对环境行动</a:t>
            </a:r>
            <a:endParaRPr lang="zh-CN" sz="2000" dirty="0"/>
          </a:p>
        </p:txBody>
      </p:sp>
      <p:sp>
        <p:nvSpPr>
          <p:cNvPr id="21" name="Text 19"/>
          <p:cNvSpPr/>
          <p:nvPr/>
        </p:nvSpPr>
        <p:spPr>
          <a:xfrm>
            <a:off x="6382512" y="448970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使用工具、读写文件</a:t>
            </a:r>
            <a:endParaRPr lang="zh-CN" sz="1600" dirty="0"/>
          </a:p>
        </p:txBody>
      </p:sp>
      <p:sp>
        <p:nvSpPr>
          <p:cNvPr id="22" name="Shape 20"/>
          <p:cNvSpPr/>
          <p:nvPr/>
        </p:nvSpPr>
        <p:spPr>
          <a:xfrm>
            <a:off x="9025128" y="3410712"/>
            <a:ext cx="2615184" cy="153619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08008" y="3575304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zh-CN" sz="1200" dirty="0"/>
          </a:p>
        </p:txBody>
      </p:sp>
      <p:sp>
        <p:nvSpPr>
          <p:cNvPr id="24" name="Text 22"/>
          <p:cNvSpPr/>
          <p:nvPr/>
        </p:nvSpPr>
        <p:spPr>
          <a:xfrm>
            <a:off x="9208008" y="3968496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根据反馈再决策</a:t>
            </a:r>
            <a:endParaRPr lang="zh-CN" sz="2000" dirty="0"/>
          </a:p>
        </p:txBody>
      </p:sp>
      <p:sp>
        <p:nvSpPr>
          <p:cNvPr id="25" name="Text 23"/>
          <p:cNvSpPr/>
          <p:nvPr/>
        </p:nvSpPr>
        <p:spPr>
          <a:xfrm>
            <a:off x="9208008" y="448970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观察结果，调整后续动作</a:t>
            </a:r>
            <a:endParaRPr lang="zh-CN" sz="1600" dirty="0"/>
          </a:p>
        </p:txBody>
      </p:sp>
      <p:sp>
        <p:nvSpPr>
          <p:cNvPr id="26" name="Text 24"/>
          <p:cNvSpPr/>
          <p:nvPr/>
        </p:nvSpPr>
        <p:spPr>
          <a:xfrm>
            <a:off x="731520" y="5111496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2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→ 决策 → 行动 → 观察 → 再决策 …</a:t>
            </a:r>
            <a:endParaRPr lang="zh-CN" sz="2200" dirty="0"/>
          </a:p>
        </p:txBody>
      </p:sp>
      <p:sp>
        <p:nvSpPr>
          <p:cNvPr id="27" name="Shape 25"/>
          <p:cNvSpPr/>
          <p:nvPr/>
        </p:nvSpPr>
        <p:spPr>
          <a:xfrm>
            <a:off x="548640" y="5605272"/>
            <a:ext cx="11091672" cy="56692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5724144"/>
            <a:ext cx="10689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多轮聊天不等于多步执行；人工审批可以是执行过程的一部分。</a:t>
            </a:r>
            <a:endParaRPr lang="zh-CN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第一部分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用一次调研看清执行循环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示例目标：调研一个产品，整理成带来源的学习笔记。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64224"/>
            <a:ext cx="11091672" cy="0"/>
          </a:xfrm>
          <a:prstGeom prst="line">
            <a:avLst/>
          </a:prstGeom>
          <a:noFill/>
          <a:ln w="1778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作者构造的任务示例，用于解释执行循环；不是产品实测。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556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414016"/>
            <a:ext cx="2615184" cy="187452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96896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99923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确定检索方向</a:t>
            </a:r>
            <a:endParaRPr lang="zh-CN" sz="2100" dirty="0"/>
          </a:p>
        </p:txBody>
      </p:sp>
      <p:sp>
        <p:nvSpPr>
          <p:cNvPr id="11" name="Text 9"/>
          <p:cNvSpPr/>
          <p:nvPr/>
        </p:nvSpPr>
        <p:spPr>
          <a:xfrm>
            <a:off x="731520" y="3575304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模型决定需要查什么</a:t>
            </a:r>
            <a:endParaRPr lang="zh-CN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968496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识别目标、范围与缺口</a:t>
            </a:r>
            <a:endParaRPr lang="zh-CN" sz="1300" dirty="0"/>
          </a:p>
        </p:txBody>
      </p:sp>
      <p:sp>
        <p:nvSpPr>
          <p:cNvPr id="13" name="Shape 11"/>
          <p:cNvSpPr/>
          <p:nvPr/>
        </p:nvSpPr>
        <p:spPr>
          <a:xfrm>
            <a:off x="3191256" y="3346704"/>
            <a:ext cx="155448" cy="0"/>
          </a:xfrm>
          <a:prstGeom prst="line">
            <a:avLst/>
          </a:prstGeom>
          <a:noFill/>
          <a:ln w="1778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374136" y="2414016"/>
            <a:ext cx="2615184" cy="187452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57016" y="2596896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16" name="Text 14"/>
          <p:cNvSpPr/>
          <p:nvPr/>
        </p:nvSpPr>
        <p:spPr>
          <a:xfrm>
            <a:off x="3557016" y="299923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搜索与阅读</a:t>
            </a:r>
            <a:endParaRPr lang="zh-CN" sz="2100" dirty="0"/>
          </a:p>
        </p:txBody>
      </p:sp>
      <p:sp>
        <p:nvSpPr>
          <p:cNvPr id="17" name="Text 15"/>
          <p:cNvSpPr/>
          <p:nvPr/>
        </p:nvSpPr>
        <p:spPr>
          <a:xfrm>
            <a:off x="3557016" y="3575304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调用工具获取材料</a:t>
            </a:r>
            <a:endParaRPr lang="zh-CN" sz="1600" dirty="0"/>
          </a:p>
        </p:txBody>
      </p:sp>
      <p:sp>
        <p:nvSpPr>
          <p:cNvPr id="18" name="Text 16"/>
          <p:cNvSpPr/>
          <p:nvPr/>
        </p:nvSpPr>
        <p:spPr>
          <a:xfrm>
            <a:off x="3557016" y="3968496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打开原始文档，读取内容</a:t>
            </a:r>
            <a:endParaRPr lang="zh-CN" sz="1300" dirty="0"/>
          </a:p>
        </p:txBody>
      </p:sp>
      <p:sp>
        <p:nvSpPr>
          <p:cNvPr id="19" name="Shape 17"/>
          <p:cNvSpPr/>
          <p:nvPr/>
        </p:nvSpPr>
        <p:spPr>
          <a:xfrm>
            <a:off x="6016752" y="3346704"/>
            <a:ext cx="155448" cy="0"/>
          </a:xfrm>
          <a:prstGeom prst="line">
            <a:avLst/>
          </a:prstGeom>
          <a:noFill/>
          <a:ln w="1778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99632" y="2414016"/>
            <a:ext cx="2615184" cy="1874520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2596896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22" name="Text 20"/>
          <p:cNvSpPr/>
          <p:nvPr/>
        </p:nvSpPr>
        <p:spPr>
          <a:xfrm>
            <a:off x="6382512" y="299923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核对与补查</a:t>
            </a:r>
            <a:endParaRPr lang="zh-CN" sz="2100" dirty="0"/>
          </a:p>
        </p:txBody>
      </p:sp>
      <p:sp>
        <p:nvSpPr>
          <p:cNvPr id="23" name="Text 21"/>
          <p:cNvSpPr/>
          <p:nvPr/>
        </p:nvSpPr>
        <p:spPr>
          <a:xfrm>
            <a:off x="6382512" y="3575304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根据反馈调整动作</a:t>
            </a:r>
            <a:endParaRPr lang="zh-CN" sz="1600" dirty="0"/>
          </a:p>
        </p:txBody>
      </p:sp>
      <p:sp>
        <p:nvSpPr>
          <p:cNvPr id="24" name="Text 22"/>
          <p:cNvSpPr/>
          <p:nvPr/>
        </p:nvSpPr>
        <p:spPr>
          <a:xfrm>
            <a:off x="6382512" y="3968496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来源过期或冲突，再检索</a:t>
            </a:r>
            <a:endParaRPr lang="zh-CN" sz="1300" dirty="0"/>
          </a:p>
        </p:txBody>
      </p:sp>
      <p:sp>
        <p:nvSpPr>
          <p:cNvPr id="25" name="Shape 23"/>
          <p:cNvSpPr/>
          <p:nvPr/>
        </p:nvSpPr>
        <p:spPr>
          <a:xfrm>
            <a:off x="8842248" y="3346704"/>
            <a:ext cx="155448" cy="0"/>
          </a:xfrm>
          <a:prstGeom prst="line">
            <a:avLst/>
          </a:prstGeom>
          <a:noFill/>
          <a:ln w="1778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25128" y="2414016"/>
            <a:ext cx="2615184" cy="1874520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08008" y="2596896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zh-CN" sz="1200" dirty="0"/>
          </a:p>
        </p:txBody>
      </p:sp>
      <p:sp>
        <p:nvSpPr>
          <p:cNvPr id="28" name="Text 26"/>
          <p:cNvSpPr/>
          <p:nvPr/>
        </p:nvSpPr>
        <p:spPr>
          <a:xfrm>
            <a:off x="9208008" y="299923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整理并检查</a:t>
            </a:r>
            <a:endParaRPr lang="zh-CN" sz="2100" dirty="0"/>
          </a:p>
        </p:txBody>
      </p:sp>
      <p:sp>
        <p:nvSpPr>
          <p:cNvPr id="29" name="Text 27"/>
          <p:cNvSpPr/>
          <p:nvPr/>
        </p:nvSpPr>
        <p:spPr>
          <a:xfrm>
            <a:off x="9208008" y="3575304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形成文件，检查引用</a:t>
            </a:r>
            <a:endParaRPr lang="zh-CN" sz="1600" dirty="0"/>
          </a:p>
        </p:txBody>
      </p:sp>
      <p:sp>
        <p:nvSpPr>
          <p:cNvPr id="30" name="Text 28"/>
          <p:cNvSpPr/>
          <p:nvPr/>
        </p:nvSpPr>
        <p:spPr>
          <a:xfrm>
            <a:off x="9208008" y="3968496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必要时回到资料补查</a:t>
            </a:r>
            <a:endParaRPr lang="zh-CN" sz="1300" dirty="0"/>
          </a:p>
        </p:txBody>
      </p:sp>
      <p:sp>
        <p:nvSpPr>
          <p:cNvPr id="31" name="Shape 29"/>
          <p:cNvSpPr/>
          <p:nvPr/>
        </p:nvSpPr>
        <p:spPr>
          <a:xfrm>
            <a:off x="7498080" y="4480560"/>
            <a:ext cx="0" cy="256032"/>
          </a:xfrm>
          <a:prstGeom prst="line">
            <a:avLst/>
          </a:prstGeom>
          <a:noFill/>
          <a:ln w="17780">
            <a:solidFill>
              <a:srgbClr val="078F8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0" y="4736592"/>
            <a:ext cx="-3026664" cy="0"/>
          </a:xfrm>
          <a:prstGeom prst="line">
            <a:avLst/>
          </a:prstGeom>
          <a:noFill/>
          <a:ln w="17780">
            <a:solidFill>
              <a:srgbClr val="078F84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471416" y="4736592"/>
            <a:ext cx="0" cy="-256032"/>
          </a:xfrm>
          <a:prstGeom prst="line">
            <a:avLst/>
          </a:prstGeom>
          <a:noFill/>
          <a:ln w="17780">
            <a:solidFill>
              <a:srgbClr val="078F8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5020056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1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工具结果决定下一步是否需要补查、修订或结束。</a:t>
            </a:r>
            <a:endParaRPr lang="zh-CN" sz="2100" dirty="0"/>
          </a:p>
        </p:txBody>
      </p:sp>
      <p:sp>
        <p:nvSpPr>
          <p:cNvPr id="35" name="Shape 33"/>
          <p:cNvSpPr/>
          <p:nvPr/>
        </p:nvSpPr>
        <p:spPr>
          <a:xfrm>
            <a:off x="548640" y="5605272"/>
            <a:ext cx="11091672" cy="56692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" y="5724144"/>
            <a:ext cx="10689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用户交付目标与约束；Agent 根据实际结果组织后续步骤。</a:t>
            </a:r>
            <a:endParaRPr lang="zh-CN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第一部分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中的“Personal”指什么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Agent 执行循环之上，明确个人服务关系与个人上下文。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64224"/>
            <a:ext cx="11091672" cy="0"/>
          </a:xfrm>
          <a:prstGeom prst="line">
            <a:avLst/>
          </a:prstGeom>
          <a:noFill/>
          <a:ln w="1778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依据：Personal LLM Agents（2024，§3）；W3C 社区组用例材料（2025，p.4）。定义为作者归纳。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556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993392"/>
            <a:ext cx="11091672" cy="1097280"/>
          </a:xfrm>
          <a:prstGeom prst="rect">
            <a:avLst/>
          </a:prstGeom>
          <a:solidFill>
            <a:srgbClr val="1E3446"/>
          </a:solidFill>
          <a:ln w="7620">
            <a:solidFill>
              <a:srgbClr val="1E34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185416"/>
            <a:ext cx="10616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是以具体个人为服务对象，利用其个人上下文，</a:t>
            </a:r>
            <a:endParaRPr lang="zh-CN" sz="2300" dirty="0"/>
          </a:p>
          <a:p>
            <a:pPr indent="0" marL="0">
              <a:buNone/>
            </a:pPr>
            <a:r>
              <a:rPr lang="zh-CN" alt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在授权范围内自主组织并执行任务的 AI 智能体。</a:t>
            </a:r>
            <a:endParaRPr lang="zh-CN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3401568"/>
            <a:ext cx="3557016" cy="167335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63016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为谁工作</a:t>
            </a:r>
            <a:endParaRPr lang="zh-CN" sz="2200" dirty="0"/>
          </a:p>
        </p:txBody>
      </p:sp>
      <p:sp>
        <p:nvSpPr>
          <p:cNvPr id="12" name="Text 10"/>
          <p:cNvSpPr/>
          <p:nvPr/>
        </p:nvSpPr>
        <p:spPr>
          <a:xfrm>
            <a:off x="749808" y="414223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具体个人的目标</a:t>
            </a:r>
            <a:endParaRPr lang="zh-CN" sz="1800" dirty="0"/>
          </a:p>
        </p:txBody>
      </p:sp>
      <p:sp>
        <p:nvSpPr>
          <p:cNvPr id="13" name="Text 11"/>
          <p:cNvSpPr/>
          <p:nvPr/>
        </p:nvSpPr>
        <p:spPr>
          <a:xfrm>
            <a:off x="749808" y="45994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个人生活与个人工作</a:t>
            </a:r>
            <a:endParaRPr lang="zh-CN" sz="1300" dirty="0"/>
          </a:p>
        </p:txBody>
      </p:sp>
      <p:sp>
        <p:nvSpPr>
          <p:cNvPr id="14" name="Shape 12"/>
          <p:cNvSpPr/>
          <p:nvPr/>
        </p:nvSpPr>
        <p:spPr>
          <a:xfrm>
            <a:off x="4315968" y="3401568"/>
            <a:ext cx="3557016" cy="167335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17136" y="363016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依据什么判断</a:t>
            </a:r>
            <a:endParaRPr lang="zh-CN" sz="2200" dirty="0"/>
          </a:p>
        </p:txBody>
      </p:sp>
      <p:sp>
        <p:nvSpPr>
          <p:cNvPr id="16" name="Text 14"/>
          <p:cNvSpPr/>
          <p:nvPr/>
        </p:nvSpPr>
        <p:spPr>
          <a:xfrm>
            <a:off x="4517136" y="414223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个人资料、偏好与约束</a:t>
            </a:r>
            <a:endParaRPr lang="zh-CN" sz="1800" dirty="0"/>
          </a:p>
        </p:txBody>
      </p:sp>
      <p:sp>
        <p:nvSpPr>
          <p:cNvPr id="17" name="Text 15"/>
          <p:cNvSpPr/>
          <p:nvPr/>
        </p:nvSpPr>
        <p:spPr>
          <a:xfrm>
            <a:off x="4517136" y="45994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上下文实际影响选择与行动</a:t>
            </a:r>
            <a:endParaRPr lang="zh-CN" sz="1300" dirty="0"/>
          </a:p>
        </p:txBody>
      </p:sp>
      <p:sp>
        <p:nvSpPr>
          <p:cNvPr id="18" name="Shape 16"/>
          <p:cNvSpPr/>
          <p:nvPr/>
        </p:nvSpPr>
        <p:spPr>
          <a:xfrm>
            <a:off x="8083296" y="3401568"/>
            <a:ext cx="3557016" cy="167335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84464" y="363016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代表谁行动</a:t>
            </a:r>
            <a:endParaRPr lang="zh-CN" sz="2200" dirty="0"/>
          </a:p>
        </p:txBody>
      </p:sp>
      <p:sp>
        <p:nvSpPr>
          <p:cNvPr id="20" name="Text 18"/>
          <p:cNvSpPr/>
          <p:nvPr/>
        </p:nvSpPr>
        <p:spPr>
          <a:xfrm>
            <a:off x="8284464" y="414223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按用户委托推进任务</a:t>
            </a:r>
            <a:endParaRPr lang="zh-CN" sz="1800" dirty="0"/>
          </a:p>
        </p:txBody>
      </p:sp>
      <p:sp>
        <p:nvSpPr>
          <p:cNvPr id="21" name="Text 19"/>
          <p:cNvSpPr/>
          <p:nvPr/>
        </p:nvSpPr>
        <p:spPr>
          <a:xfrm>
            <a:off x="8284464" y="45994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在授权范围内执行，必要时交回决定</a:t>
            </a:r>
            <a:endParaRPr lang="zh-CN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605272"/>
            <a:ext cx="11091672" cy="56692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5724144"/>
            <a:ext cx="10689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同一项调研：结合我的方向、已有笔记与写作习惯，决定补什么、怎样整理。</a:t>
            </a:r>
            <a:endParaRPr lang="zh-CN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PERSONAL AGENT · 总览篇 / 第一部分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0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先判断归类，再比较持续服务能力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2646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后续介绍产品时，沿用同一套问题，分别记录能力与证据。</a:t>
            </a:r>
            <a:endParaRPr lang="zh-CN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6364224"/>
            <a:ext cx="11091672" cy="0"/>
          </a:xfrm>
          <a:prstGeom prst="line">
            <a:avLst/>
          </a:prstGeom>
          <a:noFill/>
          <a:ln w="17780">
            <a:solidFill>
              <a:srgbClr val="D8DF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本次调研的判断方法 · 官方说明、个人分析与实际验证分别记录。</a:t>
            </a:r>
            <a:endParaRPr lang="zh-CN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556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4</a:t>
            </a:r>
            <a:endParaRPr lang="zh-CN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048256"/>
            <a:ext cx="5440680" cy="331012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048256"/>
            <a:ext cx="5440680" cy="603504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2194560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基础归类</a:t>
            </a:r>
            <a:endParaRPr lang="zh-CN" sz="2200" dirty="0"/>
          </a:p>
        </p:txBody>
      </p:sp>
      <p:sp>
        <p:nvSpPr>
          <p:cNvPr id="11" name="Text 9"/>
          <p:cNvSpPr/>
          <p:nvPr/>
        </p:nvSpPr>
        <p:spPr>
          <a:xfrm>
            <a:off x="777240" y="2880360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285292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执行循环</a:t>
            </a:r>
            <a:endParaRPr lang="zh-CN" sz="1900" dirty="0"/>
          </a:p>
        </p:txBody>
      </p:sp>
      <p:sp>
        <p:nvSpPr>
          <p:cNvPr id="13" name="Text 11"/>
          <p:cNvSpPr/>
          <p:nvPr/>
        </p:nvSpPr>
        <p:spPr>
          <a:xfrm>
            <a:off x="1325880" y="3236976"/>
            <a:ext cx="4434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决策、多步行动、反馈后再决策</a:t>
            </a:r>
            <a:endParaRPr lang="zh-CN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3657600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15" name="Text 13"/>
          <p:cNvSpPr/>
          <p:nvPr/>
        </p:nvSpPr>
        <p:spPr>
          <a:xfrm>
            <a:off x="1325880" y="363016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个人服务关系</a:t>
            </a:r>
            <a:endParaRPr lang="zh-CN" sz="1900" dirty="0"/>
          </a:p>
        </p:txBody>
      </p:sp>
      <p:sp>
        <p:nvSpPr>
          <p:cNvPr id="16" name="Text 14"/>
          <p:cNvSpPr/>
          <p:nvPr/>
        </p:nvSpPr>
        <p:spPr>
          <a:xfrm>
            <a:off x="1325880" y="4014216"/>
            <a:ext cx="4434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围绕具体个人的需求和目标工作</a:t>
            </a:r>
            <a:endParaRPr lang="zh-CN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4434840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440740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个人上下文参与</a:t>
            </a:r>
            <a:endParaRPr lang="zh-CN" sz="1900" dirty="0"/>
          </a:p>
        </p:txBody>
      </p:sp>
      <p:sp>
        <p:nvSpPr>
          <p:cNvPr id="19" name="Text 17"/>
          <p:cNvSpPr/>
          <p:nvPr/>
        </p:nvSpPr>
        <p:spPr>
          <a:xfrm>
            <a:off x="1325880" y="4791456"/>
            <a:ext cx="4434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资料、偏好与约束影响实际执行</a:t>
            </a:r>
            <a:endParaRPr lang="zh-CN" sz="1500" dirty="0"/>
          </a:p>
        </p:txBody>
      </p:sp>
      <p:sp>
        <p:nvSpPr>
          <p:cNvPr id="20" name="Shape 18"/>
          <p:cNvSpPr/>
          <p:nvPr/>
        </p:nvSpPr>
        <p:spPr>
          <a:xfrm>
            <a:off x="6199632" y="2048256"/>
            <a:ext cx="5440680" cy="3310128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9632" y="2048256"/>
            <a:ext cx="5440680" cy="603504"/>
          </a:xfrm>
          <a:prstGeom prst="rect">
            <a:avLst/>
          </a:prstGeom>
          <a:solidFill>
            <a:srgbClr val="E8EDF6"/>
          </a:solidFill>
          <a:ln w="7620">
            <a:solidFill>
              <a:srgbClr val="E8ED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9088" y="2194560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本系列重点：持续服务</a:t>
            </a:r>
            <a:endParaRPr lang="zh-CN" sz="2200" dirty="0"/>
          </a:p>
        </p:txBody>
      </p:sp>
      <p:sp>
        <p:nvSpPr>
          <p:cNvPr id="23" name="Text 21"/>
          <p:cNvSpPr/>
          <p:nvPr/>
        </p:nvSpPr>
        <p:spPr>
          <a:xfrm>
            <a:off x="6428232" y="2880360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1200" dirty="0"/>
          </a:p>
        </p:txBody>
      </p:sp>
      <p:sp>
        <p:nvSpPr>
          <p:cNvPr id="24" name="Text 22"/>
          <p:cNvSpPr/>
          <p:nvPr/>
        </p:nvSpPr>
        <p:spPr>
          <a:xfrm>
            <a:off x="6976872" y="285292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跨会话上下文</a:t>
            </a:r>
            <a:endParaRPr lang="zh-CN" sz="1900" dirty="0"/>
          </a:p>
        </p:txBody>
      </p:sp>
      <p:sp>
        <p:nvSpPr>
          <p:cNvPr id="25" name="Text 23"/>
          <p:cNvSpPr/>
          <p:nvPr/>
        </p:nvSpPr>
        <p:spPr>
          <a:xfrm>
            <a:off x="6976872" y="3236976"/>
            <a:ext cx="4434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沿用并修正偏好、约束与已有结论</a:t>
            </a:r>
            <a:endParaRPr lang="zh-CN" sz="1500" dirty="0"/>
          </a:p>
        </p:txBody>
      </p:sp>
      <p:sp>
        <p:nvSpPr>
          <p:cNvPr id="26" name="Text 24"/>
          <p:cNvSpPr/>
          <p:nvPr/>
        </p:nvSpPr>
        <p:spPr>
          <a:xfrm>
            <a:off x="6428232" y="3657600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1200" dirty="0"/>
          </a:p>
        </p:txBody>
      </p:sp>
      <p:sp>
        <p:nvSpPr>
          <p:cNvPr id="27" name="Text 25"/>
          <p:cNvSpPr/>
          <p:nvPr/>
        </p:nvSpPr>
        <p:spPr>
          <a:xfrm>
            <a:off x="6976872" y="363016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工作延续</a:t>
            </a:r>
            <a:endParaRPr lang="zh-CN" sz="1900" dirty="0"/>
          </a:p>
        </p:txBody>
      </p:sp>
      <p:sp>
        <p:nvSpPr>
          <p:cNvPr id="28" name="Text 26"/>
          <p:cNvSpPr/>
          <p:nvPr/>
        </p:nvSpPr>
        <p:spPr>
          <a:xfrm>
            <a:off x="6976872" y="4014216"/>
            <a:ext cx="4434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继续任务，或按时间、事件重复执行</a:t>
            </a:r>
            <a:endParaRPr lang="zh-CN" sz="1500" dirty="0"/>
          </a:p>
        </p:txBody>
      </p:sp>
      <p:sp>
        <p:nvSpPr>
          <p:cNvPr id="29" name="Text 27"/>
          <p:cNvSpPr/>
          <p:nvPr/>
        </p:nvSpPr>
        <p:spPr>
          <a:xfrm>
            <a:off x="6428232" y="4434840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456F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1200" dirty="0"/>
          </a:p>
        </p:txBody>
      </p:sp>
      <p:sp>
        <p:nvSpPr>
          <p:cNvPr id="30" name="Text 28"/>
          <p:cNvSpPr/>
          <p:nvPr/>
        </p:nvSpPr>
        <p:spPr>
          <a:xfrm>
            <a:off x="6976872" y="440740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1E34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持续跟进</a:t>
            </a:r>
            <a:endParaRPr lang="zh-CN" sz="1900" dirty="0"/>
          </a:p>
        </p:txBody>
      </p:sp>
      <p:sp>
        <p:nvSpPr>
          <p:cNvPr id="31" name="Text 29"/>
          <p:cNvSpPr/>
          <p:nvPr/>
        </p:nvSpPr>
        <p:spPr>
          <a:xfrm>
            <a:off x="6976872" y="4791456"/>
            <a:ext cx="4434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171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根据变化调整后续动作，交回待决事项</a:t>
            </a:r>
            <a:endParaRPr lang="zh-CN" sz="1500" dirty="0"/>
          </a:p>
        </p:txBody>
      </p:sp>
      <p:sp>
        <p:nvSpPr>
          <p:cNvPr id="32" name="Shape 30"/>
          <p:cNvSpPr/>
          <p:nvPr/>
        </p:nvSpPr>
        <p:spPr>
          <a:xfrm>
            <a:off x="548640" y="5605272"/>
            <a:ext cx="11091672" cy="566928"/>
          </a:xfrm>
          <a:prstGeom prst="rect">
            <a:avLst/>
          </a:prstGeom>
          <a:solidFill>
            <a:srgbClr val="DDEFE9"/>
          </a:solidFill>
          <a:ln w="7620">
            <a:solidFill>
              <a:srgbClr val="DDEF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5724144"/>
            <a:ext cx="10689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078F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记住偏好、定时执行、持续推进目标，需要分别验证。</a:t>
            </a:r>
            <a:endParaRPr lang="zh-CN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AI Agent 学习笔记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一、什么是 Personal Agent</dc:title>
  <dc:subject>Personal Agent 系列（一）：概念、产品与应用场景 · 第一部分</dc:subject>
  <dc:creator>Sky</dc:creator>
  <cp:lastModifiedBy>Sky</cp:lastModifiedBy>
  <cp:revision>1</cp:revision>
  <dcterms:created xsi:type="dcterms:W3CDTF">2026-10-24T09:24:15Z</dcterms:created>
  <dcterms:modified xsi:type="dcterms:W3CDTF">2026-10-24T09:24:15Z</dcterms:modified>
</cp:coreProperties>
</file>