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30 秒。
我最近围绕 Personal Agent 做了一轮产品调研。这次先建立共同认识：它是什么、可以承担哪些工作，与 OpenClaw 和 Harness 的关系是什么，再看发展脉络，随后重点展开 Muse、Dots、Claude Duet 和 WorkBuddy 的产品与具体委托场景。每款有独立的产品页和场景页。这里保留公开资料、我的理解与实测证据的区别，不展开技术实现。全程约 50 分钟：前四部分 15 分钟作引导，产品与场景 25 分钟，演示 5 分钟，总结 2 分钟、交流 3 分钟。原有资料阅读日期为 2026-10-24，演进与四款重点资料于 2026-10-25 补充；没有新增产品实测。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AI Agent 是以大语言模型为决策核心，在多步循环里对环境采取行动，并根据反馈继续迭代，直到目标完成或失败的软件系统。
这里采用已有学习笔记的 LLM Agent 工作定义，不覆盖传统人工智能中所有 Agent。下一步由模型决定，能够多步行动，并依据工具与环境反馈继续调整。只看对话轮数，或者看到一次工具调用，都不足以确认执行循环。自主程度可以不同，用户审批和人工介入不妨碍 Agent 形态成立。
本地依据：content/zh-cn/definition/what-is-ai-agent/index.md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30 秒。
以调研为例，我给出目标，Agent 决定检索方向，调用搜索与阅读工具，观察实际取得的资料。如果发现来源已过期或不同文档互相矛盾，模型需要决定补查哪些来源，然后整理文件并检查引用。图中是一条便于理解的路径，实际执行中每一步都可能依据反馈调整，不是写死的四步工作流。
这个例子用于解释判断方法，不表示某款产品已经完成此项实测。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75 秒。
Personal Agent 是以具体个人为服务对象，利用其个人上下文，在授权范围内自主组织并执行任务的 AI 智能体。
这是结合研究论文与社区资料归纳的工作定义，不是统一行业标准。2024 年综述关注与个人数据、设备和服务结合；W3C 社区组材料关注代表具体用户与用户利益，后者不是正式 W3C 标准。
我理解的个人，首先是围绕具体个人的目标；其次是资料、偏好、工作背景与约束会真正影响判断；最后是根据委托代表用户推进任务。生活与工作都可以纳入。仍用调研示例，如果系统能结合我的方向、已有笔记和写作习惯补充缺口，个人上下文才实际进入工作。
资料：https://arxiv.org/html/2401.05459v2#S3
社区材料：https://www.w3.org/2024/01/webevolve-series-events/annual-2025/slides/ai-agent-protocol-cg.pdf
阅读日期：2026-10-24；论文为 2024-05-08 修订的 v2，社区材料来自 2025 年活动。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55 秒。
我先检查是否有 Agent 执行循环，再看它是否围绕具体个人工作，个人上下文是否实际影响执行。在基础归类之上，本系列更关注长期服务：跨会话使用并修正上下文，延续任务或承担重复工作，以及根据变化持续跟进。
这三类能力不能相互代替；有定时任务，不等于可以自行持续推进一个长期目标。我也不把所有能力齐备作为统一准入门槛，单次委托可以发生在个人代理中。独立电脑、云端常驻和多代理协作属于具体路线。后续按个人模式、团队模式和运行底座分别判断，官方说明与实测结果分别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30 秒。
第一部分给出定义后，我更关心哪些工作可以交出去。我把调研中看到的应用归为三类：信息与事务、调研与交付、持续跟踪。三类是帮助理解场景的归纳，不是官方产品分类，也不要求每个产品都具备全部能力。接下来各用一个具体委托说明输入、处理过程、结果和用户参与。
证据范围：以下委托是作者归纳的场景示例，没有新增产品实测。公开能力以具体产品、版本、地区、套餐、连接服务和授权为准。引用资料为动态文档，均于 2026-10-24 读取；不将读取日期作为发布日期。
官方来源：https://support.claude.com/en/articles/17631495-get-started-with-claude-duet
官方来源：https://support.google.com/gemini/answer/17094507?hl=en
官方来源：https://www.workbuddy.cn/docs/workbuddy/Overview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70 秒。
建议从每天的邮件和会议说起。我需要的往往是知道哪些消息要回复、会议前要读什么，以及后续动作怎么落实。这个示例要求 Agent 读取获准访问的邮件和日历，结合本周交付重点筛选，再形成待办、会议材料和回复草稿。
晨间邮件与日历简报、回复草稿已有 Claude Duet 的官方功能说明，但这里不是对它的实测。我的参与仍包括检查遗漏、确认安排和决定发送。生活中也可以用相同方式整理行程；能否修改日程或预订，取决于具体接入与授权。资料汇总、准备方案、实际对外提交，要按不同的交付程度理解。
证据范围：以下委托是作者归纳的场景示例，没有新增产品实测。公开能力以具体产品、版本、地区、套餐、连接服务和授权为准。引用资料为动态文档，均于 2026-10-24 读取；不将读取日期作为发布日期。
官方来源：https://support.claude.com/en/articles/17631495-get-started-with-claude-duet
官方来源：https://support.google.com/gemini/answer/17094507?hl=en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70 秒。
与我的工作更相关的是调研和成果交付。我希望委托的不只是检索，还包括筛选来源、核对差异、组织分析，并按要求更新文档和表格。这里以三个产品比较为例，既要使用已有资料，也要补充缺口、核对来源与日期；缺少依据的部分单列，不补猜。
输出可以是笔记、分析表、PPT，也可以是展示结果的小工具。WorkBuddy 官方介绍给出了文件处理、自主执行和可验收成果的例子，Gemini Task 文档也说明带引用的调研与文件交付。具体效果还需要实际验收。我会检查来源、条件、事实与推断，以及文件是否可继续修改，不能把生成文件直接当作可靠分析已经完成。
证据范围：以下委托是作者归纳的场景示例，没有新增产品实测。公开能力以具体产品、版本、地区、套餐、连接服务和授权为准。引用资料为动态文档，均于 2026-10-24 读取；不将读取日期作为发布日期。
官方来源：https://www.workbuddy.cn/docs/workbuddy/Overview
官方来源：https://support.google.com/gemini/answer/17094507?hl=en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70 秒。
还有些工作需要重复进行，并在变化发生后接着处理。我可以把前面的调研延伸成四周职责：指定对象与来源，工作日检查、周五汇总，开放条件变化时单独通知，准备笔记草稿但合入前交给我确认。相比只说每天发新闻，这明确了范围、交付和通知条件。
Gemini Task 文档列出持续任务、信息跟踪和文件交付，但具体触发与动作仍要按产品确认。运行环境同样重要。WorkBuddy 官方文档区分本地、项目与云端任务：本地由本机客户端执行，云端在沙箱执行，无需电脑在线，不能把一种路径的条件套到另一种。
我关注每次是否执行、变化是否判断正确、结果是否交付，以及如何调整和结束职责。周期执行不自动等于持续推进目标，后台工作仍受资源、权限和用量限制。表达委托时，我会交代目标、资料、成果、时间和需要我决定的动作，后面也据此比较产品的侧重。
证据范围：以下委托是作者归纳的场景示例，没有新增产品实测。公开能力以具体产品、版本、地区、套餐、连接服务和授权为准。引用资料为动态文档，均于 2026-10-24 读取；不将读取日期作为发布日期。
官方来源：https://support.google.com/gemini/answer/17094507?hl=en
官方来源：https://www.workbuddy.cn/docs/workbuddy/From-Beginner-to-Expert-Guide/Function-Description/Automation-Guide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40 秒。
我先区分层次：Personal Agent 是面向具体个人的产品或使用形态；OpenClaw 是可以自行运行的软件方案；Harness 是支撑执行的运行软件。它们可以重叠，不能看成三个互斥类别。这里不展开组件结构，只为后面比较产品建立共同语言。
资料：
OpenClaw 文档：https://docs.openclaw.ai/
DeepSeek Harness 产品页：https://www.deepseek.com/en/harness/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40 秒。
用每周更新笔记举例：托管产品主要由厂商安排运行条件，我配置资料与委托；自建方案还要由我或维护者安排部署、接入和维护。两者都可能服务个人，差别是责任怎样分配。先看具体交付，再考虑投入与掌控程度。
资料：
OpenClaw 文档：https://docs.openclaw.ai/
Muse 公告，2026-09-08：https://about.fb.com/news/2026/09/introducing-muse-personal-ai-agent/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40 秒。
DeepSeek Harness 同时提供工作助手与运行底座，但外部记忆接入示例默认关闭。支持扩展，不等于已经得到长期个人助手。因此分别看运行能力、实际配置与成果，不按名称归类。这页只保留边界，后面回到直接面向用户的产品。
资料：
DeepSeek Harness 产品页：https://www.deepseek.com/en/harness/
Harness 记忆接入：https://deepseek-harness.github.io/deepseek-harness/en/guide/mcp-memory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这张时间线用两条线理解变化：越来越能完成工作，以及越来越能持续为同一个人工作。2022—2023 年看反馈、工具、任务与记忆；2024 年看工作环境；2025 年重点看成果委托与运行系统；随后再看个人状态、渠道和触发如何结合。年份定位代表节点，不是统一阶段或能力诞生时间。下面每页只解释一个联系，具体论文与工程细节留在正文回看。
资料：
ReAct，2022-10-06：https://arxiv.org/abs/2210.03629
Toolformer，2023-02-09：https://arxiv.org/abs/2302.04761
MemGPT，2023-10-12 首次提交：https://arxiv.org/abs/2310.08560
原始日期／版本条件：2023-10-12；当前 v2 修订于 2024-02-12；阅读：2026-10-25。
Devin 公告，2024-03-12：https://cognition.com/blog/introducing-devin
原始日期／版本条件：2024-03-12；当时为早期访问；阅读：2026-10-25。
Manus 上下文工程，2025-07-18：https://manus.im/blog/Context-Engineering-for-AI-Agents-Lessons-from-Building-Manus
原始日期／版本条件：2025-07-18；团队技术自述；阅读：2026-10-25。
Claude Agent SDK，2025-09-29：https://claude.com/resources/articles/building-agents-with-the-claude-agent-sdk
原始日期／版本条件：2025-09-29；Claude Code SDK 更名及非编码用途；阅读：2026-10-25。
OpenClaw Gateway 架构：https://docs.openclaw.ai/concepts/architecture
原始日期／版本条件：动态文档，无统一固定版本号；不外推初版能力；阅读：2026-10-25。
Manus 2.0 / Cue，2026-09-28：https://manus.im/blog/introducing-manus-2-0
原始日期／版本条件：2026-09-28；Cue 当时为需邀请码的 early access；阅读：2026-10-25。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反馈循环接上工具后，还需要能工作的场所。Devin 的早期材料提供终端、编辑器和浏览器，computer use 扩展到屏幕操作，MCP 降低连接成本。与此同时，MemGPT 等研究已经探索记忆。因此操作软件、延续背景与完成工作要分别看。这里是技术对产品范围的影响，不展开论文结构，也不把早期预览当作长期可靠性证明。
资料：
ReAct，2022-10-06：https://arxiv.org/abs/2210.03629
Toolformer，2023-02-09：https://arxiv.org/abs/2302.04761
BabyAGI 作者回顾：https://yoheinakajima.com/birth-of-babyagi/
原始日期／版本条件：回顾 2023 年春季原型；阅读：2026-10-25。
Devin 公告，2024-03-12：https://cognition.com/blog/introducing-devin
原始日期／版本条件：2024-03-12；当时为早期访问；阅读：2026-10-25。
Claude computer use，2024-10-22：https://www.anthropic.com/news/3-5-models-and-computer-use
MCP 公告，2024-11-25：https://www.anthropic.com/news/model-context-protocol
原始日期／版本条件：2024-11-25；阅读：2026-10-25。
MemGPT，2023-10-12 首次提交：https://arxiv.org/abs/2310.08560
原始日期／版本条件：2023-10-12；当前 v2 修订于 2024-02-12；阅读：2026-10-25。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Manus 是 2025 年的重要产品例子。模型、工具和云端电脑组合起来，用户可以委托一个成果，再由系统组织步骤。我关注从逐步安排操作到围绕成果委托的变化，而不是判断谁首次发明通用 Agent。云端任务的环境寿命、权限与实际完成质量仍需具体看。这一页保留它在演进中的位置，原始来源和版本差异放在正文。
资料：
Manus 回顾，2025-06-26：https://manus.im/blog/what-we-saw-in-the-past-three-months-and-what-we-see-in-the-future
原始日期／版本条件：2025-06-26；回顾同年 3 月推出的产品；阅读：2026-10-25。
E2B / Manus，2025-05-06：https://e2b.dev/customers/how-manus-uses-e2b-to-provide-agents-with-virtual-computers
原始日期／版本条件：2025-05-06；基础设施供应商对当时合作的说明；阅读：2026-10-25。
Claude 3.7 / Code，2025-02-24：https://www.anthropic.com/news/claude-3-7-sonnet
原始日期／版本条件：2025-02-24；Code 当时为 limited research preview；阅读：2026-10-25。
Manus 上下文工程，2025-07-18：https://manus.im/blog/Context-Engineering-for-AI-Agents-Lessons-from-Building-Manus
原始日期／版本条件：2025-07-18；团队技术自述；阅读：2026-10-25。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任务变长后，需要在有限上下文中管理资料，保存进度，检查结果并继续工作。Harness 就是在模型周围组织执行的软件，范围因项目而异。Claude Code SDK 更名为 Agent SDK，提供编码运行基础向研究和助理任务复用的例子。MCP、Skills 与 Harness 可以配合，并不是相互替代的阶段。这里只建立产品背后的工程原因，不展开内部实现。
资料：
Manus 上下文工程，2025-07-18：https://manus.im/blog/Context-Engineering-for-AI-Agents-Lessons-from-Building-Manus
原始日期／版本条件：2025-07-18；团队技术自述；阅读：2026-10-25。
Claude Agent SDK，2025-09-29：https://claude.com/resources/articles/building-agents-with-the-claude-agent-sdk
原始日期／版本条件：2025-09-29；Claude Code SDK 更名及非编码用途；阅读：2026-10-25。
长期 Agent harness，2025-11-26：https://www.anthropic.com/research/effective-harnesses-for-long-running-agents
原始日期／版本条件：2025-11-26；多上下文工作交接实例；阅读：2026-10-25。
MCP 公告，2024-11-25：https://www.anthropic.com/news/model-context-protocol
原始日期／版本条件：2024-11-25；阅读：2026-10-25。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OpenClaw 说明一次执行怎样接入日常：有持续可达的渠道，有可延续的工作状态，还能按时间或事件启动。常驻的是服务和状态管理，模型可以按需调用。前身在 2025 年底，当前名称和能力又有后续变化，不能混成一个时点。这个组织方式为持续个人服务提供条件，但定时唤醒仍不等于正确处理所有事务。
资料：
OpenClaw 历史记录：https://docs.openclaw.ai/start/lore
原始日期／版本条件：官方项目历史叙事；前身在 2025 年底，2026 年初更名；阅读：2026-10-25。
OpenClaw Gateway 架构：https://docs.openclaw.ai/concepts/architecture
原始日期／版本条件：动态文档，无统一固定版本号；不外推初版能力；阅读：2026-10-25。
OpenClaw 运行时：https://docs.openclaw.ai/concepts/agent
原始日期／版本条件：动态文档，无统一固定版本号；按本次读取状态理解；阅读：2026-10-25。
OpenClaw Automations：https://docs.openclaw.ai/automation/cron-jobs
原始日期／版本条件：动态文档；调度、持久化任务与结果投递；阅读：2026-10-25。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50 秒。
最后把两条线接起来。记忆有更早研究，Manus Projects 也已在 2025 年保存项目背景；到后续产品，个人资源、工作环境和持续入口进一步结合。我会分别问：能把什么工作做完，能在多大程度上持续为我工作。长任务、记忆、定时执行都不是单独的充分证明。带着这两个问题进入重点产品和场景。
资料：
Manus Projects，2025-12-01：https://manus.im/blog/manus-projects
原始日期／版本条件：2025-12-01；阅读：2026-10-25。
Projects / Connectors，2025-12-19：https://manus.im/blog/projects-connectors
原始日期／版本条件：2025-12-19；当时公告称向所有用户开放；阅读：2026-10-25。
Manus 2.0 / Cue，2026-09-28：https://manus.im/blog/introducing-manus-2-0
原始日期／版本条件：2026-09-28；Cue 当时为需邀请码的 early access；阅读：2026-10-25。
MemGPT，2023-10-12 首次提交：https://arxiv.org/abs/2310.08560
原始日期／版本条件：2023-10-12；当前 v2 修订于 2024-02-12；阅读：2026-10-25。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60 秒。
先建立第一批八款的地图，这里不逐行念功能。接下来重点看 Muse、Dots、Claude Duet 和 WorkBuddy，每款先讲产品，再用一个完整委托说明。四款大致提供个人目标、持续职责、主动工作关注和办公成果四个观察入口，但能力可以交叉。这是我选择讲述的侧重，不是能力排名。其余四款与第二批对象用于补充不同组织路线，名单仍保持两批各八个。
资料：
Muse 公告，2026-09-08：https://about.fb.com/news/2026/09/introducing-muse-personal-ai-agent/
Dots 官方文档：https://learn.chatgpt.com/docs/dots/tasks-and-memory
Cue / Manus 官方帮助：https://help.manus.im/zh-CN/articles/17190150-manus-2-0-有哪些新变化
Gemini Task 帮助：https://support.google.com/gemini/answer/17094507?hl=en
Grok Bot 官方概览：https://docs.x.ai/grok-bot/overview
OpenClaw 文档：https://docs.openclaw.ai/
WorkBuddy 官方介绍：https://www.workbuddy.cn/docs/workbuddy/Overview
Duet 当前帮助：https://support.claude.com/en/articles/17631495-get-started-with-claude-duet
整理／读取日期：2026-10-25（重点四款）；其余样本沿用 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我把 Muse 作为个人目标型产品来理解。先从使用入口看：通过应用或 WhatsApp 交谈，把背景和目标交给同一个代理。产品设计又提供 Goals、Activity 和 Artifacts，分别帮助查看目标、过程和成果。这让工作从一次回答扩展成可继续讨论和修订的事情。上述入口来自官方产品资料，不是本轮新增实测。
我选择三类场景说明适用范围：生活里的行程与家庭安排；围绕个人时间和既有记录维护的计划；经营者围绕资料和应用做内容或业务分析。后者有单独的小企业技能与连接器公告，因此 Muse 不能只按生活聊天助手理解。
这里看重的不是每件事都要交给它，而是资料分散、目标有多个步骤、后续可能变化时，系统能否减少我的整理和跟进。需要哪些应用、能够执行到哪一步，仍由实际连接与授权决定。发消息、发布和花费在公告中有批准要求。下一页用一个尚未执行的旅行委托，说明这种产品体验到底承接哪些步骤。
资料：
Muse 发布介绍：https://about.fb.com/news/2026/09/introducing-muse-personal-ai-agent/
原始日期／版本条件：2026-09-08；发布时的推出范围，不外推当前全部能力；阅读：2026-10-25。
Muse 产品设计：https://introducing.muse.ai/
原始日期／版本条件：2026 年 9 月；Mona Sarantakos 与 Christine Awad 的产品设计说明；阅读：2026-10-25。
Muse 经营场景：https://about.fb.com/news/2026/09/introducing-muse-small-business/
原始日期／版本条件：2026-09-29，更新 2026-10-08；公告写美国和加拿大，具体功能以账号为准；阅读：2026-10-25。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这是我构造的场景，没有实际预订或产品运行结果。假设下月有两天可用时间，我提供预算、出行偏好、同行人和已经确定的安排。委托的结果是两套可比较方案，而不是让系统一次推荐几个景点。
预期工作分为几步：先整理约束，找出缺的信息；比较交通与住宿，给出行程和费用；把需要我决定的地方单列。如果我中途改变出发时间，就让它说明哪些原安排受影响，在已有方案上继续修订。预订和付款暂不授权。
这个案例的适用条件很具体：我确实愿意提供相关资料，授权的网站能访问，产品能交付可检查的方案。并不因为官方有旅行场景，就能保证每个网站都可用、每个价格都正确。验收时我会查看票价时点、退改条件、时间冲突和待定项有没有消失。它说明的是目标委托怎样延续，后面的现场 Muse 演示仍用短材料周报，只观察基本操作和修订。
资料：
Muse 发布介绍：https://about.fb.com/news/2026/09/introducing-muse-personal-ai-agent/
原始日期／版本条件：2026-09-08；发布时的推出范围，不外推当前全部能力；阅读：2026-10-25。
Muse 产品设计：https://introducing.muse.ai/
原始日期／版本条件：2026 年 9 月；Mona Sarantakos 与 Christine Awad 的产品设计说明；阅读：2026-10-25。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我理解 Dots 时，把一次任务和一份职责分开。一份比较表可以一次生成，但某个主题的资料维护，需要在新版本、新决定和新约束出现时继续处理。dot 可以承担多份职责，用户补充优先级时，主对话仍然延续。官方也说明它可以委派后台任务，让具体工作并行，而用户继续和主 dot 交谈。
个人背景不意味着全部历史都自动可用。当前对话、相关 ChatGPT 记忆与 dot 自己的笔记各有作用，新任务又有自己的上下文。这里不展开实现，只看用户是否减少了重复解释，以及后续结论是否保留来源。
我用研究资料维护、项目变化跟进、反馈转成修订三类职责观察它。Activity 用来查看任务过程与成果，Scheduled 用来确认周期工作。主动研究、已分配工作和按时运行也各有范围，不能把接入一个应用当作已经开始监控。这个定位来自官方文档，本轮没有 Dots 账号实测。下一页把它落到一份四周的研究职责。
资料：
Dots 产品文档：https://learn.chatgpt.com/docs/dots
原始日期／版本条件：动态文档；账号、地区与工作空间条件分别确认；阅读：2026-10-25。
Dots 任务与记忆：https://learn.chatgpt.com/docs/dots/tasks-and-memory
原始日期／版本条件：动态文档；当前上下文、相关 ChatGPT 记忆与 dot 自身笔记分别理解；阅读：2026-10-25。
Dots 工作检查与控制：https://learn.chatgpt.com/docs/dots/controls
原始日期／版本条件：动态文档；主任务、委派任务与周期排程分别停止；阅读：2026-10-25。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这个四周研究职责是我的构造示例。先提供三个框架、关注的运行平台维度、旧表和来源清单。第一轮工作是建立有版本、日期和引用的基线，后续再核对新资料对旧结论的影响。每周给我变更表，有可能影响部署选择的内容则单独说明依据和待决问题，笔记修改先给草稿。
我希望看到持续职责与具体任务的关系：生成一张比较表只是一次交付，跟踪和修订才是延续。周期工作要确认实际保存的时区、时间与结束条件，事件监控也要确认来源是否支持。
还要检查执行位置。云端电脑可以做研究与文件工作；需要本机项目时，个人电脑应在线且 ChatGPT 打开。消息渠道、应用与电脑连接不自动互相授权。主任务、派生任务与排程也需要分别查看和结束。这个案例不证明它已经能可靠完成四周工作，我会在未来实际运行时保存变更、遗漏、修订和人工决定。
资料：
Dots 任务与记忆：https://learn.chatgpt.com/docs/dots/tasks-and-memory
原始日期／版本条件：动态文档；当前上下文、相关 ChatGPT 记忆与 dot 自身笔记分别理解；阅读：2026-10-25。
Dots 电脑与应用：https://learn.chatgpt.com/docs/dots/computers-and-apps
原始日期／版本条件：动态文档；本机工作需要设备在线且 ChatGPT 应用打开；阅读：2026-10-25。
Dots 工作检查与控制：https://learn.chatgpt.com/docs/dots/controls
原始日期／版本条件：动态文档；主任务、委派任务与周期排程分别停止；阅读：2026-10-25。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Duet 更直接地从人的工作关注切入。它不仅接受我明确列出的任务，还尝试从授权的邮件、日历和其他应用中找出该准备、该回复或该决定的事情。晨间简报、任务状态、待输入项和成果入口构成了可见的产品体验。这里主动性的价值，需要看是否减少了我查找材料和回忆待办的负担，不能只看通知有多少。
我用会前准备、未回复事项、经营账单三类场景解释。它也能完成明确的研究、表格或幻灯片委托，因此不是只能发简报。与 Cowork 的交集仍然存在：一个更突出主动发现与跟进，一个更容易从知识成果委托观察；后台与周期工作并不是二者的绝对分界。
当前是美国 Pro / Max 候补邀请的研究预览，后台会消耗同一套餐用量，检查也有间隔。没有 Microsoft 365 连接，不能观看或接管其浏览器；读到的内容和可执行动作都要按具体连接看。我们不把发布愿景写成可随时接管全部工作的保证。下一页用一次项目评审准备说明它怎样把信息转成待办。
资料：
Duet 发布公告：https://claude.com/resources/articles/claude-duet
原始日期／版本条件：2026-10-21；美国 Pro / Max 候补邀请研究预览；阅读：2026-10-25。
Duet 当前功能与条件：https://support.claude.com/en/articles/17631495-get-started-with-claude-duet
原始日期／版本条件：动态帮助；后台计入套餐用量、存在检查间隔、当前 Microsoft 365 尚未提供；阅读：2026-10-25。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这里是我构造的一周项目评审场景，不是 Duet 的运行记录。我明确提供评审文件，授权相应邮件和日历，要求整理会前材料、未回复问题与需要我决定的事项。它不能凭空读取所有项目或我电脑上的资料，也没有自动参加会议这个环节。
我期望收到的是可以用于准备的材料：这次评审谈什么、哪份文档需要先读、哪些问题还没回复、我需要决定什么。回复先起草，安排先提出，不能擅自对外承诺。收到结果之后，我检查引用、遗漏和紧急程度，再决定是否发送或变更安排。
场景的重点不是生成一张漂亮清单，而是信息筛选是否准确、有用，打扰是否合适。官方有类似会前资料与工作跟进示例，但当前检查存在间隔，不能当实时告警。关闭应用后云端工作可以继续，也不等于无需额度和权限。后续验证时，我会把漏掉了什么、错误升级了什么、草稿改了多少分别记下来，而不把通知出现视为任务完成。
资料：
Duet 发布公告：https://claude.com/resources/articles/claude-duet
原始日期／版本条件：2026-10-21；美国 Pro / Max 候补邀请研究预览；阅读：2026-10-25。
Duet 当前功能与条件：https://support.claude.com/en/articles/17631495-get-started-with-claude-duet
原始日期／版本条件：动态帮助；后台计入套餐用量、存在检查间隔、当前 Microsoft 365 尚未提供；阅读：2026-10-25。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WorkBuddy 从国内办公中已有的材料进入工作。它可以围绕文件和应用执行任务，官方还给出了 Excel 或 CSV 数据分析、图表和报告的工作方式，以及腾讯文档的搜索、引用与回写。这些说明便于理解资料怎样变成可继续使用的成果，不代表我本轮已经验证了每种文件格式和生成质量。
我重点看文件整理、周期汇总、研究材料转文档和 PPT。个人记忆可以延续偏好；项目又有团队共享配置与协作范围，两者要分别看，不能把所有项目资料都写成个人记忆。
国内入口是另一个实际条件。远程助理可以从微信、企业微信、QQ、钉钉或飞书触发电脑端工作，但需要主机开机、客户端运行。定时任务另有本地、项目和云端来源，云端标识任务无需本机在线。这里先讲用户需要理解的差异，不展开底层组件。它是否适合具体工作，仍要看资料可用性、处理位置和产物是否能验收。下一页用一组项目材料到一组办公成果来说明。
资料：
WorkBuddy 产品简介：https://www.workbuddy.cn/docs/workbuddy/Overview
原始日期／版本条件：动态文档；个人、团队与企业范围分别看；阅读：2026-10-25。
WorkBuddy 数据分析案例：https://www.workbuddy.cn/docs/workbuddy/From-Beginner-to-Expert-Guide/Practice-Cases/Practice-Three
原始日期／版本条件：动态官方案例；支持的工作方式，不是作者执行结果；阅读：2026-10-25。
WorkBuddy 腾讯文档接入：https://www.workbuddy.cn/docs/workbuddy/From-Beginner-to-Expert-Guide/Function-Description/Knowledge-Base/Tencent-Doc
原始日期／版本条件：动态文档；授权后的搜索、引用、回写，版本菜单可能不同；阅读：2026-10-25。
WorkBuddy 个人记忆：https://www.workbuddy.cn/docs/workbuddy/From-Beginner-to-Expert-Guide/Function-Description/Memory
原始日期／版本条件：动态文档；个人记忆与项目共享配置分开；阅读：2026-10-25。
WorkBuddy 项目：https://www.workbuddy.cn/docs/workbuddy/From-Beginner-to-Expert-Guide/Function-Description/Project
原始日期／版本条件：动态文档；项目为团队共享配置与任务，不等于个人记忆；阅读：2026-10-25。
WorkBuddy 远程助理：https://www.workbuddy.cn/docs/workbuddy/From-Beginner-to-Expert-Guide/Function-Description/Assistant
原始日期／版本条件：动态文档；远程触发本机任务需要电脑开机且客户端运行；阅读：2026-10-25。
WorkBuddy 定时任务：https://www.workbuddy.cn/docs/workbuddy/From-Beginner-to-Expert-Guide/Function-Description/Automation-Guide
原始日期／版本条件：动态文档；本地、项目、云端来源分开，云端任务无需电脑在线；阅读：2026-10-25。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这是一项我设计的组合委托，没有新增 WorkBuddy 执行结果。我准备指定的进度表、问题记录和会议纪要，说明本周范围、指标口径、输出位置和模板；要求交付汇总表、进度图及五页 PPT，并区分完成、进行中和待确认状态。
期望的处理顺序是先对齐资料，再做统计与呈现：项目名称和日期不一致时先找问题，重复项先合并，缺数不要补猜。图表与 PPT 必须保留相同口径，关键结论要能回到来源。继续修订时，验收的是是否沿用这些事实和口径，而不只是修改措辞。
这个案例展示的是文件到成果的产品入口。腾讯文档可以在授权后参与引用与更新，但本例先不覆盖原件，也不默认把目录全部传到某个云端。选定本机或云端执行前，我会核对材料位置和权限。未来真正运行时，再保存输入、产物、修订与人工核验，不能把官方文件处理能力自动等同于报告已经准确。
资料：
WorkBuddy 产品简介：https://www.workbuddy.cn/docs/workbuddy/Overview
原始日期／版本条件：动态文档；个人、团队与企业范围分别看；阅读：2026-10-25。
WorkBuddy 数据分析案例：https://www.workbuddy.cn/docs/workbuddy/From-Beginner-to-Expert-Guide/Practice-Cases/Practice-Three
原始日期／版本条件：动态官方案例；支持的工作方式，不是作者执行结果；阅读：2026-10-25。
WorkBuddy 腾讯文档接入：https://www.workbuddy.cn/docs/workbuddy/From-Beginner-to-Expert-Guide/Function-Description/Knowledge-Base/Tencent-Doc
原始日期／版本条件：动态文档；授权后的搜索、引用、回写，版本菜单可能不同；阅读：2026-10-25。
WorkBuddy 定时任务：https://www.workbuddy.cn/docs/workbuddy/From-Beginner-to-Expert-Guide/Function-Description/Automation-Guide
原始日期／版本条件：动态文档；本地、项目、云端来源分开，云端任务无需电脑在线；阅读：2026-10-25。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90 秒。
其余四款仍在第一批，简要补充不同路线。Cue 用角色团队组织工作，重点看交接是否减少协调；Gemini 这里具体指 Task 形态，从 Google 应用与已有背景进入任务；Grok Bot 用长期角色与可复用方法组织云端工作，个人与团队范围分开；OpenClaw 由运行者组合渠道、工具和状态，同时承担部署维护。这些是已有资料的观察入口，不能说只有该产品能做对应工作。此处没有新增四款的版本审计，详细材料继续留在各产品目录。
资料：
Cue / Manus 官方帮助：https://help.manus.im/zh-CN/articles/17190150-manus-2-0-有哪些新变化
Gemini Task 帮助：https://support.google.com/gemini/answer/17094507?hl=en
Grok Bot 官方概览：https://docs.x.ai/grok-bot/overview
OpenClaw 文档：https://docs.openclaw.ai/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90 秒。
回到同一类工作：准备项目评审材料。我可以从个人目标组织整体安排，可以让一份研究职责持续维护，可以从邮件日历发现要准备的事项，也可以先把明确文件加工成汇报成果。四款产品都可能覆盖更多场景，这里的区别是我选择的委托入口。
它们是否真的减少工作负担，要用实际资料和相同验收标准继续检查。Muse 观察计划与修订，Dots 观察新旧结论的延续，Duet 观察简报和待决信息是否有用，WorkBuddy 观察数字、来源和文件是否便于继续处理。这不是已经完成的四款对照实验，也不构成产品排名。这样比较比只记住一张功能表更接近我的日常工作。
资料：
Muse 发布介绍：https://about.fb.com/news/2026/09/introducing-muse-personal-ai-agent/
原始日期／版本条件：2026-09-08；发布时的推出范围，不外推当前全部能力；阅读：2026-10-25。
Dots 产品文档：https://learn.chatgpt.com/docs/dots
原始日期／版本条件：动态文档；账号、地区与工作空间条件分别确认；阅读：2026-10-25。
Duet 发布公告：https://claude.com/resources/articles/claude-duet
原始日期／版本条件：2026-10-21；美国 Pro / Max 候补邀请研究预览；阅读：2026-10-25。
WorkBuddy 产品简介：https://www.workbuddy.cn/docs/workbuddy/Overview
原始日期／版本条件：动态文档；个人、团队与企业范围分别看；阅读：2026-10-25。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60 秒。
第二批只记一个观察点：Hermes 的自建记忆与技能，Autopilot 的组织内个人工作，Poke 的消息入口，Lindy 的个人团队边界，Kimi Claw 的 OpenClaw 产品化，Personal Computer 的个人电脑执行，Harness 的底座与助手交集，以及 Cowork 的知识交付。Personal Computer 仅作为参考。Harness 是边界样本，不能把十六个研究对象都说成已证实持续个人代理。Autopilot 和 Duet 的预览状态不等于归类不成立，能力与开放条件需分别记录。
资料：
Hermes 官方介绍：https://hermes-agent.nousresearch.com/
Autopilot 官方产品说明：https://www.microsoft.com/en-ca/copilot/
Poke 产品页：https://poke.com/
Lindy 记忆作用域：https://docs.lindy.ai/teammate/memory
Kimi Claw 帮助：https://www.kimi.com/help/kimi-claw/overview
Personal Computer 产品页：https://www.perplexity.ai/personal-computer
Harness 记忆接入：https://deepseek-harness.github.io/deepseek-harness/en/guide/mcp-memory
Cowork 多端与云端：https://support.claude.com/en/articles/15520349-use-claude-cowork-on-web-desktop-and-mobile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60 秒。
我准备一个小任务观察基本使用过程。三份输入是学习背景、本周记录和后续计划，全部标明模拟，不是真实经历。材料明确区分草稿、待核验与未执行实验，并含一次计划变更。目标是生成六百字以内的中文 Markdown 周报，三部分并注明来源，不能把计划写成结果。只使用输入材料，不连接真实邮箱、不联网、不发给别人。人工预期样例仅用于检查，不能当作 Muse 输出，也不作为输入。
资料：
作者归纳或已准备的模拟演示材料。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240 秒。
进入 Muse 新对话，使用实际账号支持的文件入口上传三份短文；没有该入口时按文件名分段粘贴。首次委托与修订文字保存在材料包 instructions.txt。先要求只依据材料整理三部分周报、附文件来源、不编日期、不把实验写成完成，并请求 Markdown 文件，不能生成附件就输出正文。初稿后要求把下周计划缩为三项，按依赖排序，保持实验尚未执行，其他部分不改。检查事实与来源，打开或保存结果。若等待较长，按真实状态解释卡点，展示材料与人工预期结构，明确不是实际输出。本节不能据一次任务证明长期记忆、离线执行或产品总体成功率。
资料：
作者归纳或已准备的模拟演示材料。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120 秒。
第一，先有 Agent 执行循环，再看个人服务关系与个人上下文，不能只看名字和部署。第二，事务、成果和持续跟踪都可以作为委托，但范围、结果、条件和待决动作要说清；记忆、周期执行与持续目标分别观察。第三，不同产品从不同入口出发，比较先选工作场景，再看资料、质量、人工参与和投入。这是本次阅读与比较的认识，不是产品排名。后续用实际记录修正。
资料：
作者归纳或已准备的模拟演示材料。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180 秒。
留三分钟交流，围绕具体工作选择下一步实践。最想交出去的一项重复劳动是什么？怎样的成果可以接受，哪些决定希望自己作出？哪一个产品或场景值得下一次用同一份材料实际验证？我会先把选定场景做成可复核记录，保存输入、结果、修订与条件，再研究个人上下文、工作延续与用户控制的实现。这次不提前铺开底层技术细节。
资料：
作者归纳或已准备的模拟演示材料。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9AD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· 系列（一）</a:t>
            </a:r>
            <a:endParaRPr lang="zh-CN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44475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</a:t>
            </a:r>
            <a:endParaRPr lang="zh-CN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2523744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概念、产品与应用场景</a:t>
            </a:r>
            <a:endParaRPr lang="zh-CN" sz="3200" dirty="0"/>
          </a:p>
        </p:txBody>
      </p:sp>
      <p:sp>
        <p:nvSpPr>
          <p:cNvPr id="5" name="Text 3"/>
          <p:cNvSpPr/>
          <p:nvPr/>
        </p:nvSpPr>
        <p:spPr>
          <a:xfrm>
            <a:off x="704088" y="34747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C4D5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什么是个人代理，能委托什么工作，主流产品各自侧重什么。</a:t>
            </a:r>
            <a:endParaRPr lang="zh-CN" sz="2100" dirty="0"/>
          </a:p>
        </p:txBody>
      </p:sp>
      <p:sp>
        <p:nvSpPr>
          <p:cNvPr id="6" name="Shape 4"/>
          <p:cNvSpPr/>
          <p:nvPr/>
        </p:nvSpPr>
        <p:spPr>
          <a:xfrm>
            <a:off x="704088" y="4700016"/>
            <a:ext cx="3447288" cy="676656"/>
          </a:xfrm>
          <a:prstGeom prst="rect">
            <a:avLst/>
          </a:prstGeom>
          <a:solidFill>
            <a:srgbClr val="254454"/>
          </a:solidFill>
          <a:ln w="7620">
            <a:solidFill>
              <a:srgbClr val="254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489204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BF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认识概念</a:t>
            </a:r>
            <a:endParaRPr lang="zh-CN" sz="2100" dirty="0"/>
          </a:p>
        </p:txBody>
      </p:sp>
      <p:sp>
        <p:nvSpPr>
          <p:cNvPr id="8" name="Shape 6"/>
          <p:cNvSpPr/>
          <p:nvPr/>
        </p:nvSpPr>
        <p:spPr>
          <a:xfrm>
            <a:off x="4453128" y="4700016"/>
            <a:ext cx="3447288" cy="676656"/>
          </a:xfrm>
          <a:prstGeom prst="rect">
            <a:avLst/>
          </a:prstGeom>
          <a:solidFill>
            <a:srgbClr val="254454"/>
          </a:solidFill>
          <a:ln w="7620">
            <a:solidFill>
              <a:srgbClr val="254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489204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BF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观察产品</a:t>
            </a:r>
            <a:endParaRPr lang="zh-CN" sz="2100" dirty="0"/>
          </a:p>
        </p:txBody>
      </p:sp>
      <p:sp>
        <p:nvSpPr>
          <p:cNvPr id="10" name="Shape 8"/>
          <p:cNvSpPr/>
          <p:nvPr/>
        </p:nvSpPr>
        <p:spPr>
          <a:xfrm>
            <a:off x="8202168" y="4700016"/>
            <a:ext cx="3447288" cy="676656"/>
          </a:xfrm>
          <a:prstGeom prst="rect">
            <a:avLst/>
          </a:prstGeom>
          <a:solidFill>
            <a:srgbClr val="254454"/>
          </a:solidFill>
          <a:ln w="7620">
            <a:solidFill>
              <a:srgbClr val="254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3336" y="489204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BFEA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体验委托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704088" y="60624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B9C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50 分钟 · 产品与场景 25 分钟 · 演示 5 分钟 · 产品资料补查：2026-10-25</a:t>
            </a:r>
            <a:endParaRPr lang="zh-CN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第一部分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先理解 AI Agent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沿用已有学习笔记的定义，先统一讨论范围。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依据：什么是 AI Agent · 项目内工作定义（LLM Agent）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91672" cy="1097280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85416"/>
            <a:ext cx="1061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是以大语言模型为决策核心，在多步循环里对环境采取行动，</a:t>
            </a:r>
            <a:endParaRPr lang="zh-CN" sz="2300" dirty="0"/>
          </a:p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并根据反馈继续迭代，直到目标完成或失败的软件系统。</a:t>
            </a:r>
            <a:endParaRPr lang="zh-CN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2615184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75304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9684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决策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44897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由模型选择下一步</a:t>
            </a:r>
            <a:endParaRPr lang="zh-CN" sz="1600" dirty="0"/>
          </a:p>
        </p:txBody>
      </p:sp>
      <p:sp>
        <p:nvSpPr>
          <p:cNvPr id="14" name="Shape 12"/>
          <p:cNvSpPr/>
          <p:nvPr/>
        </p:nvSpPr>
        <p:spPr>
          <a:xfrm>
            <a:off x="3374136" y="3410712"/>
            <a:ext cx="2615184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3575304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3557016" y="39684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多步循环</a:t>
            </a:r>
            <a:endParaRPr lang="zh-CN" sz="2000" dirty="0"/>
          </a:p>
        </p:txBody>
      </p:sp>
      <p:sp>
        <p:nvSpPr>
          <p:cNvPr id="17" name="Text 15"/>
          <p:cNvSpPr/>
          <p:nvPr/>
        </p:nvSpPr>
        <p:spPr>
          <a:xfrm>
            <a:off x="3557016" y="44897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围绕目标连续执行</a:t>
            </a:r>
            <a:endParaRPr lang="zh-CN" sz="1600" dirty="0"/>
          </a:p>
        </p:txBody>
      </p:sp>
      <p:sp>
        <p:nvSpPr>
          <p:cNvPr id="18" name="Shape 16"/>
          <p:cNvSpPr/>
          <p:nvPr/>
        </p:nvSpPr>
        <p:spPr>
          <a:xfrm>
            <a:off x="6199632" y="3410712"/>
            <a:ext cx="2615184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575304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0" name="Text 18"/>
          <p:cNvSpPr/>
          <p:nvPr/>
        </p:nvSpPr>
        <p:spPr>
          <a:xfrm>
            <a:off x="6382512" y="39684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对环境行动</a:t>
            </a:r>
            <a:endParaRPr lang="zh-CN" sz="2000" dirty="0"/>
          </a:p>
        </p:txBody>
      </p:sp>
      <p:sp>
        <p:nvSpPr>
          <p:cNvPr id="21" name="Text 19"/>
          <p:cNvSpPr/>
          <p:nvPr/>
        </p:nvSpPr>
        <p:spPr>
          <a:xfrm>
            <a:off x="6382512" y="44897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使用工具、读写文件</a:t>
            </a:r>
            <a:endParaRPr lang="zh-CN" sz="1600" dirty="0"/>
          </a:p>
        </p:txBody>
      </p:sp>
      <p:sp>
        <p:nvSpPr>
          <p:cNvPr id="22" name="Shape 20"/>
          <p:cNvSpPr/>
          <p:nvPr/>
        </p:nvSpPr>
        <p:spPr>
          <a:xfrm>
            <a:off x="9025128" y="3410712"/>
            <a:ext cx="2615184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8008" y="3575304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200" dirty="0"/>
          </a:p>
        </p:txBody>
      </p:sp>
      <p:sp>
        <p:nvSpPr>
          <p:cNvPr id="24" name="Text 22"/>
          <p:cNvSpPr/>
          <p:nvPr/>
        </p:nvSpPr>
        <p:spPr>
          <a:xfrm>
            <a:off x="9208008" y="39684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根据反馈再决策</a:t>
            </a:r>
            <a:endParaRPr lang="zh-CN" sz="2000" dirty="0"/>
          </a:p>
        </p:txBody>
      </p:sp>
      <p:sp>
        <p:nvSpPr>
          <p:cNvPr id="25" name="Text 23"/>
          <p:cNvSpPr/>
          <p:nvPr/>
        </p:nvSpPr>
        <p:spPr>
          <a:xfrm>
            <a:off x="9208008" y="44897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观察结果，调整后续动作</a:t>
            </a:r>
            <a:endParaRPr lang="zh-CN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5111496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→ 决策 → 行动 → 观察 → 再决策 …</a:t>
            </a:r>
            <a:endParaRPr lang="zh-CN" sz="2200" dirty="0"/>
          </a:p>
        </p:txBody>
      </p:sp>
      <p:sp>
        <p:nvSpPr>
          <p:cNvPr id="27" name="Shape 25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多轮聊天不等于多步执行；人工审批可以是执行过程的一部分。</a:t>
            </a:r>
            <a:endParaRPr 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第一部分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用一次调研看清执行循环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示例目标：调研一个产品，整理成带来源的学习笔记。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作者构造的任务示例，用于解释执行循环；不是产品实测。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14016"/>
            <a:ext cx="2615184" cy="18745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9689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确定检索方向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35753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模型决定需要查什么</a:t>
            </a:r>
            <a:endParaRPr lang="zh-CN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96849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识别目标、范围与缺口</a:t>
            </a:r>
            <a:endParaRPr lang="zh-CN" sz="1300" dirty="0"/>
          </a:p>
        </p:txBody>
      </p:sp>
      <p:sp>
        <p:nvSpPr>
          <p:cNvPr id="13" name="Shape 11"/>
          <p:cNvSpPr/>
          <p:nvPr/>
        </p:nvSpPr>
        <p:spPr>
          <a:xfrm>
            <a:off x="3191256" y="3346704"/>
            <a:ext cx="155448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74136" y="2414016"/>
            <a:ext cx="2615184" cy="18745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259689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3557016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搜索与阅读</a:t>
            </a:r>
            <a:endParaRPr lang="zh-CN" sz="2100" dirty="0"/>
          </a:p>
        </p:txBody>
      </p:sp>
      <p:sp>
        <p:nvSpPr>
          <p:cNvPr id="17" name="Text 15"/>
          <p:cNvSpPr/>
          <p:nvPr/>
        </p:nvSpPr>
        <p:spPr>
          <a:xfrm>
            <a:off x="3557016" y="35753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调用工具获取材料</a:t>
            </a:r>
            <a:endParaRPr lang="zh-CN" sz="1600" dirty="0"/>
          </a:p>
        </p:txBody>
      </p:sp>
      <p:sp>
        <p:nvSpPr>
          <p:cNvPr id="18" name="Text 16"/>
          <p:cNvSpPr/>
          <p:nvPr/>
        </p:nvSpPr>
        <p:spPr>
          <a:xfrm>
            <a:off x="3557016" y="396849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打开原始文档，读取内容</a:t>
            </a:r>
            <a:endParaRPr lang="zh-CN" sz="1300" dirty="0"/>
          </a:p>
        </p:txBody>
      </p:sp>
      <p:sp>
        <p:nvSpPr>
          <p:cNvPr id="19" name="Shape 17"/>
          <p:cNvSpPr/>
          <p:nvPr/>
        </p:nvSpPr>
        <p:spPr>
          <a:xfrm>
            <a:off x="6016752" y="3346704"/>
            <a:ext cx="155448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99632" y="2414016"/>
            <a:ext cx="2615184" cy="1874520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59689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2" name="Text 20"/>
          <p:cNvSpPr/>
          <p:nvPr/>
        </p:nvSpPr>
        <p:spPr>
          <a:xfrm>
            <a:off x="6382512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核对与补查</a:t>
            </a:r>
            <a:endParaRPr lang="zh-CN" sz="2100" dirty="0"/>
          </a:p>
        </p:txBody>
      </p:sp>
      <p:sp>
        <p:nvSpPr>
          <p:cNvPr id="23" name="Text 21"/>
          <p:cNvSpPr/>
          <p:nvPr/>
        </p:nvSpPr>
        <p:spPr>
          <a:xfrm>
            <a:off x="6382512" y="35753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根据反馈调整动作</a:t>
            </a:r>
            <a:endParaRPr lang="zh-CN" sz="1600" dirty="0"/>
          </a:p>
        </p:txBody>
      </p:sp>
      <p:sp>
        <p:nvSpPr>
          <p:cNvPr id="24" name="Text 22"/>
          <p:cNvSpPr/>
          <p:nvPr/>
        </p:nvSpPr>
        <p:spPr>
          <a:xfrm>
            <a:off x="6382512" y="396849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来源过期或冲突，再检索</a:t>
            </a:r>
            <a:endParaRPr lang="zh-CN" sz="1300" dirty="0"/>
          </a:p>
        </p:txBody>
      </p:sp>
      <p:sp>
        <p:nvSpPr>
          <p:cNvPr id="25" name="Shape 23"/>
          <p:cNvSpPr/>
          <p:nvPr/>
        </p:nvSpPr>
        <p:spPr>
          <a:xfrm>
            <a:off x="8842248" y="3346704"/>
            <a:ext cx="155448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25128" y="2414016"/>
            <a:ext cx="2615184" cy="18745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08008" y="259689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200" dirty="0"/>
          </a:p>
        </p:txBody>
      </p:sp>
      <p:sp>
        <p:nvSpPr>
          <p:cNvPr id="28" name="Text 26"/>
          <p:cNvSpPr/>
          <p:nvPr/>
        </p:nvSpPr>
        <p:spPr>
          <a:xfrm>
            <a:off x="9208008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整理并检查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9208008" y="35753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形成文件，检查引用</a:t>
            </a:r>
            <a:endParaRPr lang="zh-CN" sz="1600" dirty="0"/>
          </a:p>
        </p:txBody>
      </p:sp>
      <p:sp>
        <p:nvSpPr>
          <p:cNvPr id="30" name="Text 28"/>
          <p:cNvSpPr/>
          <p:nvPr/>
        </p:nvSpPr>
        <p:spPr>
          <a:xfrm>
            <a:off x="9208008" y="396849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必要时回到资料补查</a:t>
            </a:r>
            <a:endParaRPr lang="zh-CN" sz="1300" dirty="0"/>
          </a:p>
        </p:txBody>
      </p:sp>
      <p:sp>
        <p:nvSpPr>
          <p:cNvPr id="31" name="Shape 29"/>
          <p:cNvSpPr/>
          <p:nvPr/>
        </p:nvSpPr>
        <p:spPr>
          <a:xfrm>
            <a:off x="7498080" y="4480560"/>
            <a:ext cx="0" cy="256032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4736592"/>
            <a:ext cx="-3026664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471416" y="4736592"/>
            <a:ext cx="0" cy="-256032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0200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工具结果决定下一步是否需要补查、修订或结束。</a:t>
            </a:r>
            <a:endParaRPr lang="zh-CN" sz="2100" dirty="0"/>
          </a:p>
        </p:txBody>
      </p:sp>
      <p:sp>
        <p:nvSpPr>
          <p:cNvPr id="35" name="Shape 33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用户交付目标与约束；Agent 根据实际结果组织后续步骤。</a:t>
            </a:r>
            <a:endParaRPr lang="zh-CN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第一部分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中的“Personal”指什么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Agent 执行循环之上，明确个人服务关系与个人上下文。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依据：Personal LLM Agents（2024，§3）；W3C 社区组用例材料（2025，p.4）。定义为作者归纳。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91672" cy="1097280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85416"/>
            <a:ext cx="1061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是以具体个人为服务对象，利用其个人上下文，</a:t>
            </a:r>
            <a:endParaRPr lang="zh-CN" sz="2300" dirty="0"/>
          </a:p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在授权范围内自主组织并执行任务的 AI 智能体。</a:t>
            </a:r>
            <a:endParaRPr lang="zh-CN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为谁工作</a:t>
            </a:r>
            <a:endParaRPr lang="zh-CN" sz="2200" dirty="0"/>
          </a:p>
        </p:txBody>
      </p:sp>
      <p:sp>
        <p:nvSpPr>
          <p:cNvPr id="12" name="Text 10"/>
          <p:cNvSpPr/>
          <p:nvPr/>
        </p:nvSpPr>
        <p:spPr>
          <a:xfrm>
            <a:off x="749808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具体个人的目标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49808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个人生活与个人工作</a:t>
            </a:r>
            <a:endParaRPr lang="zh-CN" sz="1300" dirty="0"/>
          </a:p>
        </p:txBody>
      </p:sp>
      <p:sp>
        <p:nvSpPr>
          <p:cNvPr id="14" name="Shape 12"/>
          <p:cNvSpPr/>
          <p:nvPr/>
        </p:nvSpPr>
        <p:spPr>
          <a:xfrm>
            <a:off x="4315968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依据什么判断</a:t>
            </a:r>
            <a:endParaRPr lang="zh-CN" sz="2200" dirty="0"/>
          </a:p>
        </p:txBody>
      </p:sp>
      <p:sp>
        <p:nvSpPr>
          <p:cNvPr id="16" name="Text 14"/>
          <p:cNvSpPr/>
          <p:nvPr/>
        </p:nvSpPr>
        <p:spPr>
          <a:xfrm>
            <a:off x="4517136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个人资料、偏好与约束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4517136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上下文实际影响选择与行动</a:t>
            </a:r>
            <a:endParaRPr lang="zh-CN" sz="1300" dirty="0"/>
          </a:p>
        </p:txBody>
      </p:sp>
      <p:sp>
        <p:nvSpPr>
          <p:cNvPr id="18" name="Shape 16"/>
          <p:cNvSpPr/>
          <p:nvPr/>
        </p:nvSpPr>
        <p:spPr>
          <a:xfrm>
            <a:off x="8083296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代表谁行动</a:t>
            </a:r>
            <a:endParaRPr lang="zh-CN" sz="2200" dirty="0"/>
          </a:p>
        </p:txBody>
      </p:sp>
      <p:sp>
        <p:nvSpPr>
          <p:cNvPr id="20" name="Text 18"/>
          <p:cNvSpPr/>
          <p:nvPr/>
        </p:nvSpPr>
        <p:spPr>
          <a:xfrm>
            <a:off x="8284464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按用户委托推进任务</a:t>
            </a:r>
            <a:endParaRPr lang="zh-CN" sz="1800" dirty="0"/>
          </a:p>
        </p:txBody>
      </p:sp>
      <p:sp>
        <p:nvSpPr>
          <p:cNvPr id="21" name="Text 19"/>
          <p:cNvSpPr/>
          <p:nvPr/>
        </p:nvSpPr>
        <p:spPr>
          <a:xfrm>
            <a:off x="8284464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在授权范围内执行，必要时交回决定</a:t>
            </a:r>
            <a:endParaRPr lang="zh-CN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同一项调研：结合我的方向、已有笔记与写作习惯，决定补什么、怎样整理。</a:t>
            </a:r>
            <a:endParaRPr lang="zh-CN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第一部分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先判断归类，再比较持续服务能力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后续介绍产品时，沿用同一套问题，分别记录能力与证据。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本次调研的判断方法 · 官方说明、个人分析与实际验证分别记录。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48256"/>
            <a:ext cx="5440680" cy="331012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48256"/>
            <a:ext cx="5440680" cy="603504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19456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基础归类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8529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执行循环</a:t>
            </a:r>
            <a:endParaRPr lang="zh-CN" sz="1900" dirty="0"/>
          </a:p>
        </p:txBody>
      </p:sp>
      <p:sp>
        <p:nvSpPr>
          <p:cNvPr id="13" name="Text 11"/>
          <p:cNvSpPr/>
          <p:nvPr/>
        </p:nvSpPr>
        <p:spPr>
          <a:xfrm>
            <a:off x="1325880" y="323697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决策、多步行动、反馈后再决策</a:t>
            </a:r>
            <a:endParaRPr lang="zh-CN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6301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个人服务关系</a:t>
            </a:r>
            <a:endParaRPr lang="zh-CN" sz="1900" dirty="0"/>
          </a:p>
        </p:txBody>
      </p:sp>
      <p:sp>
        <p:nvSpPr>
          <p:cNvPr id="16" name="Text 14"/>
          <p:cNvSpPr/>
          <p:nvPr/>
        </p:nvSpPr>
        <p:spPr>
          <a:xfrm>
            <a:off x="1325880" y="401421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围绕具体个人的需求和目标工作</a:t>
            </a:r>
            <a:endParaRPr lang="zh-CN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44074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个人上下文参与</a:t>
            </a:r>
            <a:endParaRPr lang="zh-CN" sz="1900" dirty="0"/>
          </a:p>
        </p:txBody>
      </p:sp>
      <p:sp>
        <p:nvSpPr>
          <p:cNvPr id="19" name="Text 17"/>
          <p:cNvSpPr/>
          <p:nvPr/>
        </p:nvSpPr>
        <p:spPr>
          <a:xfrm>
            <a:off x="1325880" y="479145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资料、偏好与约束影响实际执行</a:t>
            </a:r>
            <a:endParaRPr lang="zh-CN" sz="1500" dirty="0"/>
          </a:p>
        </p:txBody>
      </p:sp>
      <p:sp>
        <p:nvSpPr>
          <p:cNvPr id="20" name="Shape 18"/>
          <p:cNvSpPr/>
          <p:nvPr/>
        </p:nvSpPr>
        <p:spPr>
          <a:xfrm>
            <a:off x="6199632" y="2048256"/>
            <a:ext cx="5440680" cy="331012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2048256"/>
            <a:ext cx="5440680" cy="603504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219456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本系列重点：持续服务</a:t>
            </a:r>
            <a:endParaRPr lang="zh-CN" sz="2200" dirty="0"/>
          </a:p>
        </p:txBody>
      </p:sp>
      <p:sp>
        <p:nvSpPr>
          <p:cNvPr id="23" name="Text 21"/>
          <p:cNvSpPr/>
          <p:nvPr/>
        </p:nvSpPr>
        <p:spPr>
          <a:xfrm>
            <a:off x="6428232" y="288036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4" name="Text 22"/>
          <p:cNvSpPr/>
          <p:nvPr/>
        </p:nvSpPr>
        <p:spPr>
          <a:xfrm>
            <a:off x="6976872" y="28529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跨会话上下文</a:t>
            </a:r>
            <a:endParaRPr lang="zh-CN" sz="1900" dirty="0"/>
          </a:p>
        </p:txBody>
      </p:sp>
      <p:sp>
        <p:nvSpPr>
          <p:cNvPr id="25" name="Text 23"/>
          <p:cNvSpPr/>
          <p:nvPr/>
        </p:nvSpPr>
        <p:spPr>
          <a:xfrm>
            <a:off x="6976872" y="323697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沿用并修正偏好、约束与已有结论</a:t>
            </a:r>
            <a:endParaRPr lang="zh-CN" sz="1500" dirty="0"/>
          </a:p>
        </p:txBody>
      </p:sp>
      <p:sp>
        <p:nvSpPr>
          <p:cNvPr id="26" name="Text 24"/>
          <p:cNvSpPr/>
          <p:nvPr/>
        </p:nvSpPr>
        <p:spPr>
          <a:xfrm>
            <a:off x="6428232" y="365760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7" name="Text 25"/>
          <p:cNvSpPr/>
          <p:nvPr/>
        </p:nvSpPr>
        <p:spPr>
          <a:xfrm>
            <a:off x="6976872" y="36301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工作延续</a:t>
            </a:r>
            <a:endParaRPr lang="zh-CN" sz="1900" dirty="0"/>
          </a:p>
        </p:txBody>
      </p:sp>
      <p:sp>
        <p:nvSpPr>
          <p:cNvPr id="28" name="Text 26"/>
          <p:cNvSpPr/>
          <p:nvPr/>
        </p:nvSpPr>
        <p:spPr>
          <a:xfrm>
            <a:off x="6976872" y="401421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继续任务，或按时间、事件重复执行</a:t>
            </a:r>
            <a:endParaRPr lang="zh-CN" sz="1500" dirty="0"/>
          </a:p>
        </p:txBody>
      </p:sp>
      <p:sp>
        <p:nvSpPr>
          <p:cNvPr id="29" name="Text 27"/>
          <p:cNvSpPr/>
          <p:nvPr/>
        </p:nvSpPr>
        <p:spPr>
          <a:xfrm>
            <a:off x="6428232" y="443484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6976872" y="44074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持续跟进</a:t>
            </a:r>
            <a:endParaRPr lang="zh-CN" sz="1900" dirty="0"/>
          </a:p>
        </p:txBody>
      </p:sp>
      <p:sp>
        <p:nvSpPr>
          <p:cNvPr id="31" name="Text 29"/>
          <p:cNvSpPr/>
          <p:nvPr/>
        </p:nvSpPr>
        <p:spPr>
          <a:xfrm>
            <a:off x="6976872" y="479145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根据变化调整后续动作，交回待决事项</a:t>
            </a:r>
            <a:endParaRPr lang="zh-CN" sz="1500" dirty="0"/>
          </a:p>
        </p:txBody>
      </p:sp>
      <p:sp>
        <p:nvSpPr>
          <p:cNvPr id="32" name="Shape 30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记住偏好、定时执行、持续推进目标，需要分别验证。</a:t>
            </a:r>
            <a:endParaRPr lang="zh-C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第二部分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能做什么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从具体委托出发，看它能承担哪些步骤、交付什么结果。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根据公开产品资料整理的场景框架 · 产品差异在第五部分展开。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3557016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9689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45536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信息与事务</a:t>
            </a:r>
            <a:endParaRPr lang="zh-CN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邮件、日程、个人安排</a:t>
            </a:r>
            <a:endParaRPr lang="zh-CN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39826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交付待办、资料与操作结果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4315968" y="2359152"/>
            <a:ext cx="3557016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59689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300" dirty="0"/>
          </a:p>
        </p:txBody>
      </p:sp>
      <p:sp>
        <p:nvSpPr>
          <p:cNvPr id="15" name="Text 13"/>
          <p:cNvSpPr/>
          <p:nvPr/>
        </p:nvSpPr>
        <p:spPr>
          <a:xfrm>
            <a:off x="4544568" y="3145536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调研与交付</a:t>
            </a:r>
            <a:endParaRPr lang="zh-CN" sz="2600" dirty="0"/>
          </a:p>
        </p:txBody>
      </p:sp>
      <p:sp>
        <p:nvSpPr>
          <p:cNvPr id="16" name="Text 14"/>
          <p:cNvSpPr/>
          <p:nvPr/>
        </p:nvSpPr>
        <p:spPr>
          <a:xfrm>
            <a:off x="4544568" y="379476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搜集资料、比较、分析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4544568" y="439826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交付可编辑文档与表格</a:t>
            </a:r>
            <a:endParaRPr lang="zh-CN" sz="1500" dirty="0"/>
          </a:p>
        </p:txBody>
      </p:sp>
      <p:sp>
        <p:nvSpPr>
          <p:cNvPr id="18" name="Shape 16"/>
          <p:cNvSpPr/>
          <p:nvPr/>
        </p:nvSpPr>
        <p:spPr>
          <a:xfrm>
            <a:off x="8083296" y="2359152"/>
            <a:ext cx="3557016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259689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300" dirty="0"/>
          </a:p>
        </p:txBody>
      </p:sp>
      <p:sp>
        <p:nvSpPr>
          <p:cNvPr id="20" name="Text 18"/>
          <p:cNvSpPr/>
          <p:nvPr/>
        </p:nvSpPr>
        <p:spPr>
          <a:xfrm>
            <a:off x="8311896" y="3145536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</a:t>
            </a:r>
            <a:endParaRPr lang="zh-CN" sz="2600" dirty="0"/>
          </a:p>
        </p:txBody>
      </p:sp>
      <p:sp>
        <p:nvSpPr>
          <p:cNvPr id="21" name="Text 19"/>
          <p:cNvSpPr/>
          <p:nvPr/>
        </p:nvSpPr>
        <p:spPr>
          <a:xfrm>
            <a:off x="8311896" y="3794760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主题更新、周报、待办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8311896" y="439826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交付变更记录与必要通知</a:t>
            </a:r>
            <a:endParaRPr lang="zh-CN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讲清一项委托：目标、资料、交付结果、时间，以及需要我决定的动作。</a:t>
            </a:r>
            <a:endParaRPr lang="zh-C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第二部分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信息整理与个人事务处理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把邮件、日历与相关材料联系起来，形成可以处理的事项。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公开能力示例：Claude Duet 入门帮助；委托文字为作者构造。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91672" cy="1097280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85416"/>
            <a:ext cx="1061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整理今天需要处理的邮件和会议，优先列出影响本周交付的事项；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附上原始材料，回复先写草稿，发送前让我确认。</a:t>
            </a:r>
            <a:endParaRPr lang="zh-CN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依据的资料</a:t>
            </a:r>
            <a:endParaRPr lang="zh-CN" sz="2200" dirty="0"/>
          </a:p>
        </p:txBody>
      </p:sp>
      <p:sp>
        <p:nvSpPr>
          <p:cNvPr id="12" name="Text 10"/>
          <p:cNvSpPr/>
          <p:nvPr/>
        </p:nvSpPr>
        <p:spPr>
          <a:xfrm>
            <a:off x="749808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邮件、日历与工作重点</a:t>
            </a:r>
            <a:endParaRPr lang="zh-CN" sz="1700" dirty="0"/>
          </a:p>
        </p:txBody>
      </p:sp>
      <p:sp>
        <p:nvSpPr>
          <p:cNvPr id="13" name="Text 11"/>
          <p:cNvSpPr/>
          <p:nvPr/>
        </p:nvSpPr>
        <p:spPr>
          <a:xfrm>
            <a:off x="749808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限于获准访问的信息</a:t>
            </a:r>
            <a:endParaRPr lang="zh-CN" sz="1400" dirty="0"/>
          </a:p>
        </p:txBody>
      </p:sp>
      <p:sp>
        <p:nvSpPr>
          <p:cNvPr id="14" name="Shape 12"/>
          <p:cNvSpPr/>
          <p:nvPr/>
        </p:nvSpPr>
        <p:spPr>
          <a:xfrm>
            <a:off x="4315968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交付的结果</a:t>
            </a:r>
            <a:endParaRPr lang="zh-CN" sz="2200" dirty="0"/>
          </a:p>
        </p:txBody>
      </p:sp>
      <p:sp>
        <p:nvSpPr>
          <p:cNvPr id="16" name="Text 14"/>
          <p:cNvSpPr/>
          <p:nvPr/>
        </p:nvSpPr>
        <p:spPr>
          <a:xfrm>
            <a:off x="4517136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待办、会议材料、回复草稿</a:t>
            </a:r>
            <a:endParaRPr lang="zh-CN" sz="1700" dirty="0"/>
          </a:p>
        </p:txBody>
      </p:sp>
      <p:sp>
        <p:nvSpPr>
          <p:cNvPr id="17" name="Text 15"/>
          <p:cNvSpPr/>
          <p:nvPr/>
        </p:nvSpPr>
        <p:spPr>
          <a:xfrm>
            <a:off x="4517136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保留原始邮件与资料入口</a:t>
            </a:r>
            <a:endParaRPr lang="zh-CN" sz="1400" dirty="0"/>
          </a:p>
        </p:txBody>
      </p:sp>
      <p:sp>
        <p:nvSpPr>
          <p:cNvPr id="18" name="Shape 16"/>
          <p:cNvSpPr/>
          <p:nvPr/>
        </p:nvSpPr>
        <p:spPr>
          <a:xfrm>
            <a:off x="8083296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我的参与</a:t>
            </a:r>
            <a:endParaRPr lang="zh-CN" sz="2200" dirty="0"/>
          </a:p>
        </p:txBody>
      </p:sp>
      <p:sp>
        <p:nvSpPr>
          <p:cNvPr id="20" name="Text 18"/>
          <p:cNvSpPr/>
          <p:nvPr/>
        </p:nvSpPr>
        <p:spPr>
          <a:xfrm>
            <a:off x="8284464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检查遗漏、确认安排与发送</a:t>
            </a:r>
            <a:endParaRPr lang="zh-CN" sz="1700" dirty="0"/>
          </a:p>
        </p:txBody>
      </p:sp>
      <p:sp>
        <p:nvSpPr>
          <p:cNvPr id="21" name="Text 19"/>
          <p:cNvSpPr/>
          <p:nvPr/>
        </p:nvSpPr>
        <p:spPr>
          <a:xfrm>
            <a:off x="8284464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决定哪些动作可以对外执行</a:t>
            </a:r>
            <a:endParaRPr lang="zh-CN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5202936"/>
            <a:ext cx="10689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生活场景也适用：汇总行程确认信息，结合已有安排整理出行日程。</a:t>
            </a:r>
            <a:endParaRPr lang="zh-CN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资料汇总、方案准备和对外提交，是不同的交付程度。</a:t>
            </a:r>
            <a:endParaRPr lang="zh-CN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第二部分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调研分析与工作成果交付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围绕一个明确问题，形成可以检查、修订和继续使用的成果。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公开能力示例：WorkBuddy 产品介绍、Gemini Task 帮助；委托文字为作者构造。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91672" cy="1097280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85416"/>
            <a:ext cx="1061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依据官方资料和现有笔记，比较三个产品的定位、开放条件与典型场景；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交付可编辑比较表，附来源和日期，资料不足的地方单独列出。</a:t>
            </a:r>
            <a:endParaRPr lang="zh-CN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收集并核对资料</a:t>
            </a:r>
            <a:endParaRPr lang="zh-CN" sz="2200" dirty="0"/>
          </a:p>
        </p:txBody>
      </p:sp>
      <p:sp>
        <p:nvSpPr>
          <p:cNvPr id="12" name="Text 10"/>
          <p:cNvSpPr/>
          <p:nvPr/>
        </p:nvSpPr>
        <p:spPr>
          <a:xfrm>
            <a:off x="749808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现有笔记与指定官方来源</a:t>
            </a:r>
            <a:endParaRPr lang="zh-CN" sz="1700" dirty="0"/>
          </a:p>
        </p:txBody>
      </p:sp>
      <p:sp>
        <p:nvSpPr>
          <p:cNvPr id="13" name="Text 11"/>
          <p:cNvSpPr/>
          <p:nvPr/>
        </p:nvSpPr>
        <p:spPr>
          <a:xfrm>
            <a:off x="749808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补充缺口，核对日期与冲突</a:t>
            </a:r>
            <a:endParaRPr lang="zh-CN" sz="1400" dirty="0"/>
          </a:p>
        </p:txBody>
      </p:sp>
      <p:sp>
        <p:nvSpPr>
          <p:cNvPr id="14" name="Shape 12"/>
          <p:cNvSpPr/>
          <p:nvPr/>
        </p:nvSpPr>
        <p:spPr>
          <a:xfrm>
            <a:off x="4315968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组织比较与分析</a:t>
            </a:r>
            <a:endParaRPr lang="zh-CN" sz="2200" dirty="0"/>
          </a:p>
        </p:txBody>
      </p:sp>
      <p:sp>
        <p:nvSpPr>
          <p:cNvPr id="16" name="Text 14"/>
          <p:cNvSpPr/>
          <p:nvPr/>
        </p:nvSpPr>
        <p:spPr>
          <a:xfrm>
            <a:off x="4517136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使用一致的比较条件</a:t>
            </a:r>
            <a:endParaRPr lang="zh-CN" sz="1700" dirty="0"/>
          </a:p>
        </p:txBody>
      </p:sp>
      <p:sp>
        <p:nvSpPr>
          <p:cNvPr id="17" name="Text 15"/>
          <p:cNvSpPr/>
          <p:nvPr/>
        </p:nvSpPr>
        <p:spPr>
          <a:xfrm>
            <a:off x="4517136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区分事实、推断和待核实项</a:t>
            </a:r>
            <a:endParaRPr lang="zh-CN" sz="1400" dirty="0"/>
          </a:p>
        </p:txBody>
      </p:sp>
      <p:sp>
        <p:nvSpPr>
          <p:cNvPr id="18" name="Shape 16"/>
          <p:cNvSpPr/>
          <p:nvPr/>
        </p:nvSpPr>
        <p:spPr>
          <a:xfrm>
            <a:off x="8083296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形成可编辑成果</a:t>
            </a:r>
            <a:endParaRPr lang="zh-CN" sz="2200" dirty="0"/>
          </a:p>
        </p:txBody>
      </p:sp>
      <p:sp>
        <p:nvSpPr>
          <p:cNvPr id="20" name="Text 18"/>
          <p:cNvSpPr/>
          <p:nvPr/>
        </p:nvSpPr>
        <p:spPr>
          <a:xfrm>
            <a:off x="8284464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笔记、表格、PPT 或小工具</a:t>
            </a:r>
            <a:endParaRPr lang="zh-CN" sz="1700" dirty="0"/>
          </a:p>
        </p:txBody>
      </p:sp>
      <p:sp>
        <p:nvSpPr>
          <p:cNvPr id="21" name="Text 19"/>
          <p:cNvSpPr/>
          <p:nvPr/>
        </p:nvSpPr>
        <p:spPr>
          <a:xfrm>
            <a:off x="8284464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便于继续修改与复用</a:t>
            </a:r>
            <a:endParaRPr lang="zh-CN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5202936"/>
            <a:ext cx="10689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我的验收：来源可追溯、条件一致、事实与推断分开、文件便于继续修改。</a:t>
            </a:r>
            <a:endParaRPr lang="zh-CN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生成了文件，不等于完成了可靠的分析；关键事实与判断仍需检查。</a:t>
            </a:r>
            <a:endParaRPr lang="zh-CN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第二部分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持续跟踪与周期性工作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将一项调研延伸为有时间范围、交付要求和用户参与的持续职责。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依据：Gemini Task 帮助、WorkBuddy 定时任务；委托文字为作者构造。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91672" cy="1097280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85416"/>
            <a:ext cx="1061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未来四周，每个工作日检查指定产品的官方更新并维护变更表；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每周五汇总，开放条件变化时单独通知，笔记合入前让我确认。</a:t>
            </a:r>
            <a:endParaRPr lang="zh-CN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337560"/>
            <a:ext cx="5440680" cy="502920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4472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职责怎样安排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49808" y="406908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关注范围</a:t>
            </a:r>
            <a:endParaRPr lang="zh-CN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指定产品与来源，持续四周</a:t>
            </a:r>
            <a:endParaRPr lang="zh-CN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451713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何时执行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4517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工作日检查，每周五汇总</a:t>
            </a:r>
            <a:endParaRPr lang="zh-CN" sz="1500" dirty="0"/>
          </a:p>
        </p:txBody>
      </p:sp>
      <p:sp>
        <p:nvSpPr>
          <p:cNvPr id="17" name="Text 15"/>
          <p:cNvSpPr/>
          <p:nvPr/>
        </p:nvSpPr>
        <p:spPr>
          <a:xfrm>
            <a:off x="749808" y="496519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怎样交付</a:t>
            </a:r>
            <a:endParaRPr lang="zh-CN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4965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维护变更表，重要变化单独通知</a:t>
            </a:r>
            <a:endParaRPr lang="zh-CN" sz="1500" dirty="0"/>
          </a:p>
        </p:txBody>
      </p:sp>
      <p:sp>
        <p:nvSpPr>
          <p:cNvPr id="19" name="Shape 17"/>
          <p:cNvSpPr/>
          <p:nvPr/>
        </p:nvSpPr>
        <p:spPr>
          <a:xfrm>
            <a:off x="6199632" y="3337560"/>
            <a:ext cx="5440680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3337560"/>
            <a:ext cx="5440680" cy="502920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44728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运行与验收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406908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运行条件</a:t>
            </a:r>
            <a:endParaRPr lang="zh-CN" sz="1600" dirty="0"/>
          </a:p>
        </p:txBody>
      </p:sp>
      <p:sp>
        <p:nvSpPr>
          <p:cNvPr id="23" name="Text 21"/>
          <p:cNvSpPr/>
          <p:nvPr/>
        </p:nvSpPr>
        <p:spPr>
          <a:xfrm>
            <a:off x="7662672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确认本机客户端或云端运行路径</a:t>
            </a:r>
            <a:endParaRPr lang="zh-CN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51713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检查结果</a:t>
            </a:r>
            <a:endParaRPr lang="zh-CN" sz="1600" dirty="0"/>
          </a:p>
        </p:txBody>
      </p:sp>
      <p:sp>
        <p:nvSpPr>
          <p:cNvPr id="25" name="Text 23"/>
          <p:cNvSpPr/>
          <p:nvPr/>
        </p:nvSpPr>
        <p:spPr>
          <a:xfrm>
            <a:off x="7662672" y="4517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是否执行、判断是否正确、是否交付</a:t>
            </a:r>
            <a:endParaRPr lang="zh-CN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496519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调整与结束</a:t>
            </a:r>
            <a:endParaRPr lang="zh-CN" sz="1600" dirty="0"/>
          </a:p>
        </p:txBody>
      </p:sp>
      <p:sp>
        <p:nvSpPr>
          <p:cNvPr id="27" name="Text 25"/>
          <p:cNvSpPr/>
          <p:nvPr/>
        </p:nvSpPr>
        <p:spPr>
          <a:xfrm>
            <a:off x="7662672" y="4965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改变范围、暂停或结束职责</a:t>
            </a:r>
            <a:endParaRPr lang="zh-CN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周期执行与持续推进目标，需要分别验证。</a:t>
            </a:r>
            <a:endParaRPr lang="zh-C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第3部分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三个名称，描述不同层面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先明确比较对象，再讨论能力与使用方式。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文档 · DeepSeek Harness 产品页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1672" cy="393192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122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1122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讨论层面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122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要回答的问题</a:t>
            </a:r>
            <a:endParaRPr lang="zh-CN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8503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59736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2953512" y="2459736"/>
            <a:ext cx="3419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产品与使用形态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6611112" y="2459736"/>
            <a:ext cx="4910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为谁工作、依据什么、接受什么委托</a:t>
            </a:r>
            <a:endParaRPr lang="zh-CN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8503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310128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zh-CN" sz="1700" dirty="0"/>
          </a:p>
        </p:txBody>
      </p:sp>
      <p:sp>
        <p:nvSpPr>
          <p:cNvPr id="18" name="Text 16"/>
          <p:cNvSpPr/>
          <p:nvPr/>
        </p:nvSpPr>
        <p:spPr>
          <a:xfrm>
            <a:off x="2953512" y="3310128"/>
            <a:ext cx="3419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开源软件方案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6611112" y="3310128"/>
            <a:ext cx="4910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用什么现成方案搭建个人助手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11091672" cy="8503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16052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Harness</a:t>
            </a:r>
            <a:endParaRPr lang="zh-CN" sz="1700" dirty="0"/>
          </a:p>
        </p:txBody>
      </p:sp>
      <p:sp>
        <p:nvSpPr>
          <p:cNvPr id="22" name="Text 20"/>
          <p:cNvSpPr/>
          <p:nvPr/>
        </p:nvSpPr>
        <p:spPr>
          <a:xfrm>
            <a:off x="2953512" y="4160520"/>
            <a:ext cx="3419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执行所需的运行软件</a:t>
            </a:r>
            <a:endParaRPr lang="zh-CN" sz="1700" dirty="0"/>
          </a:p>
        </p:txBody>
      </p:sp>
      <p:sp>
        <p:nvSpPr>
          <p:cNvPr id="23" name="Text 21"/>
          <p:cNvSpPr/>
          <p:nvPr/>
        </p:nvSpPr>
        <p:spPr>
          <a:xfrm>
            <a:off x="6611112" y="4160520"/>
            <a:ext cx="4910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怎样支持模型调用工具并推进任务</a:t>
            </a:r>
            <a:endParaRPr lang="zh-CN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产品形态、软件方案和运行底座，可以存在于同一个系统中。</a:t>
            </a:r>
            <a:endParaRPr lang="zh-CN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第3部分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托管与自建：运行责任怎样分配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同样是每周维护研究笔记，两条路线可以服务同一个人。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文档 · Muse 公告，2026-09-08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5440680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托管型产品</a:t>
            </a:r>
            <a:endParaRPr lang="zh-CN" sz="23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配置资料、目标与授权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厂商管理主要运行环境</a:t>
            </a:r>
            <a:endParaRPr lang="zh-CN" sz="20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关注开放条件与交付效果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199632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2167128"/>
            <a:ext cx="5440680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自建个人助手</a:t>
            </a:r>
            <a:endParaRPr lang="zh-CN" sz="2300" dirty="0"/>
          </a:p>
        </p:txBody>
      </p:sp>
      <p:sp>
        <p:nvSpPr>
          <p:cNvPr id="20" name="Text 18"/>
          <p:cNvSpPr/>
          <p:nvPr/>
        </p:nvSpPr>
        <p:spPr>
          <a:xfrm>
            <a:off x="6409944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6931152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安排部署、模型与工具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6409944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维护宿主、配置与升级</a:t>
            </a:r>
            <a:endParaRPr lang="zh-CN" sz="2000" dirty="0"/>
          </a:p>
        </p:txBody>
      </p:sp>
      <p:sp>
        <p:nvSpPr>
          <p:cNvPr id="24" name="Text 22"/>
          <p:cNvSpPr/>
          <p:nvPr/>
        </p:nvSpPr>
        <p:spPr>
          <a:xfrm>
            <a:off x="6409944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6931152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关注维护投入与掌控程度</a:t>
            </a:r>
            <a:endParaRPr lang="zh-CN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是否属于 Personal Agent，取决于服务与使用形态。</a:t>
            </a:r>
            <a:endParaRPr lang="zh-CN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第3部分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可以成为个人代理的底座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区分可组合的能力、实际配置与已经形成的服务。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 产品页 · Harness 记忆接入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5440680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底座提供执行能力</a:t>
            </a:r>
            <a:endParaRPr lang="zh-CN" sz="23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模型与工具参与任务执行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可组合的插件与运行环境</a:t>
            </a:r>
            <a:endParaRPr lang="zh-CN" sz="20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能力需要在配置中落实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199632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2167128"/>
            <a:ext cx="5440680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产品形成个人服务</a:t>
            </a:r>
            <a:endParaRPr lang="zh-CN" sz="2300" dirty="0"/>
          </a:p>
        </p:txBody>
      </p:sp>
      <p:sp>
        <p:nvSpPr>
          <p:cNvPr id="20" name="Text 18"/>
          <p:cNvSpPr/>
          <p:nvPr/>
        </p:nvSpPr>
        <p:spPr>
          <a:xfrm>
            <a:off x="6409944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6931152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围绕具体个人组织委托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6409944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使用个人背景与约束</a:t>
            </a:r>
            <a:endParaRPr lang="zh-CN" sz="2000" dirty="0"/>
          </a:p>
        </p:txBody>
      </p:sp>
      <p:sp>
        <p:nvSpPr>
          <p:cNvPr id="24" name="Text 22"/>
          <p:cNvSpPr/>
          <p:nvPr/>
        </p:nvSpPr>
        <p:spPr>
          <a:xfrm>
            <a:off x="6409944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6931152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长期服务仍需对应证据</a:t>
            </a:r>
            <a:endParaRPr lang="zh-CN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运行底座能力、具体使用形态、实际交付效果，分别判断。</a:t>
            </a:r>
            <a:endParaRPr lang="zh-CN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第4部分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2022—2026：执行能力与个人服务逐步汇合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我沿两条线理解变化：更能完成工作，更能持续为同一个人工作。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ReAct，2022-10-06 · Toolformer，2023-02-09 等 8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042770" cy="32461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50008"/>
            <a:ext cx="17135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</a:t>
            </a:r>
            <a:endParaRPr lang="zh-CN" sz="2900" dirty="0"/>
          </a:p>
        </p:txBody>
      </p:sp>
      <p:sp>
        <p:nvSpPr>
          <p:cNvPr id="10" name="Text 8"/>
          <p:cNvSpPr/>
          <p:nvPr/>
        </p:nvSpPr>
        <p:spPr>
          <a:xfrm>
            <a:off x="713232" y="2971800"/>
            <a:ext cx="17135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形成执行循环</a:t>
            </a:r>
            <a:endParaRPr lang="zh-CN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3767328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</a:t>
            </a:r>
            <a:endParaRPr lang="zh-CN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4480560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依据行动反馈再决策</a:t>
            </a:r>
            <a:endParaRPr lang="zh-CN" sz="1600" dirty="0"/>
          </a:p>
        </p:txBody>
      </p:sp>
      <p:sp>
        <p:nvSpPr>
          <p:cNvPr id="13" name="Shape 11"/>
          <p:cNvSpPr/>
          <p:nvPr/>
        </p:nvSpPr>
        <p:spPr>
          <a:xfrm>
            <a:off x="2810866" y="2148840"/>
            <a:ext cx="2042770" cy="32461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5458" y="2350008"/>
            <a:ext cx="17135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zh-CN" sz="2900" dirty="0"/>
          </a:p>
        </p:txBody>
      </p:sp>
      <p:sp>
        <p:nvSpPr>
          <p:cNvPr id="15" name="Text 13"/>
          <p:cNvSpPr/>
          <p:nvPr/>
        </p:nvSpPr>
        <p:spPr>
          <a:xfrm>
            <a:off x="2975458" y="2971800"/>
            <a:ext cx="17135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工具与任务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记忆的探索</a:t>
            </a:r>
            <a:endParaRPr lang="zh-CN" sz="1800" dirty="0"/>
          </a:p>
        </p:txBody>
      </p:sp>
      <p:sp>
        <p:nvSpPr>
          <p:cNvPr id="16" name="Text 14"/>
          <p:cNvSpPr/>
          <p:nvPr/>
        </p:nvSpPr>
        <p:spPr>
          <a:xfrm>
            <a:off x="2975458" y="3767328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Toolformer / BabyAGI</a:t>
            </a:r>
            <a:endParaRPr lang="zh-CN" sz="1600" dirty="0"/>
          </a:p>
        </p:txBody>
      </p:sp>
      <p:sp>
        <p:nvSpPr>
          <p:cNvPr id="17" name="Text 15"/>
          <p:cNvSpPr/>
          <p:nvPr/>
        </p:nvSpPr>
        <p:spPr>
          <a:xfrm>
            <a:off x="2975458" y="4480560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跨会话上下文的探索</a:t>
            </a:r>
            <a:endParaRPr lang="zh-CN" sz="1600" dirty="0"/>
          </a:p>
        </p:txBody>
      </p:sp>
      <p:sp>
        <p:nvSpPr>
          <p:cNvPr id="18" name="Shape 16"/>
          <p:cNvSpPr/>
          <p:nvPr/>
        </p:nvSpPr>
        <p:spPr>
          <a:xfrm>
            <a:off x="5073091" y="2148840"/>
            <a:ext cx="2042770" cy="32461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7683" y="2350008"/>
            <a:ext cx="17135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zh-CN" sz="2900" dirty="0"/>
          </a:p>
        </p:txBody>
      </p:sp>
      <p:sp>
        <p:nvSpPr>
          <p:cNvPr id="20" name="Text 18"/>
          <p:cNvSpPr/>
          <p:nvPr/>
        </p:nvSpPr>
        <p:spPr>
          <a:xfrm>
            <a:off x="5237683" y="2971800"/>
            <a:ext cx="17135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获得工作环境</a:t>
            </a:r>
            <a:endParaRPr lang="zh-CN" sz="1800" dirty="0"/>
          </a:p>
        </p:txBody>
      </p:sp>
      <p:sp>
        <p:nvSpPr>
          <p:cNvPr id="21" name="Text 19"/>
          <p:cNvSpPr/>
          <p:nvPr/>
        </p:nvSpPr>
        <p:spPr>
          <a:xfrm>
            <a:off x="5237683" y="3767328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Devin / Computer use</a:t>
            </a:r>
            <a:endParaRPr lang="zh-CN" sz="1600" dirty="0"/>
          </a:p>
        </p:txBody>
      </p:sp>
      <p:sp>
        <p:nvSpPr>
          <p:cNvPr id="22" name="Text 20"/>
          <p:cNvSpPr/>
          <p:nvPr/>
        </p:nvSpPr>
        <p:spPr>
          <a:xfrm>
            <a:off x="5237683" y="4480560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终端、文件、浏览器</a:t>
            </a:r>
            <a:endParaRPr lang="zh-CN" sz="1600" dirty="0"/>
          </a:p>
        </p:txBody>
      </p:sp>
      <p:sp>
        <p:nvSpPr>
          <p:cNvPr id="23" name="Shape 21"/>
          <p:cNvSpPr/>
          <p:nvPr/>
        </p:nvSpPr>
        <p:spPr>
          <a:xfrm>
            <a:off x="7335317" y="2148840"/>
            <a:ext cx="2042770" cy="32461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9909" y="2350008"/>
            <a:ext cx="17135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zh-CN" sz="2900" dirty="0"/>
          </a:p>
        </p:txBody>
      </p:sp>
      <p:sp>
        <p:nvSpPr>
          <p:cNvPr id="25" name="Text 23"/>
          <p:cNvSpPr/>
          <p:nvPr/>
        </p:nvSpPr>
        <p:spPr>
          <a:xfrm>
            <a:off x="7499909" y="2971800"/>
            <a:ext cx="17135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成果委托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运行系统</a:t>
            </a:r>
            <a:endParaRPr lang="zh-CN" sz="1800" dirty="0"/>
          </a:p>
        </p:txBody>
      </p:sp>
      <p:sp>
        <p:nvSpPr>
          <p:cNvPr id="26" name="Text 24"/>
          <p:cNvSpPr/>
          <p:nvPr/>
        </p:nvSpPr>
        <p:spPr>
          <a:xfrm>
            <a:off x="7499909" y="3767328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 / Claude Code</a:t>
            </a:r>
            <a:endParaRPr lang="zh-CN" sz="1600" dirty="0"/>
          </a:p>
        </p:txBody>
      </p:sp>
      <p:sp>
        <p:nvSpPr>
          <p:cNvPr id="27" name="Text 25"/>
          <p:cNvSpPr/>
          <p:nvPr/>
        </p:nvSpPr>
        <p:spPr>
          <a:xfrm>
            <a:off x="7499909" y="4480560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组织较长任务</a:t>
            </a:r>
            <a:endParaRPr lang="zh-CN" sz="1600" dirty="0"/>
          </a:p>
        </p:txBody>
      </p:sp>
      <p:sp>
        <p:nvSpPr>
          <p:cNvPr id="28" name="Shape 26"/>
          <p:cNvSpPr/>
          <p:nvPr/>
        </p:nvSpPr>
        <p:spPr>
          <a:xfrm>
            <a:off x="9597542" y="2148840"/>
            <a:ext cx="2042770" cy="32461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62134" y="2350008"/>
            <a:ext cx="17135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zh-CN" sz="2900" dirty="0"/>
          </a:p>
        </p:txBody>
      </p:sp>
      <p:sp>
        <p:nvSpPr>
          <p:cNvPr id="30" name="Text 28"/>
          <p:cNvSpPr/>
          <p:nvPr/>
        </p:nvSpPr>
        <p:spPr>
          <a:xfrm>
            <a:off x="9762134" y="2971800"/>
            <a:ext cx="17135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持续个人服务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9762134" y="3767328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/ Cue 等</a:t>
            </a:r>
            <a:endParaRPr lang="zh-CN" sz="1600" dirty="0"/>
          </a:p>
        </p:txBody>
      </p:sp>
      <p:sp>
        <p:nvSpPr>
          <p:cNvPr id="32" name="Text 30"/>
          <p:cNvSpPr/>
          <p:nvPr/>
        </p:nvSpPr>
        <p:spPr>
          <a:xfrm>
            <a:off x="9762134" y="4480560"/>
            <a:ext cx="171358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个人状态、渠道与触发</a:t>
            </a:r>
            <a:endParaRPr lang="zh-CN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年份用于定位代表节点；能力在不同产品中并行组合，持续个人服务也有更早探索。</a:t>
            </a:r>
            <a:endParaRPr lang="zh-CN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第4部分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2022—2024：从执行循环到可以工作的环境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有了多步行动，还需要工具、工作场所，以及能留存和检查的结果。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ReAct，2022-10-06 · Toolformer，2023-02-09 等 7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2022—2023｜任务原型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反馈循环接上外部工具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BabyAGI 组织后续任务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原型仍需处理失败与中断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2024｜工作环境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Devin：终端与浏览器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Computer use：GUI 操作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MCP：降低连接的定制成本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2023｜记忆探索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MemGPT：分层记忆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探索跨会话延续个人背景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记忆与任务执行分别验证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模型参与判断；工具与环境提供行动条件。API、GUI 和记忆机制可以互相配合。</a:t>
            </a:r>
            <a:endParaRPr lang="zh-CN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第4部分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2025：Manus 把目标委托组织成成果交付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推理与编码能力、工具和云端环境，开始组合成可委托的工作产品。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 回顾，2025-06-26 · E2B / Manus，2025-05-06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委托一个成果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用户表达目标与完成标准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组织检索、分析与处理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交付报告、文件或网站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提供工作环境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云端电脑承接具体操作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网页、文件与终端协同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中间结果参与后续执行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形成产品体验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多步工作围绕交付组织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用户查看进展并参与修订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结果仍需核对事实与条件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 是理解 2025 年产品变化的重要案例；早期版本与后续个人能力分开判断。</a:t>
            </a:r>
            <a:endParaRPr lang="zh-CN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第4部分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2025：任务变长，Harness 承担更多工作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执行过程越长，越需要管理上下文、工作进度与检查结果。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 上下文工程，2025-07-18 · Claude Agent SDK，2025-09-29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长任务暴露限制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材料与工具结果不断增加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当前上下文容不下全部历史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中断后还要接上已有工作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运行系统组织执行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按需准备资料与调用工具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保存进度和中间成果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检查结果，再继续或交回用户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编码基础走向通用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文件保存状态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运行提供反馈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研究与办公可复用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SDK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Claude Agent SDK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组织执行；MCP 连接工具；Skills 提供方法。它们可以配合，也各有实现差异。</a:t>
            </a:r>
            <a:endParaRPr lang="zh-CN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第4部分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年底—2026：OpenClaw 把执行接入日常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持续委托需要服务可达、工作有状态，并且能在需要时再次启动。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历史记录 · OpenClaw Gateway 架构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从日常渠道委托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 管理渠道连接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在惯用通信入口提出任务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把进展和结果送回用户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延续工作状态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工作区保存资料与成果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会话与个人背景参与后续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受配置与权限约束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需要时再次启动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按时间或事件启动工作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记录状态并投递结果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常驻服务，按需调用模型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展示持续入口与状态的组织方式；当前能力不能回填给早期版本。</a:t>
            </a:r>
            <a:endParaRPr lang="zh-CN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第4部分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走向 Personal Agent：能做事，也能接着为我做事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 Projects 到 Cue 提供了一个样本：通用执行基础与个人服务逐步结合。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Manus Projects，2025-12-01 · Projects / Connectors，2025-12-19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5440680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执行能力这条线</a:t>
            </a:r>
            <a:endParaRPr lang="zh-CN" sz="23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工具与电脑扩大可执行范围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运行系统组织较长的工作</a:t>
            </a:r>
            <a:endParaRPr lang="zh-CN" sz="20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保留成果、验证并继续修订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199632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2167128"/>
            <a:ext cx="5440680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持续个人服务这条线</a:t>
            </a:r>
            <a:endParaRPr lang="zh-CN" sz="2300" dirty="0"/>
          </a:p>
        </p:txBody>
      </p:sp>
      <p:sp>
        <p:nvSpPr>
          <p:cNvPr id="20" name="Text 18"/>
          <p:cNvSpPr/>
          <p:nvPr/>
        </p:nvSpPr>
        <p:spPr>
          <a:xfrm>
            <a:off x="6409944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6931152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个人背景与授权资源影响选择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6409944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日常渠道与触发支持后续工作</a:t>
            </a:r>
            <a:endParaRPr lang="zh-CN" sz="2000" dirty="0"/>
          </a:p>
        </p:txBody>
      </p:sp>
      <p:sp>
        <p:nvSpPr>
          <p:cNvPr id="24" name="Text 22"/>
          <p:cNvSpPr/>
          <p:nvPr/>
        </p:nvSpPr>
        <p:spPr>
          <a:xfrm>
            <a:off x="6409944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6931152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需要决定时把控制权交回用户</a:t>
            </a:r>
            <a:endParaRPr lang="zh-CN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分别判断：能把什么工作做完？能在多大程度上持续为我工作？</a:t>
            </a:r>
            <a:endParaRPr lang="zh-CN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第一批八个产品：先看定位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这是本次重点样本，不是市场份额或能力排名。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公告，2026-09-08 · Dots 官方文档 等 8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1672" cy="393192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122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1122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我关注的定位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122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场景入口</a:t>
            </a:r>
            <a:endParaRPr lang="zh-CN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5973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</a:t>
            </a:r>
            <a:endParaRPr lang="zh-CN" sz="1500" dirty="0"/>
          </a:p>
        </p:txBody>
      </p:sp>
      <p:sp>
        <p:nvSpPr>
          <p:cNvPr id="14" name="Text 12"/>
          <p:cNvSpPr/>
          <p:nvPr/>
        </p:nvSpPr>
        <p:spPr>
          <a:xfrm>
            <a:off x="2953512" y="2459736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个人事务与长期目标</a:t>
            </a:r>
            <a:endParaRPr lang="zh-CN" sz="1400" dirty="0"/>
          </a:p>
        </p:txBody>
      </p:sp>
      <p:sp>
        <p:nvSpPr>
          <p:cNvPr id="15" name="Text 13"/>
          <p:cNvSpPr/>
          <p:nvPr/>
        </p:nvSpPr>
        <p:spPr>
          <a:xfrm>
            <a:off x="6611112" y="2459736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安排、资料、持续待办</a:t>
            </a:r>
            <a:endParaRPr lang="zh-CN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816352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8529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2953512" y="2852928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个人上下文与持续职责</a:t>
            </a:r>
            <a:endParaRPr lang="zh-CN" sz="1400" dirty="0"/>
          </a:p>
        </p:txBody>
      </p:sp>
      <p:sp>
        <p:nvSpPr>
          <p:cNvPr id="19" name="Text 17"/>
          <p:cNvSpPr/>
          <p:nvPr/>
        </p:nvSpPr>
        <p:spPr>
          <a:xfrm>
            <a:off x="6611112" y="2852928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研究资料维护、项目跟进</a:t>
            </a:r>
            <a:endParaRPr lang="zh-CN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09544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4612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</a:t>
            </a:r>
            <a:endParaRPr lang="zh-CN" sz="1500" dirty="0"/>
          </a:p>
        </p:txBody>
      </p:sp>
      <p:sp>
        <p:nvSpPr>
          <p:cNvPr id="22" name="Text 20"/>
          <p:cNvSpPr/>
          <p:nvPr/>
        </p:nvSpPr>
        <p:spPr>
          <a:xfrm>
            <a:off x="2953512" y="3246120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个人代理团队与分工</a:t>
            </a:r>
            <a:endParaRPr lang="zh-CN" sz="1400" dirty="0"/>
          </a:p>
        </p:txBody>
      </p:sp>
      <p:sp>
        <p:nvSpPr>
          <p:cNvPr id="23" name="Text 21"/>
          <p:cNvSpPr/>
          <p:nvPr/>
        </p:nvSpPr>
        <p:spPr>
          <a:xfrm>
            <a:off x="6611112" y="324612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调研、整理、成果交接</a:t>
            </a:r>
            <a:endParaRPr lang="zh-CN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602736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639312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Spark / Task</a:t>
            </a:r>
            <a:endParaRPr lang="zh-CN" sz="1500" dirty="0"/>
          </a:p>
        </p:txBody>
      </p:sp>
      <p:sp>
        <p:nvSpPr>
          <p:cNvPr id="26" name="Text 24"/>
          <p:cNvSpPr/>
          <p:nvPr/>
        </p:nvSpPr>
        <p:spPr>
          <a:xfrm>
            <a:off x="2953512" y="3639312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生态内的任务</a:t>
            </a:r>
            <a:endParaRPr lang="zh-CN" sz="1400" dirty="0"/>
          </a:p>
        </p:txBody>
      </p:sp>
      <p:sp>
        <p:nvSpPr>
          <p:cNvPr id="27" name="Text 25"/>
          <p:cNvSpPr/>
          <p:nvPr/>
        </p:nvSpPr>
        <p:spPr>
          <a:xfrm>
            <a:off x="6611112" y="3639312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邮件、日历、资料与计划</a:t>
            </a:r>
            <a:endParaRPr lang="zh-CN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995928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032504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Bot</a:t>
            </a:r>
            <a:endParaRPr lang="zh-CN" sz="1500" dirty="0"/>
          </a:p>
        </p:txBody>
      </p:sp>
      <p:sp>
        <p:nvSpPr>
          <p:cNvPr id="30" name="Text 28"/>
          <p:cNvSpPr/>
          <p:nvPr/>
        </p:nvSpPr>
        <p:spPr>
          <a:xfrm>
            <a:off x="2953512" y="4032504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长期角色与云端工作</a:t>
            </a:r>
            <a:endParaRPr lang="zh-CN" sz="1400" dirty="0"/>
          </a:p>
        </p:txBody>
      </p:sp>
      <p:sp>
        <p:nvSpPr>
          <p:cNvPr id="31" name="Text 29"/>
          <p:cNvSpPr/>
          <p:nvPr/>
        </p:nvSpPr>
        <p:spPr>
          <a:xfrm>
            <a:off x="6611112" y="4032504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职责分工、方法复用</a:t>
            </a:r>
            <a:endParaRPr lang="zh-CN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389120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442569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zh-CN" sz="1500" dirty="0"/>
          </a:p>
        </p:txBody>
      </p:sp>
      <p:sp>
        <p:nvSpPr>
          <p:cNvPr id="34" name="Text 32"/>
          <p:cNvSpPr/>
          <p:nvPr/>
        </p:nvSpPr>
        <p:spPr>
          <a:xfrm>
            <a:off x="2953512" y="4425696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自建个人助手</a:t>
            </a:r>
            <a:endParaRPr lang="zh-CN" sz="1400" dirty="0"/>
          </a:p>
        </p:txBody>
      </p:sp>
      <p:sp>
        <p:nvSpPr>
          <p:cNvPr id="35" name="Text 33"/>
          <p:cNvSpPr/>
          <p:nvPr/>
        </p:nvSpPr>
        <p:spPr>
          <a:xfrm>
            <a:off x="6611112" y="4425696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惯用渠道、自选工具与运行</a:t>
            </a:r>
            <a:endParaRPr lang="zh-CN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4782312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81888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zh-CN" sz="1500" dirty="0"/>
          </a:p>
        </p:txBody>
      </p:sp>
      <p:sp>
        <p:nvSpPr>
          <p:cNvPr id="38" name="Text 36"/>
          <p:cNvSpPr/>
          <p:nvPr/>
        </p:nvSpPr>
        <p:spPr>
          <a:xfrm>
            <a:off x="2953512" y="4818888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国内个人办公</a:t>
            </a:r>
            <a:endParaRPr lang="zh-CN" sz="1400" dirty="0"/>
          </a:p>
        </p:txBody>
      </p:sp>
      <p:sp>
        <p:nvSpPr>
          <p:cNvPr id="39" name="Text 37"/>
          <p:cNvSpPr/>
          <p:nvPr/>
        </p:nvSpPr>
        <p:spPr>
          <a:xfrm>
            <a:off x="6611112" y="4818888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文件、文档、表格与 PPT</a:t>
            </a:r>
            <a:endParaRPr lang="zh-CN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5175504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521208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Duet</a:t>
            </a:r>
            <a:endParaRPr lang="zh-CN" sz="1500" dirty="0"/>
          </a:p>
        </p:txBody>
      </p:sp>
      <p:sp>
        <p:nvSpPr>
          <p:cNvPr id="42" name="Text 40"/>
          <p:cNvSpPr/>
          <p:nvPr/>
        </p:nvSpPr>
        <p:spPr>
          <a:xfrm>
            <a:off x="2953512" y="5212080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主动发现与持续跟进</a:t>
            </a:r>
            <a:endParaRPr lang="zh-CN" sz="1400" dirty="0"/>
          </a:p>
        </p:txBody>
      </p:sp>
      <p:sp>
        <p:nvSpPr>
          <p:cNvPr id="43" name="Text 41"/>
          <p:cNvSpPr/>
          <p:nvPr/>
        </p:nvSpPr>
        <p:spPr>
          <a:xfrm>
            <a:off x="6611112" y="521208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简报、待办与用户决策</a:t>
            </a:r>
            <a:endParaRPr lang="zh-CN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先选定要委托的工作，再比较产品条件与交付方式。</a:t>
            </a:r>
            <a:endParaRPr lang="zh-CN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Muse｜把个人目标变成持续行动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的托管个人代理：结合个人背景，跨应用推进任务并带回成果。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发布介绍 · Muse 产品设计 等 3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目标与交互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应用或 WhatsApp 交谈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Goals 看目标，Activity 看进展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记忆与后续对话延续背景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工作与交付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在后台组织多项工作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交付文档、网页与跟踪表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需要决定时联系用户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典型业务与场景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旅行、家庭安排与个人待办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个人计划与阶段目标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内容准备与个人经营事务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我关注的价值：目标、个人背景与后续行动能否接得起来。</a:t>
            </a:r>
            <a:endParaRPr lang="zh-CN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场景｜两天行程，从方案到变化后的调整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用一个完整委托，连接输入、执行、成果与用户参与。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发布介绍 · Muse 产品设计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11091672" cy="987552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057400"/>
            <a:ext cx="10689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场景委托 · 作者构造，未实测</a:t>
            </a:r>
            <a:endParaRPr lang="zh-CN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10689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安排两天行程，预算 3000 元；给两套方案，日期变化后接着调整，先不预订或付款。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提供背景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日期、预算、同行人与偏好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713232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授权日历与已有安排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3175254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76422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1014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组织方案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3541014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比较交通与住宿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3541014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单列缺失信息和待定项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6003036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04204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8796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收到成果</a:t>
            </a:r>
            <a:endParaRPr lang="zh-CN" sz="2000" dirty="0"/>
          </a:p>
        </p:txBody>
      </p:sp>
      <p:sp>
        <p:nvSpPr>
          <p:cNvPr id="23" name="Text 21"/>
          <p:cNvSpPr/>
          <p:nvPr/>
        </p:nvSpPr>
        <p:spPr>
          <a:xfrm>
            <a:off x="6368796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两套行程与费用构成</a:t>
            </a:r>
            <a:endParaRPr lang="zh-CN" sz="1700" dirty="0"/>
          </a:p>
        </p:txBody>
      </p:sp>
      <p:sp>
        <p:nvSpPr>
          <p:cNvPr id="24" name="Text 22"/>
          <p:cNvSpPr/>
          <p:nvPr/>
        </p:nvSpPr>
        <p:spPr>
          <a:xfrm>
            <a:off x="6368796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时间变化后修订已有方案</a:t>
            </a:r>
            <a:endParaRPr lang="zh-CN" sz="1700" dirty="0"/>
          </a:p>
        </p:txBody>
      </p:sp>
      <p:sp>
        <p:nvSpPr>
          <p:cNvPr id="25" name="Shape 23"/>
          <p:cNvSpPr/>
          <p:nvPr/>
        </p:nvSpPr>
        <p:spPr>
          <a:xfrm>
            <a:off x="8830818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31986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6578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作出决定</a:t>
            </a:r>
            <a:endParaRPr lang="zh-CN" sz="2000" dirty="0"/>
          </a:p>
        </p:txBody>
      </p:sp>
      <p:sp>
        <p:nvSpPr>
          <p:cNvPr id="28" name="Text 26"/>
          <p:cNvSpPr/>
          <p:nvPr/>
        </p:nvSpPr>
        <p:spPr>
          <a:xfrm>
            <a:off x="9196578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核对价格、退改与时间</a:t>
            </a:r>
            <a:endParaRPr lang="zh-CN" sz="1700" dirty="0"/>
          </a:p>
        </p:txBody>
      </p:sp>
      <p:sp>
        <p:nvSpPr>
          <p:cNvPr id="29" name="Text 27"/>
          <p:cNvSpPr/>
          <p:nvPr/>
        </p:nvSpPr>
        <p:spPr>
          <a:xfrm>
            <a:off x="9196578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选择方案后再确认外部动作</a:t>
            </a:r>
            <a:endParaRPr lang="zh-CN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看清变化后的继续处理；方案、预订与付款是不同的交付阶段。</a:t>
            </a:r>
            <a:endParaRPr lang="zh-CN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Dots｜把持续职责交给同一个代理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OpenAI：在 ChatGPT 中保持工作背景，跟进变化并协调后台任务。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 产品文档 · Dots 任务与记忆 等 3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连续的工作关系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沿用当前背景与相关记忆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自己的笔记保存工作线索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补充要求后继续原有工作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任务与交付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将较大工作委派到后台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Activity 查看任务和结果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Scheduled 核对周期工作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适合哪些职责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维护研究资料与比较笔记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跟踪项目变化与待回复项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把反馈组织成待检查修订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我关注的价值：把需要持续维护的工作留下来，而不必每次重新开始。</a:t>
            </a:r>
            <a:endParaRPr lang="zh-CN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 场景｜持续维护 Agent 框架比较笔记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用一个完整委托，连接输入、执行、成果与用户参与。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 任务与记忆 · Dots 电脑与应用 等 3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11091672" cy="987552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057400"/>
            <a:ext cx="10689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场景委托 · 作者构造，未实测</a:t>
            </a:r>
            <a:endParaRPr lang="zh-CN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10689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维护三个框架的比较笔记四周；每周汇总变化，影响部署选择时带回证据和待决问题。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给出职责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框架、维度、旧笔记与来源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713232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明确范围、周期和交付位置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3175254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76422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1014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持续跟进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3541014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先形成比较基线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3541014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新资料到来后核对旧结论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6003036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04204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8796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带回结果</a:t>
            </a:r>
            <a:endParaRPr lang="zh-CN" sz="2000" dirty="0"/>
          </a:p>
        </p:txBody>
      </p:sp>
      <p:sp>
        <p:nvSpPr>
          <p:cNvPr id="23" name="Text 21"/>
          <p:cNvSpPr/>
          <p:nvPr/>
        </p:nvSpPr>
        <p:spPr>
          <a:xfrm>
            <a:off x="6368796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变更表、引用与修订草稿</a:t>
            </a:r>
            <a:endParaRPr lang="zh-CN" sz="1700" dirty="0"/>
          </a:p>
        </p:txBody>
      </p:sp>
      <p:sp>
        <p:nvSpPr>
          <p:cNvPr id="24" name="Text 22"/>
          <p:cNvSpPr/>
          <p:nvPr/>
        </p:nvSpPr>
        <p:spPr>
          <a:xfrm>
            <a:off x="6368796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把影响部署的问题单列</a:t>
            </a:r>
            <a:endParaRPr lang="zh-CN" sz="1700" dirty="0"/>
          </a:p>
        </p:txBody>
      </p:sp>
      <p:sp>
        <p:nvSpPr>
          <p:cNvPr id="25" name="Shape 23"/>
          <p:cNvSpPr/>
          <p:nvPr/>
        </p:nvSpPr>
        <p:spPr>
          <a:xfrm>
            <a:off x="8830818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31986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6578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用户参与</a:t>
            </a:r>
            <a:endParaRPr lang="zh-CN" sz="2000" dirty="0"/>
          </a:p>
        </p:txBody>
      </p:sp>
      <p:sp>
        <p:nvSpPr>
          <p:cNvPr id="28" name="Text 26"/>
          <p:cNvSpPr/>
          <p:nvPr/>
        </p:nvSpPr>
        <p:spPr>
          <a:xfrm>
            <a:off x="9196578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调整优先级并核对证据</a:t>
            </a:r>
            <a:endParaRPr lang="zh-CN" sz="1700" dirty="0"/>
          </a:p>
        </p:txBody>
      </p:sp>
      <p:sp>
        <p:nvSpPr>
          <p:cNvPr id="29" name="Text 27"/>
          <p:cNvSpPr/>
          <p:nvPr/>
        </p:nvSpPr>
        <p:spPr>
          <a:xfrm>
            <a:off x="9196578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确认合入；分别管理任务排程</a:t>
            </a:r>
            <a:endParaRPr lang="zh-CN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关注旧结论怎样随新信息更新；云端工作与本机访问保留各自条件。</a:t>
            </a:r>
            <a:endParaRPr lang="zh-CN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Duet｜主动带回待办与待决事项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Anthropic：从已连接的工作信息出发，准备简报、成果和需要用户决定的事项。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Duet 发布公告 · Duet 当前功能与条件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每天怎样协作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晨间简报与期间检查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持续主对话与主题频道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 看工作，Make 看成果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适合哪些工作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会前简报与资料缺口整理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待回复事项与草稿准备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客户跟进与未付账单检查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当前使用条件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Pro / Max 候补预览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后台工作计入套餐用量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有检查间隔；动作按条件批准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我关注的价值：为什么现在来找我，以及这次到底需要我决定什么。</a:t>
            </a:r>
            <a:endParaRPr lang="zh-CN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Duet 场景｜准备项目评审与待决清单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用一个完整委托，连接输入、执行、成果与用户参与。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Duet 发布公告 · Duet 当前功能与条件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11091672" cy="987552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057400"/>
            <a:ext cx="10689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场景委托 · 作者构造，未实测</a:t>
            </a:r>
            <a:endParaRPr lang="zh-CN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10689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结合授权邮件、日历和评审资料，整理本周会前简报、未回复问题与待决项，先不发送。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连接输入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邮件、日历与明确提供的文件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713232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说明本周关注的项目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3175254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76422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1014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筛选与准备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3541014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找相关会议和资料缺口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3541014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起草回复，解释事项优先级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6003036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04204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8796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收到交付</a:t>
            </a:r>
            <a:endParaRPr lang="zh-CN" sz="2000" dirty="0"/>
          </a:p>
        </p:txBody>
      </p:sp>
      <p:sp>
        <p:nvSpPr>
          <p:cNvPr id="23" name="Text 21"/>
          <p:cNvSpPr/>
          <p:nvPr/>
        </p:nvSpPr>
        <p:spPr>
          <a:xfrm>
            <a:off x="6368796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会前简报与回复草稿</a:t>
            </a:r>
            <a:endParaRPr lang="zh-CN" sz="1700" dirty="0"/>
          </a:p>
        </p:txBody>
      </p:sp>
      <p:sp>
        <p:nvSpPr>
          <p:cNvPr id="24" name="Text 22"/>
          <p:cNvSpPr/>
          <p:nvPr/>
        </p:nvSpPr>
        <p:spPr>
          <a:xfrm>
            <a:off x="6368796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完成或需判断时联系用户</a:t>
            </a:r>
            <a:endParaRPr lang="zh-CN" sz="1700" dirty="0"/>
          </a:p>
        </p:txBody>
      </p:sp>
      <p:sp>
        <p:nvSpPr>
          <p:cNvPr id="25" name="Shape 23"/>
          <p:cNvSpPr/>
          <p:nvPr/>
        </p:nvSpPr>
        <p:spPr>
          <a:xfrm>
            <a:off x="8830818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31986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6578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处理待决项</a:t>
            </a:r>
            <a:endParaRPr lang="zh-CN" sz="2000" dirty="0"/>
          </a:p>
        </p:txBody>
      </p:sp>
      <p:sp>
        <p:nvSpPr>
          <p:cNvPr id="28" name="Text 26"/>
          <p:cNvSpPr/>
          <p:nvPr/>
        </p:nvSpPr>
        <p:spPr>
          <a:xfrm>
            <a:off x="9196578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检查遗漏和紧急程度</a:t>
            </a:r>
            <a:endParaRPr lang="zh-CN" sz="1700" dirty="0"/>
          </a:p>
        </p:txBody>
      </p:sp>
      <p:sp>
        <p:nvSpPr>
          <p:cNvPr id="29" name="Text 27"/>
          <p:cNvSpPr/>
          <p:nvPr/>
        </p:nvSpPr>
        <p:spPr>
          <a:xfrm>
            <a:off x="9196578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批准发送或调整安排</a:t>
            </a:r>
            <a:endParaRPr lang="zh-CN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资料变成简报，简报变成待决项；判断与外部承诺仍由用户把关。</a:t>
            </a:r>
            <a:endParaRPr lang="zh-CN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WorkBuddy｜把已有材料变成办公成果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腾讯的 AI 工作台：围绕文件与应用，交付可编辑的文档、表格、图表与 PPT。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产品简介 · WorkBuddy 数据分析案例 等 7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文件与办公应用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读取授权文件、整理和分析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/ CSV 到图表与报告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腾讯文档搜索、引用与回写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个人与持续工作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记忆保留相关个人偏好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定时整理简报与周报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团队项目配置另有共享范围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使用入口与条件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微信、企微等远程触发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本机任务需要客户端运行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云端任务按云端条件执行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我关注的价值：材料能否直接参与处理，成果能否继续编辑与复核。</a:t>
            </a:r>
            <a:endParaRPr lang="zh-CN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场景｜从项目材料到表格、图表和 PPT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用一个完整委托，连接输入、执行、成果与用户参与。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产品简介 · WorkBuddy 数据分析案例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11091672" cy="987552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057400"/>
            <a:ext cx="10689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场景委托 · 作者构造，未实测</a:t>
            </a:r>
            <a:endParaRPr lang="zh-CN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10689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根据指定进度表、问题记录和纪要，交付汇总表、进度图与五页 PPT；保留来源，不覆盖原件。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提供材料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授权目录、表格与会议纪要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713232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给出指标口径和已有模板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3175254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76422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1014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整理与分析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3541014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对齐日期、项目与状态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3541014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把重复、冲突和缺失单列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6003036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04204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8796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交付成果</a:t>
            </a:r>
            <a:endParaRPr lang="zh-CN" sz="2000" dirty="0"/>
          </a:p>
        </p:txBody>
      </p:sp>
      <p:sp>
        <p:nvSpPr>
          <p:cNvPr id="23" name="Text 21"/>
          <p:cNvSpPr/>
          <p:nvPr/>
        </p:nvSpPr>
        <p:spPr>
          <a:xfrm>
            <a:off x="6368796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汇总表、图表与五页 PPT</a:t>
            </a:r>
            <a:endParaRPr lang="zh-CN" sz="1700" dirty="0"/>
          </a:p>
        </p:txBody>
      </p:sp>
      <p:sp>
        <p:nvSpPr>
          <p:cNvPr id="24" name="Text 22"/>
          <p:cNvSpPr/>
          <p:nvPr/>
        </p:nvSpPr>
        <p:spPr>
          <a:xfrm>
            <a:off x="6368796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保留引用并沿用同一口径</a:t>
            </a:r>
            <a:endParaRPr lang="zh-CN" sz="1700" dirty="0"/>
          </a:p>
        </p:txBody>
      </p:sp>
      <p:sp>
        <p:nvSpPr>
          <p:cNvPr id="25" name="Shape 23"/>
          <p:cNvSpPr/>
          <p:nvPr/>
        </p:nvSpPr>
        <p:spPr>
          <a:xfrm>
            <a:off x="8830818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31986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6578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修订与复核</a:t>
            </a:r>
            <a:endParaRPr lang="zh-CN" sz="2000" dirty="0"/>
          </a:p>
        </p:txBody>
      </p:sp>
      <p:sp>
        <p:nvSpPr>
          <p:cNvPr id="28" name="Text 26"/>
          <p:cNvSpPr/>
          <p:nvPr/>
        </p:nvSpPr>
        <p:spPr>
          <a:xfrm>
            <a:off x="9196578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检查数字、状态和结论</a:t>
            </a:r>
            <a:endParaRPr lang="zh-CN" sz="1700" dirty="0"/>
          </a:p>
        </p:txBody>
      </p:sp>
      <p:sp>
        <p:nvSpPr>
          <p:cNvPr id="29" name="Text 27"/>
          <p:cNvSpPr/>
          <p:nvPr/>
        </p:nvSpPr>
        <p:spPr>
          <a:xfrm>
            <a:off x="9196578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提出修订后再更新正式材料</a:t>
            </a:r>
            <a:endParaRPr lang="zh-CN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把数字、图表与结论连回原始资料；文件生成之后仍要复核和修订。</a:t>
            </a:r>
            <a:endParaRPr lang="zh-CN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其余四款：补充不同的组织路线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继续保留第一批八款的广度，各用一个场景理解差异。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 / Manus 官方帮助 · Gemini Task 帮助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1672" cy="393192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122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1122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我关注的组织方式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122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场景入口</a:t>
            </a:r>
            <a:endParaRPr lang="zh-CN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77266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59736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2953512" y="2459736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有通信与执行资源的角色团队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6611112" y="2459736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调研、整理、交接；看协调是否减少</a:t>
            </a:r>
            <a:endParaRPr lang="zh-CN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772668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232404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Spark / Task</a:t>
            </a:r>
            <a:endParaRPr lang="zh-CN" sz="1700" dirty="0"/>
          </a:p>
        </p:txBody>
      </p:sp>
      <p:sp>
        <p:nvSpPr>
          <p:cNvPr id="18" name="Text 16"/>
          <p:cNvSpPr/>
          <p:nvPr/>
        </p:nvSpPr>
        <p:spPr>
          <a:xfrm>
            <a:off x="2953512" y="3232404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应用与个人上下文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6611112" y="3232404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邮件、日历和文件中的个人任务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11091672" cy="77266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005072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Bot</a:t>
            </a:r>
            <a:endParaRPr lang="zh-CN" sz="1700" dirty="0"/>
          </a:p>
        </p:txBody>
      </p:sp>
      <p:sp>
        <p:nvSpPr>
          <p:cNvPr id="22" name="Text 20"/>
          <p:cNvSpPr/>
          <p:nvPr/>
        </p:nvSpPr>
        <p:spPr>
          <a:xfrm>
            <a:off x="2953512" y="4005072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长期角色、云端环境与复用方法</a:t>
            </a:r>
            <a:endParaRPr lang="zh-CN" sz="1700" dirty="0"/>
          </a:p>
        </p:txBody>
      </p:sp>
      <p:sp>
        <p:nvSpPr>
          <p:cNvPr id="23" name="Text 21"/>
          <p:cNvSpPr/>
          <p:nvPr/>
        </p:nvSpPr>
        <p:spPr>
          <a:xfrm>
            <a:off x="6611112" y="4005072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持续业务职责；个人与团队分开</a:t>
            </a:r>
            <a:endParaRPr lang="zh-CN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741164"/>
            <a:ext cx="11091672" cy="772668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777740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2953512" y="4777740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自行组合模型、渠道与运行环境</a:t>
            </a:r>
            <a:endParaRPr lang="zh-CN" sz="1700" dirty="0"/>
          </a:p>
        </p:txBody>
      </p:sp>
      <p:sp>
        <p:nvSpPr>
          <p:cNvPr id="27" name="Text 25"/>
          <p:cNvSpPr/>
          <p:nvPr/>
        </p:nvSpPr>
        <p:spPr>
          <a:xfrm>
            <a:off x="6611112" y="4777740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惯用渠道委托；承担配置和维护</a:t>
            </a:r>
            <a:endParaRPr lang="zh-CN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四款重点展开，四款补充路线；都按个人使用形态及具体条件观察。</a:t>
            </a:r>
            <a:endParaRPr lang="zh-CN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同一类工作，四个不同的委托入口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以准备项目评审材料为共同背景；这是观察方法，不是同条件评测排名。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发布介绍 · Dots 产品文档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1672" cy="393192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122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1122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我会从什么委托开始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122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我希望看清的结果</a:t>
            </a:r>
            <a:endParaRPr lang="zh-CN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77266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59736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2953512" y="2459736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围绕个人目标组织安排与资料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6611112" y="2459736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目标、计划与变化后的修订能否接上</a:t>
            </a:r>
            <a:endParaRPr lang="zh-CN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772668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232404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</a:t>
            </a:r>
            <a:endParaRPr lang="zh-CN" sz="1700" dirty="0"/>
          </a:p>
        </p:txBody>
      </p:sp>
      <p:sp>
        <p:nvSpPr>
          <p:cNvPr id="18" name="Text 16"/>
          <p:cNvSpPr/>
          <p:nvPr/>
        </p:nvSpPr>
        <p:spPr>
          <a:xfrm>
            <a:off x="2953512" y="3232404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持续维护研究笔记与项目变化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6611112" y="3232404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新资料如何影响旧结论，职责能否延续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11091672" cy="77266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005072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Duet</a:t>
            </a:r>
            <a:endParaRPr lang="zh-CN" sz="1700" dirty="0"/>
          </a:p>
        </p:txBody>
      </p:sp>
      <p:sp>
        <p:nvSpPr>
          <p:cNvPr id="22" name="Text 20"/>
          <p:cNvSpPr/>
          <p:nvPr/>
        </p:nvSpPr>
        <p:spPr>
          <a:xfrm>
            <a:off x="2953512" y="4005072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从邮件、日历准备会前事项</a:t>
            </a:r>
            <a:endParaRPr lang="zh-CN" sz="1700" dirty="0"/>
          </a:p>
        </p:txBody>
      </p:sp>
      <p:sp>
        <p:nvSpPr>
          <p:cNvPr id="23" name="Text 21"/>
          <p:cNvSpPr/>
          <p:nvPr/>
        </p:nvSpPr>
        <p:spPr>
          <a:xfrm>
            <a:off x="6611112" y="4005072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简报是否有用，待决与打扰是否合适</a:t>
            </a:r>
            <a:endParaRPr lang="zh-CN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741164"/>
            <a:ext cx="11091672" cy="772668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777740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2953512" y="4777740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把指定文件加工成表、图和 PPT</a:t>
            </a:r>
            <a:endParaRPr lang="zh-CN" sz="1700" dirty="0"/>
          </a:p>
        </p:txBody>
      </p:sp>
      <p:sp>
        <p:nvSpPr>
          <p:cNvPr id="27" name="Text 25"/>
          <p:cNvSpPr/>
          <p:nvPr/>
        </p:nvSpPr>
        <p:spPr>
          <a:xfrm>
            <a:off x="6611112" y="4777740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数字、引用与口径一致，成果便于修改</a:t>
            </a:r>
            <a:endParaRPr lang="zh-CN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先确定要减少哪一种重复工作，再比较资料、交付、人工参与和使用条件。</a:t>
            </a:r>
            <a:endParaRPr lang="zh-CN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第二批八个对象：各补充一个观察点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简要点到，作为后续阅读与比较的入口。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官方介绍 · Autopilot 官方产品说明 等 8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1672" cy="393192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122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1122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补充观察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122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保留的条件</a:t>
            </a:r>
            <a:endParaRPr lang="zh-CN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5973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zh-CN" sz="1500" dirty="0"/>
          </a:p>
        </p:txBody>
      </p:sp>
      <p:sp>
        <p:nvSpPr>
          <p:cNvPr id="14" name="Text 12"/>
          <p:cNvSpPr/>
          <p:nvPr/>
        </p:nvSpPr>
        <p:spPr>
          <a:xfrm>
            <a:off x="2953512" y="2459736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自建、记忆与经验技能</a:t>
            </a:r>
            <a:endParaRPr lang="zh-CN" sz="1400" dirty="0"/>
          </a:p>
        </p:txBody>
      </p:sp>
      <p:sp>
        <p:nvSpPr>
          <p:cNvPr id="15" name="Text 13"/>
          <p:cNvSpPr/>
          <p:nvPr/>
        </p:nvSpPr>
        <p:spPr>
          <a:xfrm>
            <a:off x="6611112" y="2459736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保留个人助手形态</a:t>
            </a:r>
            <a:endParaRPr lang="zh-CN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816352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8529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Autopilot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2953512" y="2852928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组织上下文中的个人工作</a:t>
            </a:r>
            <a:endParaRPr lang="zh-CN" sz="1400" dirty="0"/>
          </a:p>
        </p:txBody>
      </p:sp>
      <p:sp>
        <p:nvSpPr>
          <p:cNvPr id="19" name="Text 17"/>
          <p:cNvSpPr/>
          <p:nvPr/>
        </p:nvSpPr>
        <p:spPr>
          <a:xfrm>
            <a:off x="6611112" y="2852928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Private Preview，条件单独看</a:t>
            </a:r>
            <a:endParaRPr lang="zh-CN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09544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4612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Poke</a:t>
            </a:r>
            <a:endParaRPr lang="zh-CN" sz="1500" dirty="0"/>
          </a:p>
        </p:txBody>
      </p:sp>
      <p:sp>
        <p:nvSpPr>
          <p:cNvPr id="22" name="Text 20"/>
          <p:cNvSpPr/>
          <p:nvPr/>
        </p:nvSpPr>
        <p:spPr>
          <a:xfrm>
            <a:off x="2953512" y="3246120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消息入口与个人事务</a:t>
            </a:r>
            <a:endParaRPr lang="zh-CN" sz="1400" dirty="0"/>
          </a:p>
        </p:txBody>
      </p:sp>
      <p:sp>
        <p:nvSpPr>
          <p:cNvPr id="23" name="Text 21"/>
          <p:cNvSpPr/>
          <p:nvPr/>
        </p:nvSpPr>
        <p:spPr>
          <a:xfrm>
            <a:off x="6611112" y="324612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邮件、日历与自动化</a:t>
            </a:r>
            <a:endParaRPr lang="zh-CN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602736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639312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Lindy</a:t>
            </a:r>
            <a:endParaRPr lang="zh-CN" sz="1500" dirty="0"/>
          </a:p>
        </p:txBody>
      </p:sp>
      <p:sp>
        <p:nvSpPr>
          <p:cNvPr id="26" name="Text 24"/>
          <p:cNvSpPr/>
          <p:nvPr/>
        </p:nvSpPr>
        <p:spPr>
          <a:xfrm>
            <a:off x="2953512" y="3639312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个人与团队例行工作</a:t>
            </a:r>
            <a:endParaRPr lang="zh-CN" sz="1400" dirty="0"/>
          </a:p>
        </p:txBody>
      </p:sp>
      <p:sp>
        <p:nvSpPr>
          <p:cNvPr id="27" name="Text 25"/>
          <p:cNvSpPr/>
          <p:nvPr/>
        </p:nvSpPr>
        <p:spPr>
          <a:xfrm>
            <a:off x="6611112" y="3639312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限定个人使用形态</a:t>
            </a:r>
            <a:endParaRPr lang="zh-CN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995928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032504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Claw</a:t>
            </a:r>
            <a:endParaRPr lang="zh-CN" sz="1500" dirty="0"/>
          </a:p>
        </p:txBody>
      </p:sp>
      <p:sp>
        <p:nvSpPr>
          <p:cNvPr id="30" name="Text 28"/>
          <p:cNvSpPr/>
          <p:nvPr/>
        </p:nvSpPr>
        <p:spPr>
          <a:xfrm>
            <a:off x="2953512" y="4032504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产品化</a:t>
            </a:r>
            <a:endParaRPr lang="zh-CN" sz="1400" dirty="0"/>
          </a:p>
        </p:txBody>
      </p:sp>
      <p:sp>
        <p:nvSpPr>
          <p:cNvPr id="31" name="Text 29"/>
          <p:cNvSpPr/>
          <p:nvPr/>
        </p:nvSpPr>
        <p:spPr>
          <a:xfrm>
            <a:off x="6611112" y="4032504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同一技术谱系，不重复计路线</a:t>
            </a:r>
            <a:endParaRPr lang="zh-CN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389120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442569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Computer</a:t>
            </a:r>
            <a:endParaRPr lang="zh-CN" sz="1500" dirty="0"/>
          </a:p>
        </p:txBody>
      </p:sp>
      <p:sp>
        <p:nvSpPr>
          <p:cNvPr id="34" name="Text 32"/>
          <p:cNvSpPr/>
          <p:nvPr/>
        </p:nvSpPr>
        <p:spPr>
          <a:xfrm>
            <a:off x="2953512" y="4425696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个人电脑参与执行</a:t>
            </a:r>
            <a:endParaRPr lang="zh-CN" sz="1400" dirty="0"/>
          </a:p>
        </p:txBody>
      </p:sp>
      <p:sp>
        <p:nvSpPr>
          <p:cNvPr id="35" name="Text 33"/>
          <p:cNvSpPr/>
          <p:nvPr/>
        </p:nvSpPr>
        <p:spPr>
          <a:xfrm>
            <a:off x="6611112" y="4425696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第二批参考样本</a:t>
            </a:r>
            <a:endParaRPr lang="zh-CN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4782312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81888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</a:t>
            </a:r>
            <a:endParaRPr lang="zh-CN" sz="1500" dirty="0"/>
          </a:p>
        </p:txBody>
      </p:sp>
      <p:sp>
        <p:nvSpPr>
          <p:cNvPr id="38" name="Text 36"/>
          <p:cNvSpPr/>
          <p:nvPr/>
        </p:nvSpPr>
        <p:spPr>
          <a:xfrm>
            <a:off x="2953512" y="4818888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工作助手与运行底座</a:t>
            </a:r>
            <a:endParaRPr lang="zh-CN" sz="1400" dirty="0"/>
          </a:p>
        </p:txBody>
      </p:sp>
      <p:sp>
        <p:nvSpPr>
          <p:cNvPr id="39" name="Text 37"/>
          <p:cNvSpPr/>
          <p:nvPr/>
        </p:nvSpPr>
        <p:spPr>
          <a:xfrm>
            <a:off x="6611112" y="4818888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边界对照，长期服务待证实</a:t>
            </a:r>
            <a:endParaRPr lang="zh-CN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5175504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521208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Cowork</a:t>
            </a:r>
            <a:endParaRPr lang="zh-CN" sz="1500" dirty="0"/>
          </a:p>
        </p:txBody>
      </p:sp>
      <p:sp>
        <p:nvSpPr>
          <p:cNvPr id="42" name="Text 40"/>
          <p:cNvSpPr/>
          <p:nvPr/>
        </p:nvSpPr>
        <p:spPr>
          <a:xfrm>
            <a:off x="2953512" y="5212080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个人知识成果交付</a:t>
            </a:r>
            <a:endParaRPr lang="zh-CN" sz="1400" dirty="0"/>
          </a:p>
        </p:txBody>
      </p:sp>
      <p:sp>
        <p:nvSpPr>
          <p:cNvPr id="43" name="Text 41"/>
          <p:cNvSpPr/>
          <p:nvPr/>
        </p:nvSpPr>
        <p:spPr>
          <a:xfrm>
            <a:off x="6611112" y="521208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记忆、后台与计划条件分别看</a:t>
            </a:r>
            <a:endParaRPr lang="zh-CN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两批各八个；研究对象数量，不等于完整能力已经逐一实测。</a:t>
            </a:r>
            <a:endParaRPr lang="zh-CN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第6部分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演示：三份材料，整理一页周报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材料与操作脚本已准备；本轮尚未在 Muse 中执行。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作者学习归纳 / 模拟演示脚本 · 不是产品实测结论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5440680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输入与任务</a:t>
            </a:r>
            <a:endParaRPr lang="zh-CN" sz="23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学习背景、本周记录、后续计划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只根据模拟材料整理周报</a:t>
            </a:r>
            <a:endParaRPr lang="zh-CN" sz="20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正文不超过 600 字，附来源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199632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2167128"/>
            <a:ext cx="5440680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完成标准</a:t>
            </a:r>
            <a:endParaRPr lang="zh-CN" sz="2300" dirty="0"/>
          </a:p>
        </p:txBody>
      </p:sp>
      <p:sp>
        <p:nvSpPr>
          <p:cNvPr id="20" name="Text 18"/>
          <p:cNvSpPr/>
          <p:nvPr/>
        </p:nvSpPr>
        <p:spPr>
          <a:xfrm>
            <a:off x="6409944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6931152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本周进展、未决问题、下周计划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6409944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不把计划与实验设计写成结果</a:t>
            </a:r>
            <a:endParaRPr lang="zh-CN" sz="2000" dirty="0"/>
          </a:p>
        </p:txBody>
      </p:sp>
      <p:sp>
        <p:nvSpPr>
          <p:cNvPr id="24" name="Text 22"/>
          <p:cNvSpPr/>
          <p:nvPr/>
        </p:nvSpPr>
        <p:spPr>
          <a:xfrm>
            <a:off x="6409944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6931152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 Markdown 文件或正文</a:t>
            </a:r>
            <a:endParaRPr lang="zh-CN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人工预期样例是验收参考，不是 Muse 的实际产物。</a:t>
            </a:r>
            <a:endParaRPr lang="zh-CN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第6部分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演示：委托、观察、修订、验收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本页停留进行实际操作；按真实进展记录结果。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作者学习归纳 / 模拟演示脚本 · 不是产品实测结论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1672" cy="393192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122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1122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122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看什么</a:t>
            </a:r>
            <a:endParaRPr lang="zh-CN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77266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59736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0:00–1:00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2953512" y="2459736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展示材料、目标；进入对话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6611112" y="2459736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背景与完成标准是否清楚</a:t>
            </a:r>
            <a:endParaRPr lang="zh-CN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772668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232404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1:00–3:00</a:t>
            </a:r>
            <a:endParaRPr lang="zh-CN" sz="1700" dirty="0"/>
          </a:p>
        </p:txBody>
      </p:sp>
      <p:sp>
        <p:nvSpPr>
          <p:cNvPr id="18" name="Text 16"/>
          <p:cNvSpPr/>
          <p:nvPr/>
        </p:nvSpPr>
        <p:spPr>
          <a:xfrm>
            <a:off x="2953512" y="3232404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提交材料、委托；查看进展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6611112" y="3232404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如何整理资料、处理不确定信息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11091672" cy="77266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005072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3:00–4:15</a:t>
            </a:r>
            <a:endParaRPr lang="zh-CN" sz="1700" dirty="0"/>
          </a:p>
        </p:txBody>
      </p:sp>
      <p:sp>
        <p:nvSpPr>
          <p:cNvPr id="22" name="Text 20"/>
          <p:cNvSpPr/>
          <p:nvPr/>
        </p:nvSpPr>
        <p:spPr>
          <a:xfrm>
            <a:off x="2953512" y="4005072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验收初稿；提出一条修订</a:t>
            </a:r>
            <a:endParaRPr lang="zh-CN" sz="1700" dirty="0"/>
          </a:p>
        </p:txBody>
      </p:sp>
      <p:sp>
        <p:nvSpPr>
          <p:cNvPr id="23" name="Text 21"/>
          <p:cNvSpPr/>
          <p:nvPr/>
        </p:nvSpPr>
        <p:spPr>
          <a:xfrm>
            <a:off x="6611112" y="4005072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是否沿用事实并只改指定部分</a:t>
            </a:r>
            <a:endParaRPr lang="zh-CN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741164"/>
            <a:ext cx="11091672" cy="772668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777740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4:15–5:00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2953512" y="4777740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打开或保存成果；回看过程</a:t>
            </a:r>
            <a:endParaRPr lang="zh-CN" sz="1700" dirty="0"/>
          </a:p>
        </p:txBody>
      </p:sp>
      <p:sp>
        <p:nvSpPr>
          <p:cNvPr id="27" name="Text 25"/>
          <p:cNvSpPr/>
          <p:nvPr/>
        </p:nvSpPr>
        <p:spPr>
          <a:xfrm>
            <a:off x="6611112" y="4777740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哪些完成，哪些还需人工判断</a:t>
            </a:r>
            <a:endParaRPr lang="zh-CN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现场执行发生什么，就记录什么；一次任务不证明长期服务效果。</a:t>
            </a:r>
            <a:endParaRPr lang="zh-CN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第7部分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这轮学习形成的三个基本认识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回到定义、委托与场景，为后续实践保留共同语言。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作者学习归纳 / 模拟演示脚本 · 不是产品实测结论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定义要清楚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执行循环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具体个人与个人上下文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名称与部署不足以归类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委托要具体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目标、资料与成果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时间与需要用户决定的动作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记忆、周期与目标分别观察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比较从场景开始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关注资料与交付质量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记录人工参与与使用投入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用实践修正资料判断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先找到一项值得交出去的工作，再通过实际交付深化认识。</a:t>
            </a:r>
            <a:endParaRPr lang="zh-CN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第7部分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交流：最想委托哪一项工作？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用三个具体问题，收集下一轮学习与实践的方向。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作者学习归纳 / 模拟演示脚本 · 不是产品实测结论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/ 34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想交出什么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一项具体重复工作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目前耗费在哪里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哪些资料已经具备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怎样才算完成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可以接受的成果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需要检查的事实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希望保留的决定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下一次验证什么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一个产品或场景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同一份测试材料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真实结果与修订记录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后续专题从实际问题展开：使用记录、产品比较，再到技术机制。</a:t>
            </a:r>
            <a:endParaRPr lang="zh-C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AI Agent 学习笔记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Agent：概念、产品与应用场景</dc:title>
  <dc:subject>Personal Agent 系列（一）· 总览篇，50 分钟完整修订稿</dc:subject>
  <dc:creator>Sky</dc:creator>
  <cp:lastModifiedBy>Sky</cp:lastModifiedBy>
  <cp:revision>1</cp:revision>
  <dcterms:created xsi:type="dcterms:W3CDTF">2026-10-25T04:25:25Z</dcterms:created>
  <dcterms:modified xsi:type="dcterms:W3CDTF">2026-10-25T04:25:25Z</dcterms:modified>
</cp:coreProperties>
</file>