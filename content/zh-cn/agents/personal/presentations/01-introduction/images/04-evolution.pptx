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50 秒。
这张时间线用两条线理解变化：越来越能完成工作，以及越来越能持续为同一个人工作。2022—2023 年看反馈、工具、任务与记忆；2024 年看工作环境；2025 年重点看成果委托与运行系统；随后再看个人状态、渠道和触发如何结合。年份定位代表节点，不是统一阶段或能力诞生时间。下面每页只解释一个联系，具体论文与工程细节留在正文回看。
资料：
ReAct，2022-10-06：https://arxiv.org/abs/2210.03629
Toolformer，2023-02-09：https://arxiv.org/abs/2302.04761
MemGPT，2023-10-12 首次提交：https://arxiv.org/abs/2310.08560
原始日期／版本条件：2023-10-12；当前 v2 修订于 2024-02-12；阅读：2026-10-25。
Devin 公告，2024-03-12：https://cognition.com/blog/introducing-devin
原始日期／版本条件：2024-03-12；当时为早期访问；阅读：2026-10-25。
Manus 上下文工程，2025-07-18：https://manus.im/blog/Context-Engineering-for-AI-Agents-Lessons-from-Building-Manus
原始日期／版本条件：2025-07-18；团队技术自述；阅读：2026-10-25。
Claude Agent SDK，2025-09-29：https://claude.com/resources/articles/building-agents-with-the-claude-agent-sdk
原始日期／版本条件：2025-09-29；Claude Code SDK 更名及非编码用途；阅读：2026-10-25。
OpenClaw Gateway 架构：https://docs.openclaw.ai/concepts/architecture
原始日期／版本条件：动态文档，无统一固定版本号；不外推初版能力；阅读：2026-10-25。
Manus 2.0 / Cue，2026-09-28：https://manus.im/blog/introducing-manus-2-0
原始日期／版本条件：2026-09-28；Cue 当时为需邀请码的 early access；阅读：2026-10-25。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50 秒。
反馈循环接上工具后，还需要能工作的场所。Devin 的早期材料提供终端、编辑器和浏览器，computer use 扩展到屏幕操作，MCP 降低连接成本。与此同时，MemGPT 等研究已经探索记忆。因此操作软件、延续背景与完成工作要分别看。这里是技术对产品范围的影响，不展开论文结构，也不把早期预览当作长期可靠性证明。
资料：
ReAct，2022-10-06：https://arxiv.org/abs/2210.03629
Toolformer，2023-02-09：https://arxiv.org/abs/2302.04761
BabyAGI 作者回顾：https://yoheinakajima.com/birth-of-babyagi/
原始日期／版本条件：回顾 2023 年春季原型；阅读：2026-10-25。
Devin 公告，2024-03-12：https://cognition.com/blog/introducing-devin
原始日期／版本条件：2024-03-12；当时为早期访问；阅读：2026-10-25。
Claude computer use，2024-10-22：https://www.anthropic.com/news/3-5-models-and-computer-use
MCP 公告，2024-11-25：https://www.anthropic.com/news/model-context-protocol
原始日期／版本条件：2024-11-25；阅读：2026-10-25。
MemGPT，2023-10-12 首次提交：https://arxiv.org/abs/2310.08560
原始日期／版本条件：2023-10-12；当前 v2 修订于 2024-02-12；阅读：2026-10-25。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50 秒。
Manus 是 2025 年的重要产品例子。模型、工具和云端电脑组合起来，用户可以委托一个成果，再由系统组织步骤。我关注从逐步安排操作到围绕成果委托的变化，而不是判断谁首次发明通用 Agent。云端任务的环境寿命、权限与实际完成质量仍需具体看。这一页保留它在演进中的位置，原始来源和版本差异放在正文。
资料：
Manus 回顾，2025-06-26：https://manus.im/blog/what-we-saw-in-the-past-three-months-and-what-we-see-in-the-future
原始日期／版本条件：2025-06-26；回顾同年 3 月推出的产品；阅读：2026-10-25。
E2B / Manus，2025-05-06：https://e2b.dev/customers/how-manus-uses-e2b-to-provide-agents-with-virtual-computers
原始日期／版本条件：2025-05-06；基础设施供应商对当时合作的说明；阅读：2026-10-25。
Claude 3.7 / Code，2025-02-24：https://www.anthropic.com/news/claude-3-7-sonnet
原始日期／版本条件：2025-02-24；Code 当时为 limited research preview；阅读：2026-10-25。
Manus 上下文工程，2025-07-18：https://manus.im/blog/Context-Engineering-for-AI-Agents-Lessons-from-Building-Manus
原始日期／版本条件：2025-07-18；团队技术自述；阅读：2026-10-25。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50 秒。
任务变长后，需要在有限上下文中管理资料，保存进度，检查结果并继续工作。Harness 就是在模型周围组织执行的软件，范围因项目而异。Claude Code SDK 更名为 Agent SDK，提供编码运行基础向研究和助理任务复用的例子。MCP、Skills 与 Harness 可以配合，并不是相互替代的阶段。这里只建立产品背后的工程原因，不展开内部实现。
资料：
Manus 上下文工程，2025-07-18：https://manus.im/blog/Context-Engineering-for-AI-Agents-Lessons-from-Building-Manus
原始日期／版本条件：2025-07-18；团队技术自述；阅读：2026-10-25。
Claude Agent SDK，2025-09-29：https://claude.com/resources/articles/building-agents-with-the-claude-agent-sdk
原始日期／版本条件：2025-09-29；Claude Code SDK 更名及非编码用途；阅读：2026-10-25。
长期 Agent harness，2025-11-26：https://www.anthropic.com/research/effective-harnesses-for-long-running-agents
原始日期／版本条件：2025-11-26；多上下文工作交接实例；阅读：2026-10-25。
MCP 公告，2024-11-25：https://www.anthropic.com/news/model-context-protocol
原始日期／版本条件：2024-11-25；阅读：2026-10-25。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50 秒。
OpenClaw 说明一次执行怎样接入日常：有持续可达的渠道，有可延续的工作状态，还能按时间或事件启动。常驻的是服务和状态管理，模型可以按需调用。前身在 2025 年底，当前名称和能力又有后续变化，不能混成一个时点。这个组织方式为持续个人服务提供条件，但定时唤醒仍不等于正确处理所有事务。
资料：
OpenClaw 历史记录：https://docs.openclaw.ai/start/lore
原始日期／版本条件：官方项目历史叙事；前身在 2025 年底，2026 年初更名；阅读：2026-10-25。
OpenClaw Gateway 架构：https://docs.openclaw.ai/concepts/architecture
原始日期／版本条件：动态文档，无统一固定版本号；不外推初版能力；阅读：2026-10-25。
OpenClaw 运行时：https://docs.openclaw.ai/concepts/agent
原始日期／版本条件：动态文档，无统一固定版本号；按本次读取状态理解；阅读：2026-10-25。
OpenClaw Automations：https://docs.openclaw.ai/automation/cron-jobs
原始日期／版本条件：动态文档；调度、持久化任务与结果投递；阅读：2026-10-25。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50 秒。
最后把两条线接起来。记忆有更早研究，Manus Projects 也已在 2025 年保存项目背景；到后续产品，个人资源、工作环境和持续入口进一步结合。我会分别问：能把什么工作做完，能在多大程度上持续为我工作。长任务、记忆、定时执行都不是单独的充分证明。带着这两个问题进入重点产品和场景。
资料：
Manus Projects，2025-12-01：https://manus.im/blog/manus-projects
原始日期／版本条件：2025-12-01；阅读：2026-10-25。
Projects / Connectors，2025-12-19：https://manus.im/blog/projects-connectors
原始日期／版本条件：2025-12-19；当时公告称向所有用户开放；阅读：2026-10-25。
Manus 2.0 / Cue，2026-09-28：https://manus.im/blog/introducing-manus-2-0
原始日期／版本条件：2026-09-28；Cue 当时为需邀请码的 early access；阅读：2026-10-25。
MemGPT，2023-10-12 首次提交：https://arxiv.org/abs/2310.08560
原始日期／版本条件：2023-10-12；当前 v2 修订于 2024-02-12；阅读：2026-10-25。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第4部分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2022—2026：执行能力与个人服务逐步汇合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我沿两条线理解变化：更能完成工作，更能持续为同一个人工作。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ReAct，2022-10-06 · Toolformer，2023-02-09 等 8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6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042770" cy="32461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50008"/>
            <a:ext cx="17135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</a:t>
            </a:r>
            <a:endParaRPr lang="zh-CN" sz="2900" dirty="0"/>
          </a:p>
        </p:txBody>
      </p:sp>
      <p:sp>
        <p:nvSpPr>
          <p:cNvPr id="10" name="Text 8"/>
          <p:cNvSpPr/>
          <p:nvPr/>
        </p:nvSpPr>
        <p:spPr>
          <a:xfrm>
            <a:off x="713232" y="2971800"/>
            <a:ext cx="17135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形成执行循环</a:t>
            </a:r>
            <a:endParaRPr lang="zh-CN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3767328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</a:t>
            </a:r>
            <a:endParaRPr lang="zh-CN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4480560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依据行动反馈再决策</a:t>
            </a:r>
            <a:endParaRPr lang="zh-CN" sz="1600" dirty="0"/>
          </a:p>
        </p:txBody>
      </p:sp>
      <p:sp>
        <p:nvSpPr>
          <p:cNvPr id="13" name="Shape 11"/>
          <p:cNvSpPr/>
          <p:nvPr/>
        </p:nvSpPr>
        <p:spPr>
          <a:xfrm>
            <a:off x="2810866" y="2148840"/>
            <a:ext cx="2042770" cy="32461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5458" y="2350008"/>
            <a:ext cx="17135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zh-CN" sz="2900" dirty="0"/>
          </a:p>
        </p:txBody>
      </p:sp>
      <p:sp>
        <p:nvSpPr>
          <p:cNvPr id="15" name="Text 13"/>
          <p:cNvSpPr/>
          <p:nvPr/>
        </p:nvSpPr>
        <p:spPr>
          <a:xfrm>
            <a:off x="2975458" y="2971800"/>
            <a:ext cx="17135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工具与任务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记忆的探索</a:t>
            </a:r>
            <a:endParaRPr lang="zh-CN" sz="1800" dirty="0"/>
          </a:p>
        </p:txBody>
      </p:sp>
      <p:sp>
        <p:nvSpPr>
          <p:cNvPr id="16" name="Text 14"/>
          <p:cNvSpPr/>
          <p:nvPr/>
        </p:nvSpPr>
        <p:spPr>
          <a:xfrm>
            <a:off x="2975458" y="3767328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Toolformer / BabyAGI</a:t>
            </a:r>
            <a:endParaRPr lang="zh-CN" sz="1600" dirty="0"/>
          </a:p>
        </p:txBody>
      </p:sp>
      <p:sp>
        <p:nvSpPr>
          <p:cNvPr id="17" name="Text 15"/>
          <p:cNvSpPr/>
          <p:nvPr/>
        </p:nvSpPr>
        <p:spPr>
          <a:xfrm>
            <a:off x="2975458" y="4480560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跨会话上下文的探索</a:t>
            </a:r>
            <a:endParaRPr lang="zh-CN" sz="1600" dirty="0"/>
          </a:p>
        </p:txBody>
      </p:sp>
      <p:sp>
        <p:nvSpPr>
          <p:cNvPr id="18" name="Shape 16"/>
          <p:cNvSpPr/>
          <p:nvPr/>
        </p:nvSpPr>
        <p:spPr>
          <a:xfrm>
            <a:off x="5073091" y="2148840"/>
            <a:ext cx="2042770" cy="32461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7683" y="2350008"/>
            <a:ext cx="17135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zh-CN" sz="2900" dirty="0"/>
          </a:p>
        </p:txBody>
      </p:sp>
      <p:sp>
        <p:nvSpPr>
          <p:cNvPr id="20" name="Text 18"/>
          <p:cNvSpPr/>
          <p:nvPr/>
        </p:nvSpPr>
        <p:spPr>
          <a:xfrm>
            <a:off x="5237683" y="2971800"/>
            <a:ext cx="17135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获得工作环境</a:t>
            </a:r>
            <a:endParaRPr lang="zh-CN" sz="1800" dirty="0"/>
          </a:p>
        </p:txBody>
      </p:sp>
      <p:sp>
        <p:nvSpPr>
          <p:cNvPr id="21" name="Text 19"/>
          <p:cNvSpPr/>
          <p:nvPr/>
        </p:nvSpPr>
        <p:spPr>
          <a:xfrm>
            <a:off x="5237683" y="3767328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Devin / Computer use</a:t>
            </a:r>
            <a:endParaRPr lang="zh-CN" sz="1600" dirty="0"/>
          </a:p>
        </p:txBody>
      </p:sp>
      <p:sp>
        <p:nvSpPr>
          <p:cNvPr id="22" name="Text 20"/>
          <p:cNvSpPr/>
          <p:nvPr/>
        </p:nvSpPr>
        <p:spPr>
          <a:xfrm>
            <a:off x="5237683" y="4480560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终端、文件、浏览器</a:t>
            </a:r>
            <a:endParaRPr lang="zh-CN" sz="1600" dirty="0"/>
          </a:p>
        </p:txBody>
      </p:sp>
      <p:sp>
        <p:nvSpPr>
          <p:cNvPr id="23" name="Shape 21"/>
          <p:cNvSpPr/>
          <p:nvPr/>
        </p:nvSpPr>
        <p:spPr>
          <a:xfrm>
            <a:off x="7335317" y="2148840"/>
            <a:ext cx="2042770" cy="32461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9909" y="2350008"/>
            <a:ext cx="17135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zh-CN" sz="2900" dirty="0"/>
          </a:p>
        </p:txBody>
      </p:sp>
      <p:sp>
        <p:nvSpPr>
          <p:cNvPr id="25" name="Text 23"/>
          <p:cNvSpPr/>
          <p:nvPr/>
        </p:nvSpPr>
        <p:spPr>
          <a:xfrm>
            <a:off x="7499909" y="2971800"/>
            <a:ext cx="17135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成果委托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运行系统</a:t>
            </a:r>
            <a:endParaRPr lang="zh-CN" sz="1800" dirty="0"/>
          </a:p>
        </p:txBody>
      </p:sp>
      <p:sp>
        <p:nvSpPr>
          <p:cNvPr id="26" name="Text 24"/>
          <p:cNvSpPr/>
          <p:nvPr/>
        </p:nvSpPr>
        <p:spPr>
          <a:xfrm>
            <a:off x="7499909" y="3767328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Manus / Claude Code</a:t>
            </a:r>
            <a:endParaRPr lang="zh-CN" sz="1600" dirty="0"/>
          </a:p>
        </p:txBody>
      </p:sp>
      <p:sp>
        <p:nvSpPr>
          <p:cNvPr id="27" name="Text 25"/>
          <p:cNvSpPr/>
          <p:nvPr/>
        </p:nvSpPr>
        <p:spPr>
          <a:xfrm>
            <a:off x="7499909" y="4480560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组织较长任务</a:t>
            </a:r>
            <a:endParaRPr lang="zh-CN" sz="1600" dirty="0"/>
          </a:p>
        </p:txBody>
      </p:sp>
      <p:sp>
        <p:nvSpPr>
          <p:cNvPr id="28" name="Shape 26"/>
          <p:cNvSpPr/>
          <p:nvPr/>
        </p:nvSpPr>
        <p:spPr>
          <a:xfrm>
            <a:off x="9597542" y="2148840"/>
            <a:ext cx="2042770" cy="32461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62134" y="2350008"/>
            <a:ext cx="17135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zh-CN" sz="2900" dirty="0"/>
          </a:p>
        </p:txBody>
      </p:sp>
      <p:sp>
        <p:nvSpPr>
          <p:cNvPr id="30" name="Text 28"/>
          <p:cNvSpPr/>
          <p:nvPr/>
        </p:nvSpPr>
        <p:spPr>
          <a:xfrm>
            <a:off x="9762134" y="2971800"/>
            <a:ext cx="17135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持续个人服务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9762134" y="3767328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/ Cue 等</a:t>
            </a:r>
            <a:endParaRPr lang="zh-CN" sz="1600" dirty="0"/>
          </a:p>
        </p:txBody>
      </p:sp>
      <p:sp>
        <p:nvSpPr>
          <p:cNvPr id="32" name="Text 30"/>
          <p:cNvSpPr/>
          <p:nvPr/>
        </p:nvSpPr>
        <p:spPr>
          <a:xfrm>
            <a:off x="9762134" y="4480560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个人状态、渠道与触发</a:t>
            </a:r>
            <a:endParaRPr lang="zh-CN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年份用于定位代表节点；能力在不同产品中并行组合，持续个人服务也有更早探索。</a:t>
            </a:r>
            <a:endParaRPr lang="zh-CN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第4部分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2022—2024：从执行循环到可以工作的环境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有了多步行动，还需要工具、工作场所，以及能留存和检查的结果。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ReAct，2022-10-06 · Toolformer，2023-02-09 等 7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6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2022—2023｜任务原型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反馈循环接上外部工具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BabyAGI 组织后续任务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原型仍需处理失败与中断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2024｜工作环境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Devin：终端与浏览器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Computer use：GUI 操作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MCP：降低连接的定制成本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2023｜记忆探索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MemGPT：分层记忆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探索跨会话延续个人背景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记忆与任务执行分别验证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模型参与判断；工具与环境提供行动条件。API、GUI 和记忆机制可以互相配合。</a:t>
            </a:r>
            <a:endParaRPr lang="zh-CN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第4部分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2025：Manus 把目标委托组织成成果交付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推理与编码能力、工具和云端环境，开始组合成可委托的工作产品。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Manus 回顾，2025-06-26 · E2B / Manus，2025-05-06 等 4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6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委托一个成果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用户表达目标与完成标准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组织检索、分析与处理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交付报告、文件或网站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提供工作环境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云端电脑承接具体操作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网页、文件与终端协同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中间结果参与后续执行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形成产品体验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多步工作围绕交付组织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用户查看进展并参与修订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结果仍需核对事实与条件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Manus 是理解 2025 年产品变化的重要案例；早期版本与后续个人能力分开判断。</a:t>
            </a:r>
            <a:endParaRPr lang="zh-CN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第4部分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2025：任务变长，Harness 承担更多工作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执行过程越长，越需要管理上下文、工作进度与检查结果。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Manus 上下文工程，2025-07-18 · Claude Agent SDK，2025-09-29 等 4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6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长任务暴露限制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材料与工具结果不断增加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当前上下文容不下全部历史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中断后还要接上已有工作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运行系统组织执行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按需准备资料与调用工具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保存进度和中间成果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检查结果，再继续或交回用户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编码基础走向通用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文件保存状态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运行提供反馈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研究与办公可复用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SDK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Claude Agent SDK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组织执行；MCP 连接工具；Skills 提供方法。它们可以配合，也各有实现差异。</a:t>
            </a:r>
            <a:endParaRPr lang="zh-CN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第4部分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年底—2026：OpenClaw 把执行接入日常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持续委托需要服务可达、工作有状态，并且能在需要时再次启动。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历史记录 · OpenClaw Gateway 架构 等 4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6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从日常渠道委托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 管理渠道连接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在惯用通信入口提出任务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把进展和结果送回用户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延续工作状态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工作区保存资料与成果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会话与个人背景参与后续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受配置与权限约束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需要时再次启动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按时间或事件启动工作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记录状态并投递结果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常驻服务，按需调用模型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展示持续入口与状态的组织方式；当前能力不能回填给早期版本。</a:t>
            </a:r>
            <a:endParaRPr lang="zh-CN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第4部分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走向 Personal Agent：能做事，也能接着为我做事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Manus Projects 到 Cue 提供了一个样本：通用执行基础与个人服务逐步结合。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Manus Projects，2025-12-01 · Projects / Connectors，2025-12-19 等 4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6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5440680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执行能力这条线</a:t>
            </a:r>
            <a:endParaRPr lang="zh-CN" sz="23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工具与电脑扩大可执行范围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运行系统组织较长的工作</a:t>
            </a:r>
            <a:endParaRPr lang="zh-CN" sz="20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保留成果、验证并继续修订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199632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2167128"/>
            <a:ext cx="5440680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持续个人服务这条线</a:t>
            </a:r>
            <a:endParaRPr lang="zh-CN" sz="2300" dirty="0"/>
          </a:p>
        </p:txBody>
      </p:sp>
      <p:sp>
        <p:nvSpPr>
          <p:cNvPr id="20" name="Text 18"/>
          <p:cNvSpPr/>
          <p:nvPr/>
        </p:nvSpPr>
        <p:spPr>
          <a:xfrm>
            <a:off x="6409944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6931152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个人背景与授权资源影响选择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6409944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6931152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日常渠道与触发支持后续工作</a:t>
            </a:r>
            <a:endParaRPr lang="zh-CN" sz="2000" dirty="0"/>
          </a:p>
        </p:txBody>
      </p:sp>
      <p:sp>
        <p:nvSpPr>
          <p:cNvPr id="24" name="Text 22"/>
          <p:cNvSpPr/>
          <p:nvPr/>
        </p:nvSpPr>
        <p:spPr>
          <a:xfrm>
            <a:off x="6409944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6931152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需要决定时把控制权交回用户</a:t>
            </a:r>
            <a:endParaRPr lang="zh-CN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分别判断：能把什么工作做完？能在多大程度上持续为我工作？</a:t>
            </a:r>
            <a:endParaRPr lang="zh-CN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AI Agent 学习笔记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Agent 是怎样发展起来的</dc:title>
  <dc:subject>Personal Agent 系列（一）：概念、产品与应用场景</dc:subject>
  <dc:creator>Sky</dc:creator>
  <cp:lastModifiedBy>Sky</cp:lastModifiedBy>
  <cp:revision>1</cp:revision>
  <dcterms:created xsi:type="dcterms:W3CDTF">2026-10-25T04:25:25Z</dcterms:created>
  <dcterms:modified xsi:type="dcterms:W3CDTF">2026-10-25T04:25:25Z</dcterms:modified>
</cp:coreProperties>
</file>