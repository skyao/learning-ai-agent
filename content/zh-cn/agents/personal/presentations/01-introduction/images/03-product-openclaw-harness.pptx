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40 秒。
我先区分层次：Personal Agent 是面向具体个人的产品或使用形态；OpenClaw 是可以自行运行的软件方案；Harness 是支撑执行的运行软件。它们可以重叠，不能看成三个互斥类别。这里不展开组件结构，只为后面比较产品建立共同语言。
资料：
OpenClaw 文档：https://docs.openclaw.ai/
DeepSeek Harness 产品页：https://www.deepseek.com/en/harness/
整理／读取日期：2026-10-24。原始日期按来源标注；动态帮助页不以读取日期代替发布日期。公开能力与实际验证分开，预览、套餐、地区、设备及授权条件分别保留。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40 秒。
用每周更新笔记举例：托管产品主要由厂商安排运行条件，我配置资料与委托；自建方案还要由我或维护者安排部署、接入和维护。两者都可能服务个人，差别是责任怎样分配。先看具体交付，再考虑投入与掌控程度。
资料：
OpenClaw 文档：https://docs.openclaw.ai/
Muse 公告，2026-09-08：https://about.fb.com/news/2026/09/introducing-muse-personal-ai-agent/
整理／读取日期：2026-10-24。原始日期按来源标注；动态帮助页不以读取日期代替发布日期。公开能力与实际验证分开，预览、套餐、地区、设备及授权条件分别保留。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40 秒。
DeepSeek Harness 同时提供工作助手与运行底座，但外部记忆接入示例默认关闭。支持扩展，不等于已经得到长期个人助手。因此分别看运行能力、实际配置与成果，不按名称归类。这页只保留边界，后面回到直接面向用户的产品。
资料：
DeepSeek Harness 产品页：https://www.deepseek.com/en/harness/
Harness 记忆接入：https://deepseek-harness.github.io/deepseek-harness/en/guide/mcp-memory
整理／读取日期：2026-10-24。原始日期按来源标注；动态帮助页不以读取日期代替发布日期。公开能力与实际验证分开，预览、套餐、地区、设备及授权条件分别保留。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第3部分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三个名称，描述不同层面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先明确比较对象，再讨论能力与使用方式。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文档 · DeepSeek Harness 产品页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3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11091672" cy="393192"/>
          </a:xfrm>
          <a:prstGeom prst="rect">
            <a:avLst/>
          </a:prstGeom>
          <a:solidFill>
            <a:srgbClr val="1E3446"/>
          </a:solidFill>
          <a:ln w="7620">
            <a:solidFill>
              <a:srgbClr val="1E34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112264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</a:t>
            </a:r>
            <a:endParaRPr lang="zh-CN" sz="1400" dirty="0"/>
          </a:p>
        </p:txBody>
      </p:sp>
      <p:sp>
        <p:nvSpPr>
          <p:cNvPr id="10" name="Text 8"/>
          <p:cNvSpPr/>
          <p:nvPr/>
        </p:nvSpPr>
        <p:spPr>
          <a:xfrm>
            <a:off x="2953512" y="2112264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讨论层面</a:t>
            </a:r>
            <a:endParaRPr lang="zh-CN" sz="1400" dirty="0"/>
          </a:p>
        </p:txBody>
      </p:sp>
      <p:sp>
        <p:nvSpPr>
          <p:cNvPr id="11" name="Text 9"/>
          <p:cNvSpPr/>
          <p:nvPr/>
        </p:nvSpPr>
        <p:spPr>
          <a:xfrm>
            <a:off x="6611112" y="2112264"/>
            <a:ext cx="4910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要回答的问题</a:t>
            </a:r>
            <a:endParaRPr lang="zh-CN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11091672" cy="85039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459736"/>
            <a:ext cx="2048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</a:t>
            </a:r>
            <a:endParaRPr lang="zh-CN" sz="1700" dirty="0"/>
          </a:p>
        </p:txBody>
      </p:sp>
      <p:sp>
        <p:nvSpPr>
          <p:cNvPr id="14" name="Text 12"/>
          <p:cNvSpPr/>
          <p:nvPr/>
        </p:nvSpPr>
        <p:spPr>
          <a:xfrm>
            <a:off x="2953512" y="2459736"/>
            <a:ext cx="3419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产品与使用形态</a:t>
            </a:r>
            <a:endParaRPr lang="zh-CN" sz="1700" dirty="0"/>
          </a:p>
        </p:txBody>
      </p:sp>
      <p:sp>
        <p:nvSpPr>
          <p:cNvPr id="15" name="Text 13"/>
          <p:cNvSpPr/>
          <p:nvPr/>
        </p:nvSpPr>
        <p:spPr>
          <a:xfrm>
            <a:off x="6611112" y="2459736"/>
            <a:ext cx="4910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为谁工作、依据什么、接受什么委托</a:t>
            </a:r>
            <a:endParaRPr lang="zh-CN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850392"/>
          </a:xfrm>
          <a:prstGeom prst="rect">
            <a:avLst/>
          </a:prstGeom>
          <a:solidFill>
            <a:srgbClr val="EAEDEB"/>
          </a:solidFill>
          <a:ln w="7620">
            <a:solidFill>
              <a:srgbClr val="EAED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310128"/>
            <a:ext cx="2048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</a:t>
            </a:r>
            <a:endParaRPr lang="zh-CN" sz="1700" dirty="0"/>
          </a:p>
        </p:txBody>
      </p:sp>
      <p:sp>
        <p:nvSpPr>
          <p:cNvPr id="18" name="Text 16"/>
          <p:cNvSpPr/>
          <p:nvPr/>
        </p:nvSpPr>
        <p:spPr>
          <a:xfrm>
            <a:off x="2953512" y="3310128"/>
            <a:ext cx="3419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开源软件方案</a:t>
            </a:r>
            <a:endParaRPr lang="zh-CN" sz="1700" dirty="0"/>
          </a:p>
        </p:txBody>
      </p:sp>
      <p:sp>
        <p:nvSpPr>
          <p:cNvPr id="19" name="Text 17"/>
          <p:cNvSpPr/>
          <p:nvPr/>
        </p:nvSpPr>
        <p:spPr>
          <a:xfrm>
            <a:off x="6611112" y="3310128"/>
            <a:ext cx="4910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用什么现成方案搭建个人助手</a:t>
            </a:r>
            <a:endParaRPr lang="zh-CN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4123944"/>
            <a:ext cx="11091672" cy="85039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4160520"/>
            <a:ext cx="2048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Harness</a:t>
            </a:r>
            <a:endParaRPr lang="zh-CN" sz="1700" dirty="0"/>
          </a:p>
        </p:txBody>
      </p:sp>
      <p:sp>
        <p:nvSpPr>
          <p:cNvPr id="22" name="Text 20"/>
          <p:cNvSpPr/>
          <p:nvPr/>
        </p:nvSpPr>
        <p:spPr>
          <a:xfrm>
            <a:off x="2953512" y="4160520"/>
            <a:ext cx="3419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执行所需的运行软件</a:t>
            </a:r>
            <a:endParaRPr lang="zh-CN" sz="1700" dirty="0"/>
          </a:p>
        </p:txBody>
      </p:sp>
      <p:sp>
        <p:nvSpPr>
          <p:cNvPr id="23" name="Text 21"/>
          <p:cNvSpPr/>
          <p:nvPr/>
        </p:nvSpPr>
        <p:spPr>
          <a:xfrm>
            <a:off x="6611112" y="4160520"/>
            <a:ext cx="4910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怎样支持模型调用工具并推进任务</a:t>
            </a:r>
            <a:endParaRPr lang="zh-CN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产品形态、软件方案和运行底座，可以存在于同一个系统中。</a:t>
            </a:r>
            <a:endParaRPr lang="zh-CN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第3部分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托管与自建：运行责任怎样分配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同样是每周维护研究笔记，两条路线可以服务同一个人。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文档 · Muse 公告，2026-09-08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3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5440680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67128"/>
            <a:ext cx="5440680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313432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托管型产品</a:t>
            </a:r>
            <a:endParaRPr lang="zh-CN" sz="2300" dirty="0"/>
          </a:p>
        </p:txBody>
      </p:sp>
      <p:sp>
        <p:nvSpPr>
          <p:cNvPr id="11" name="Text 9"/>
          <p:cNvSpPr/>
          <p:nvPr/>
        </p:nvSpPr>
        <p:spPr>
          <a:xfrm>
            <a:off x="758952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999232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配置资料、目标与授权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758952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712464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厂商管理主要运行环境</a:t>
            </a:r>
            <a:endParaRPr lang="zh-CN" sz="2000" dirty="0"/>
          </a:p>
        </p:txBody>
      </p:sp>
      <p:sp>
        <p:nvSpPr>
          <p:cNvPr id="15" name="Text 13"/>
          <p:cNvSpPr/>
          <p:nvPr/>
        </p:nvSpPr>
        <p:spPr>
          <a:xfrm>
            <a:off x="758952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25696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关注开放条件与交付效果</a:t>
            </a:r>
            <a:endParaRPr lang="zh-CN" sz="2000" dirty="0"/>
          </a:p>
        </p:txBody>
      </p:sp>
      <p:sp>
        <p:nvSpPr>
          <p:cNvPr id="17" name="Shape 15"/>
          <p:cNvSpPr/>
          <p:nvPr/>
        </p:nvSpPr>
        <p:spPr>
          <a:xfrm>
            <a:off x="6199632" y="2167128"/>
            <a:ext cx="5440680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2167128"/>
            <a:ext cx="5440680" cy="612648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9944" y="2313432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自建个人助手</a:t>
            </a:r>
            <a:endParaRPr lang="zh-CN" sz="2300" dirty="0"/>
          </a:p>
        </p:txBody>
      </p:sp>
      <p:sp>
        <p:nvSpPr>
          <p:cNvPr id="20" name="Text 18"/>
          <p:cNvSpPr/>
          <p:nvPr/>
        </p:nvSpPr>
        <p:spPr>
          <a:xfrm>
            <a:off x="6409944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6931152" y="2999232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安排部署、模型与工具</a:t>
            </a:r>
            <a:endParaRPr lang="zh-CN" sz="2000" dirty="0"/>
          </a:p>
        </p:txBody>
      </p:sp>
      <p:sp>
        <p:nvSpPr>
          <p:cNvPr id="22" name="Text 20"/>
          <p:cNvSpPr/>
          <p:nvPr/>
        </p:nvSpPr>
        <p:spPr>
          <a:xfrm>
            <a:off x="6409944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23" name="Text 21"/>
          <p:cNvSpPr/>
          <p:nvPr/>
        </p:nvSpPr>
        <p:spPr>
          <a:xfrm>
            <a:off x="6931152" y="3712464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维护宿主、配置与升级</a:t>
            </a:r>
            <a:endParaRPr lang="zh-CN" sz="2000" dirty="0"/>
          </a:p>
        </p:txBody>
      </p:sp>
      <p:sp>
        <p:nvSpPr>
          <p:cNvPr id="24" name="Text 22"/>
          <p:cNvSpPr/>
          <p:nvPr/>
        </p:nvSpPr>
        <p:spPr>
          <a:xfrm>
            <a:off x="6409944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25" name="Text 23"/>
          <p:cNvSpPr/>
          <p:nvPr/>
        </p:nvSpPr>
        <p:spPr>
          <a:xfrm>
            <a:off x="6931152" y="4425696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关注维护投入与掌控程度</a:t>
            </a:r>
            <a:endParaRPr lang="zh-CN" sz="2000" dirty="0"/>
          </a:p>
        </p:txBody>
      </p:sp>
      <p:sp>
        <p:nvSpPr>
          <p:cNvPr id="26" name="Shape 24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是否属于 Personal Agent，取决于服务与使用形态。</a:t>
            </a:r>
            <a:endParaRPr lang="zh-CN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第3部分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可以成为个人代理的底座</a:t>
            </a:r>
            <a:endParaRPr lang="zh-CN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区分可组合的能力、实际配置与已经形成的服务。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91656"/>
            <a:ext cx="11091672" cy="0"/>
          </a:xfrm>
          <a:prstGeom prst="line">
            <a:avLst/>
          </a:prstGeom>
          <a:noFill/>
          <a:ln w="1270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83096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Harness 产品页 · Harness 记忆接入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64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3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5440680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67128"/>
            <a:ext cx="5440680" cy="61264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313432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底座提供执行能力</a:t>
            </a:r>
            <a:endParaRPr lang="zh-CN" sz="2300" dirty="0"/>
          </a:p>
        </p:txBody>
      </p:sp>
      <p:sp>
        <p:nvSpPr>
          <p:cNvPr id="11" name="Text 9"/>
          <p:cNvSpPr/>
          <p:nvPr/>
        </p:nvSpPr>
        <p:spPr>
          <a:xfrm>
            <a:off x="758952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999232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模型与工具参与任务执行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758952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712464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可组合的插件与运行环境</a:t>
            </a:r>
            <a:endParaRPr lang="zh-CN" sz="2000" dirty="0"/>
          </a:p>
        </p:txBody>
      </p:sp>
      <p:sp>
        <p:nvSpPr>
          <p:cNvPr id="15" name="Text 13"/>
          <p:cNvSpPr/>
          <p:nvPr/>
        </p:nvSpPr>
        <p:spPr>
          <a:xfrm>
            <a:off x="758952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25696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能力需要在配置中落实</a:t>
            </a:r>
            <a:endParaRPr lang="zh-CN" sz="2000" dirty="0"/>
          </a:p>
        </p:txBody>
      </p:sp>
      <p:sp>
        <p:nvSpPr>
          <p:cNvPr id="17" name="Shape 15"/>
          <p:cNvSpPr/>
          <p:nvPr/>
        </p:nvSpPr>
        <p:spPr>
          <a:xfrm>
            <a:off x="6199632" y="2167128"/>
            <a:ext cx="5440680" cy="3209544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2167128"/>
            <a:ext cx="5440680" cy="612648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9944" y="2313432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产品形成个人服务</a:t>
            </a:r>
            <a:endParaRPr lang="zh-CN" sz="2300" dirty="0"/>
          </a:p>
        </p:txBody>
      </p:sp>
      <p:sp>
        <p:nvSpPr>
          <p:cNvPr id="20" name="Text 18"/>
          <p:cNvSpPr/>
          <p:nvPr/>
        </p:nvSpPr>
        <p:spPr>
          <a:xfrm>
            <a:off x="6409944" y="30723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6931152" y="2999232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围绕具体个人组织委托</a:t>
            </a:r>
            <a:endParaRPr lang="zh-CN" sz="2000" dirty="0"/>
          </a:p>
        </p:txBody>
      </p:sp>
      <p:sp>
        <p:nvSpPr>
          <p:cNvPr id="22" name="Text 20"/>
          <p:cNvSpPr/>
          <p:nvPr/>
        </p:nvSpPr>
        <p:spPr>
          <a:xfrm>
            <a:off x="6409944" y="37856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23" name="Text 21"/>
          <p:cNvSpPr/>
          <p:nvPr/>
        </p:nvSpPr>
        <p:spPr>
          <a:xfrm>
            <a:off x="6931152" y="3712464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使用个人背景与约束</a:t>
            </a:r>
            <a:endParaRPr lang="zh-CN" sz="2000" dirty="0"/>
          </a:p>
        </p:txBody>
      </p:sp>
      <p:sp>
        <p:nvSpPr>
          <p:cNvPr id="24" name="Text 22"/>
          <p:cNvSpPr/>
          <p:nvPr/>
        </p:nvSpPr>
        <p:spPr>
          <a:xfrm>
            <a:off x="6409944" y="44988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25" name="Text 23"/>
          <p:cNvSpPr/>
          <p:nvPr/>
        </p:nvSpPr>
        <p:spPr>
          <a:xfrm>
            <a:off x="6931152" y="4425696"/>
            <a:ext cx="44897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长期服务仍需对应证据</a:t>
            </a:r>
            <a:endParaRPr lang="zh-CN" sz="2000" dirty="0"/>
          </a:p>
        </p:txBody>
      </p:sp>
      <p:sp>
        <p:nvSpPr>
          <p:cNvPr id="26" name="Shape 24"/>
          <p:cNvSpPr/>
          <p:nvPr/>
        </p:nvSpPr>
        <p:spPr>
          <a:xfrm>
            <a:off x="548640" y="5696712"/>
            <a:ext cx="11091672" cy="530352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" y="5815584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运行底座能力、具体使用形态、实际交付效果，分别判断。</a:t>
            </a:r>
            <a:endParaRPr lang="zh-CN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AI Agent 学习笔记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Agent、OpenClaw 与 Harness</dc:title>
  <dc:subject>Personal Agent 系列（一）：概念、产品与应用场景</dc:subject>
  <dc:creator>Sky</dc:creator>
  <cp:lastModifiedBy>Sky</cp:lastModifiedBy>
  <cp:revision>1</cp:revision>
  <dcterms:created xsi:type="dcterms:W3CDTF">2026-10-25T04:25:25Z</dcterms:created>
  <dcterms:modified xsi:type="dcterms:W3CDTF">2026-10-25T04:25:25Z</dcterms:modified>
</cp:coreProperties>
</file>